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72" r:id="rId1"/>
  </p:sldMasterIdLst>
  <p:notesMasterIdLst>
    <p:notesMasterId r:id="rId32"/>
  </p:notesMasterIdLst>
  <p:handoutMasterIdLst>
    <p:handoutMasterId r:id="rId33"/>
  </p:handoutMasterIdLst>
  <p:sldIdLst>
    <p:sldId id="656" r:id="rId2"/>
    <p:sldId id="257" r:id="rId3"/>
    <p:sldId id="657" r:id="rId4"/>
    <p:sldId id="659" r:id="rId5"/>
    <p:sldId id="661" r:id="rId6"/>
    <p:sldId id="662" r:id="rId7"/>
    <p:sldId id="666" r:id="rId8"/>
    <p:sldId id="667" r:id="rId9"/>
    <p:sldId id="668" r:id="rId10"/>
    <p:sldId id="669" r:id="rId11"/>
    <p:sldId id="663" r:id="rId12"/>
    <p:sldId id="665" r:id="rId13"/>
    <p:sldId id="682" r:id="rId14"/>
    <p:sldId id="683" r:id="rId15"/>
    <p:sldId id="684" r:id="rId16"/>
    <p:sldId id="685" r:id="rId17"/>
    <p:sldId id="686" r:id="rId18"/>
    <p:sldId id="687" r:id="rId19"/>
    <p:sldId id="688" r:id="rId20"/>
    <p:sldId id="670" r:id="rId21"/>
    <p:sldId id="673" r:id="rId22"/>
    <p:sldId id="674" r:id="rId23"/>
    <p:sldId id="671" r:id="rId24"/>
    <p:sldId id="672" r:id="rId25"/>
    <p:sldId id="675" r:id="rId26"/>
    <p:sldId id="676" r:id="rId27"/>
    <p:sldId id="677" r:id="rId28"/>
    <p:sldId id="678" r:id="rId29"/>
    <p:sldId id="689" r:id="rId30"/>
    <p:sldId id="36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754" autoAdjust="0"/>
  </p:normalViewPr>
  <p:slideViewPr>
    <p:cSldViewPr snapToGrid="0">
      <p:cViewPr varScale="1">
        <p:scale>
          <a:sx n="75" d="100"/>
          <a:sy n="75" d="100"/>
        </p:scale>
        <p:origin x="974"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45EFEC-8591-40DB-8F51-BE26950F5659}"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PK"/>
        </a:p>
      </dgm:t>
    </dgm:pt>
    <dgm:pt modelId="{7D2680AA-188F-4CBB-A08D-954C7B55B9E7}">
      <dgm:prSet phldrT="[Text]"/>
      <dgm:spPr/>
      <dgm:t>
        <a:bodyPr/>
        <a:lstStyle/>
        <a:p>
          <a:r>
            <a:rPr lang="en-US" dirty="0"/>
            <a:t>From the Beginning </a:t>
          </a:r>
          <a:endParaRPr lang="en-PK" dirty="0"/>
        </a:p>
      </dgm:t>
    </dgm:pt>
    <dgm:pt modelId="{64E7DE86-CDF5-457C-B9CF-4FCF93F949FF}" type="parTrans" cxnId="{8CA5F815-8B3D-49D6-89E5-C469FD92D310}">
      <dgm:prSet/>
      <dgm:spPr/>
      <dgm:t>
        <a:bodyPr/>
        <a:lstStyle/>
        <a:p>
          <a:endParaRPr lang="en-PK"/>
        </a:p>
      </dgm:t>
    </dgm:pt>
    <dgm:pt modelId="{5BE8026B-BBF2-4E3D-9ED0-5AC6035C0BC7}" type="sibTrans" cxnId="{8CA5F815-8B3D-49D6-89E5-C469FD92D310}">
      <dgm:prSet/>
      <dgm:spPr/>
      <dgm:t>
        <a:bodyPr/>
        <a:lstStyle/>
        <a:p>
          <a:endParaRPr lang="en-PK"/>
        </a:p>
      </dgm:t>
    </dgm:pt>
    <dgm:pt modelId="{431CCB2F-2C23-4C99-B580-F5DEE5BC49BA}">
      <dgm:prSet phldrT="[Text]" custT="1"/>
      <dgm:spPr/>
      <dgm:t>
        <a:bodyPr/>
        <a:lstStyle/>
        <a:p>
          <a:r>
            <a:rPr lang="en-US" sz="2400" b="1" dirty="0"/>
            <a:t>O(1)</a:t>
          </a:r>
          <a:endParaRPr lang="en-PK" sz="2400" b="1" dirty="0"/>
        </a:p>
      </dgm:t>
    </dgm:pt>
    <dgm:pt modelId="{7D6AEBB9-F61A-4574-8514-A466CDD08F69}" type="parTrans" cxnId="{C340D152-F374-44F0-A06E-9B5EFC0EB23C}">
      <dgm:prSet/>
      <dgm:spPr/>
      <dgm:t>
        <a:bodyPr/>
        <a:lstStyle/>
        <a:p>
          <a:endParaRPr lang="en-PK"/>
        </a:p>
      </dgm:t>
    </dgm:pt>
    <dgm:pt modelId="{D398C9FB-8CF6-4D6E-8DB1-F81D08EE85BF}" type="sibTrans" cxnId="{C340D152-F374-44F0-A06E-9B5EFC0EB23C}">
      <dgm:prSet/>
      <dgm:spPr/>
      <dgm:t>
        <a:bodyPr/>
        <a:lstStyle/>
        <a:p>
          <a:endParaRPr lang="en-PK"/>
        </a:p>
      </dgm:t>
    </dgm:pt>
    <dgm:pt modelId="{784F276F-8D3E-4B90-8942-83C4A27924E6}">
      <dgm:prSet phldrT="[Text]"/>
      <dgm:spPr/>
      <dgm:t>
        <a:bodyPr/>
        <a:lstStyle/>
        <a:p>
          <a:r>
            <a:rPr lang="en-US" dirty="0"/>
            <a:t>From the End</a:t>
          </a:r>
          <a:endParaRPr lang="en-PK" dirty="0"/>
        </a:p>
      </dgm:t>
    </dgm:pt>
    <dgm:pt modelId="{7B1C6CED-C695-439B-9AFE-FC13E8B4A729}" type="parTrans" cxnId="{915F497E-06F9-45AD-BBF7-C9AA439A4980}">
      <dgm:prSet/>
      <dgm:spPr/>
      <dgm:t>
        <a:bodyPr/>
        <a:lstStyle/>
        <a:p>
          <a:endParaRPr lang="en-PK"/>
        </a:p>
      </dgm:t>
    </dgm:pt>
    <dgm:pt modelId="{95497142-FB06-4E56-9A08-F5F0772D4D83}" type="sibTrans" cxnId="{915F497E-06F9-45AD-BBF7-C9AA439A4980}">
      <dgm:prSet/>
      <dgm:spPr/>
      <dgm:t>
        <a:bodyPr/>
        <a:lstStyle/>
        <a:p>
          <a:endParaRPr lang="en-PK"/>
        </a:p>
      </dgm:t>
    </dgm:pt>
    <dgm:pt modelId="{60248523-F4A1-442B-8795-7174521F14EF}">
      <dgm:prSet phldrT="[Text]" custT="1"/>
      <dgm:spPr/>
      <dgm:t>
        <a:bodyPr/>
        <a:lstStyle/>
        <a:p>
          <a:r>
            <a:rPr lang="en-US" sz="2800" b="1" dirty="0"/>
            <a:t>O(n</a:t>
          </a:r>
          <a:r>
            <a:rPr lang="en-US" sz="1900" dirty="0"/>
            <a:t>)</a:t>
          </a:r>
          <a:endParaRPr lang="en-PK" sz="1900" dirty="0"/>
        </a:p>
      </dgm:t>
    </dgm:pt>
    <dgm:pt modelId="{5712C791-828C-40CB-8A49-C63B79E254DD}" type="parTrans" cxnId="{7231D940-B033-4638-B086-23D1CF24C3F3}">
      <dgm:prSet/>
      <dgm:spPr/>
      <dgm:t>
        <a:bodyPr/>
        <a:lstStyle/>
        <a:p>
          <a:endParaRPr lang="en-PK"/>
        </a:p>
      </dgm:t>
    </dgm:pt>
    <dgm:pt modelId="{8692AFA8-959B-4C99-A957-5A33516370BA}" type="sibTrans" cxnId="{7231D940-B033-4638-B086-23D1CF24C3F3}">
      <dgm:prSet/>
      <dgm:spPr/>
      <dgm:t>
        <a:bodyPr/>
        <a:lstStyle/>
        <a:p>
          <a:endParaRPr lang="en-PK"/>
        </a:p>
      </dgm:t>
    </dgm:pt>
    <dgm:pt modelId="{796A5970-00C0-4E41-9DCC-94DDDF096150}">
      <dgm:prSet phldrT="[Text]"/>
      <dgm:spPr/>
      <dgm:t>
        <a:bodyPr/>
        <a:lstStyle/>
        <a:p>
          <a:r>
            <a:rPr lang="en-US" dirty="0"/>
            <a:t>From The Middle</a:t>
          </a:r>
          <a:endParaRPr lang="en-PK" dirty="0"/>
        </a:p>
      </dgm:t>
    </dgm:pt>
    <dgm:pt modelId="{EB95D9F0-4157-47C9-A14A-BC869063FA8B}" type="parTrans" cxnId="{924CB9C6-E758-4AE5-9E9B-E33DFB907DC6}">
      <dgm:prSet/>
      <dgm:spPr/>
      <dgm:t>
        <a:bodyPr/>
        <a:lstStyle/>
        <a:p>
          <a:endParaRPr lang="en-PK"/>
        </a:p>
      </dgm:t>
    </dgm:pt>
    <dgm:pt modelId="{12369E86-9BA9-42F3-B85B-F9E49F514825}" type="sibTrans" cxnId="{924CB9C6-E758-4AE5-9E9B-E33DFB907DC6}">
      <dgm:prSet/>
      <dgm:spPr/>
      <dgm:t>
        <a:bodyPr/>
        <a:lstStyle/>
        <a:p>
          <a:endParaRPr lang="en-PK"/>
        </a:p>
      </dgm:t>
    </dgm:pt>
    <dgm:pt modelId="{5A93AAC8-F32D-4F4A-A574-653D9705BED1}">
      <dgm:prSet phldrT="[Text]"/>
      <dgm:spPr/>
      <dgm:t>
        <a:bodyPr/>
        <a:lstStyle/>
        <a:p>
          <a:r>
            <a:rPr lang="en-US" b="1" dirty="0"/>
            <a:t>O(n)</a:t>
          </a:r>
          <a:endParaRPr lang="en-PK" b="1" dirty="0"/>
        </a:p>
      </dgm:t>
    </dgm:pt>
    <dgm:pt modelId="{4A648C6B-DDC2-40B5-98A2-A12C5F7F38BB}" type="parTrans" cxnId="{CDD9697D-D482-4649-BD85-AEE2D3852F45}">
      <dgm:prSet/>
      <dgm:spPr/>
      <dgm:t>
        <a:bodyPr/>
        <a:lstStyle/>
        <a:p>
          <a:endParaRPr lang="en-PK"/>
        </a:p>
      </dgm:t>
    </dgm:pt>
    <dgm:pt modelId="{1E884E92-8A46-4FAD-A538-B6BACE9D8156}" type="sibTrans" cxnId="{CDD9697D-D482-4649-BD85-AEE2D3852F45}">
      <dgm:prSet/>
      <dgm:spPr/>
      <dgm:t>
        <a:bodyPr/>
        <a:lstStyle/>
        <a:p>
          <a:endParaRPr lang="en-PK"/>
        </a:p>
      </dgm:t>
    </dgm:pt>
    <dgm:pt modelId="{3EB4D27D-376E-499E-A394-35B64B197176}" type="pres">
      <dgm:prSet presAssocID="{4F45EFEC-8591-40DB-8F51-BE26950F5659}" presName="rootnode" presStyleCnt="0">
        <dgm:presLayoutVars>
          <dgm:chMax/>
          <dgm:chPref/>
          <dgm:dir/>
          <dgm:animLvl val="lvl"/>
        </dgm:presLayoutVars>
      </dgm:prSet>
      <dgm:spPr/>
    </dgm:pt>
    <dgm:pt modelId="{51F8C74D-E78C-4186-8EFC-04C155BF8826}" type="pres">
      <dgm:prSet presAssocID="{7D2680AA-188F-4CBB-A08D-954C7B55B9E7}" presName="composite" presStyleCnt="0"/>
      <dgm:spPr/>
    </dgm:pt>
    <dgm:pt modelId="{B085D98F-C640-4CFF-866F-4D19E95983C9}" type="pres">
      <dgm:prSet presAssocID="{7D2680AA-188F-4CBB-A08D-954C7B55B9E7}" presName="bentUpArrow1" presStyleLbl="alignImgPlace1" presStyleIdx="0" presStyleCnt="2"/>
      <dgm:spPr/>
    </dgm:pt>
    <dgm:pt modelId="{11F7EA8C-4396-4499-A026-5F81AFD72FBC}" type="pres">
      <dgm:prSet presAssocID="{7D2680AA-188F-4CBB-A08D-954C7B55B9E7}" presName="ParentText" presStyleLbl="node1" presStyleIdx="0" presStyleCnt="3">
        <dgm:presLayoutVars>
          <dgm:chMax val="1"/>
          <dgm:chPref val="1"/>
          <dgm:bulletEnabled val="1"/>
        </dgm:presLayoutVars>
      </dgm:prSet>
      <dgm:spPr/>
    </dgm:pt>
    <dgm:pt modelId="{49C0E8DE-27BF-407C-8814-CB60828E8014}" type="pres">
      <dgm:prSet presAssocID="{7D2680AA-188F-4CBB-A08D-954C7B55B9E7}" presName="ChildText" presStyleLbl="revTx" presStyleIdx="0" presStyleCnt="3" custScaleX="115167" custLinFactNeighborX="11385" custLinFactNeighborY="113">
        <dgm:presLayoutVars>
          <dgm:chMax val="0"/>
          <dgm:chPref val="0"/>
          <dgm:bulletEnabled val="1"/>
        </dgm:presLayoutVars>
      </dgm:prSet>
      <dgm:spPr/>
    </dgm:pt>
    <dgm:pt modelId="{4DED128B-2985-4807-B355-AE476316E18D}" type="pres">
      <dgm:prSet presAssocID="{5BE8026B-BBF2-4E3D-9ED0-5AC6035C0BC7}" presName="sibTrans" presStyleCnt="0"/>
      <dgm:spPr/>
    </dgm:pt>
    <dgm:pt modelId="{D410FBD5-CF56-49D4-B647-8AEB4D3BF306}" type="pres">
      <dgm:prSet presAssocID="{784F276F-8D3E-4B90-8942-83C4A27924E6}" presName="composite" presStyleCnt="0"/>
      <dgm:spPr/>
    </dgm:pt>
    <dgm:pt modelId="{9C27FB50-5232-4DDA-9E49-7195B10FE87B}" type="pres">
      <dgm:prSet presAssocID="{784F276F-8D3E-4B90-8942-83C4A27924E6}" presName="bentUpArrow1" presStyleLbl="alignImgPlace1" presStyleIdx="1" presStyleCnt="2"/>
      <dgm:spPr/>
    </dgm:pt>
    <dgm:pt modelId="{A4CB7B8E-41FB-4E92-A1E8-0465B61EE192}" type="pres">
      <dgm:prSet presAssocID="{784F276F-8D3E-4B90-8942-83C4A27924E6}" presName="ParentText" presStyleLbl="node1" presStyleIdx="1" presStyleCnt="3">
        <dgm:presLayoutVars>
          <dgm:chMax val="1"/>
          <dgm:chPref val="1"/>
          <dgm:bulletEnabled val="1"/>
        </dgm:presLayoutVars>
      </dgm:prSet>
      <dgm:spPr/>
    </dgm:pt>
    <dgm:pt modelId="{373FCAA8-2198-4B28-ACE8-D9D4DFD5B402}" type="pres">
      <dgm:prSet presAssocID="{784F276F-8D3E-4B90-8942-83C4A27924E6}" presName="ChildText" presStyleLbl="revTx" presStyleIdx="1" presStyleCnt="3" custScaleX="177484" custLinFactNeighborX="22769" custLinFactNeighborY="-1220">
        <dgm:presLayoutVars>
          <dgm:chMax val="0"/>
          <dgm:chPref val="0"/>
          <dgm:bulletEnabled val="1"/>
        </dgm:presLayoutVars>
      </dgm:prSet>
      <dgm:spPr/>
    </dgm:pt>
    <dgm:pt modelId="{0457CBFA-0C2E-400F-B68C-17866C3C2ED5}" type="pres">
      <dgm:prSet presAssocID="{95497142-FB06-4E56-9A08-F5F0772D4D83}" presName="sibTrans" presStyleCnt="0"/>
      <dgm:spPr/>
    </dgm:pt>
    <dgm:pt modelId="{AEBD403A-4C00-4E7E-9518-26B6E49AC9DC}" type="pres">
      <dgm:prSet presAssocID="{796A5970-00C0-4E41-9DCC-94DDDF096150}" presName="composite" presStyleCnt="0"/>
      <dgm:spPr/>
    </dgm:pt>
    <dgm:pt modelId="{757B71B2-2630-4CA0-B8D9-6817F1B40974}" type="pres">
      <dgm:prSet presAssocID="{796A5970-00C0-4E41-9DCC-94DDDF096150}" presName="ParentText" presStyleLbl="node1" presStyleIdx="2" presStyleCnt="3">
        <dgm:presLayoutVars>
          <dgm:chMax val="1"/>
          <dgm:chPref val="1"/>
          <dgm:bulletEnabled val="1"/>
        </dgm:presLayoutVars>
      </dgm:prSet>
      <dgm:spPr/>
    </dgm:pt>
    <dgm:pt modelId="{060DB363-BFA5-422F-99C9-03533481B58E}" type="pres">
      <dgm:prSet presAssocID="{796A5970-00C0-4E41-9DCC-94DDDF096150}" presName="FinalChildText" presStyleLbl="revTx" presStyleIdx="2" presStyleCnt="3">
        <dgm:presLayoutVars>
          <dgm:chMax val="0"/>
          <dgm:chPref val="0"/>
          <dgm:bulletEnabled val="1"/>
        </dgm:presLayoutVars>
      </dgm:prSet>
      <dgm:spPr/>
    </dgm:pt>
  </dgm:ptLst>
  <dgm:cxnLst>
    <dgm:cxn modelId="{CE182F09-6F89-4592-86FA-61EFC6B92BE4}" type="presOf" srcId="{4F45EFEC-8591-40DB-8F51-BE26950F5659}" destId="{3EB4D27D-376E-499E-A394-35B64B197176}" srcOrd="0" destOrd="0" presId="urn:microsoft.com/office/officeart/2005/8/layout/StepDownProcess"/>
    <dgm:cxn modelId="{8CA5F815-8B3D-49D6-89E5-C469FD92D310}" srcId="{4F45EFEC-8591-40DB-8F51-BE26950F5659}" destId="{7D2680AA-188F-4CBB-A08D-954C7B55B9E7}" srcOrd="0" destOrd="0" parTransId="{64E7DE86-CDF5-457C-B9CF-4FCF93F949FF}" sibTransId="{5BE8026B-BBF2-4E3D-9ED0-5AC6035C0BC7}"/>
    <dgm:cxn modelId="{725A4721-E9B2-44F6-BB4A-D814BDFDC6F4}" type="presOf" srcId="{796A5970-00C0-4E41-9DCC-94DDDF096150}" destId="{757B71B2-2630-4CA0-B8D9-6817F1B40974}" srcOrd="0" destOrd="0" presId="urn:microsoft.com/office/officeart/2005/8/layout/StepDownProcess"/>
    <dgm:cxn modelId="{7231D940-B033-4638-B086-23D1CF24C3F3}" srcId="{784F276F-8D3E-4B90-8942-83C4A27924E6}" destId="{60248523-F4A1-442B-8795-7174521F14EF}" srcOrd="0" destOrd="0" parTransId="{5712C791-828C-40CB-8A49-C63B79E254DD}" sibTransId="{8692AFA8-959B-4C99-A957-5A33516370BA}"/>
    <dgm:cxn modelId="{0ED8316F-453E-4DBD-9D1C-683A2B507377}" type="presOf" srcId="{784F276F-8D3E-4B90-8942-83C4A27924E6}" destId="{A4CB7B8E-41FB-4E92-A1E8-0465B61EE192}" srcOrd="0" destOrd="0" presId="urn:microsoft.com/office/officeart/2005/8/layout/StepDownProcess"/>
    <dgm:cxn modelId="{C340D152-F374-44F0-A06E-9B5EFC0EB23C}" srcId="{7D2680AA-188F-4CBB-A08D-954C7B55B9E7}" destId="{431CCB2F-2C23-4C99-B580-F5DEE5BC49BA}" srcOrd="0" destOrd="0" parTransId="{7D6AEBB9-F61A-4574-8514-A466CDD08F69}" sibTransId="{D398C9FB-8CF6-4D6E-8DB1-F81D08EE85BF}"/>
    <dgm:cxn modelId="{CDD9697D-D482-4649-BD85-AEE2D3852F45}" srcId="{796A5970-00C0-4E41-9DCC-94DDDF096150}" destId="{5A93AAC8-F32D-4F4A-A574-653D9705BED1}" srcOrd="0" destOrd="0" parTransId="{4A648C6B-DDC2-40B5-98A2-A12C5F7F38BB}" sibTransId="{1E884E92-8A46-4FAD-A538-B6BACE9D8156}"/>
    <dgm:cxn modelId="{915F497E-06F9-45AD-BBF7-C9AA439A4980}" srcId="{4F45EFEC-8591-40DB-8F51-BE26950F5659}" destId="{784F276F-8D3E-4B90-8942-83C4A27924E6}" srcOrd="1" destOrd="0" parTransId="{7B1C6CED-C695-439B-9AFE-FC13E8B4A729}" sibTransId="{95497142-FB06-4E56-9A08-F5F0772D4D83}"/>
    <dgm:cxn modelId="{7D2AFD7E-6D9D-418B-BD95-D6CB0DD7C9E0}" type="presOf" srcId="{7D2680AA-188F-4CBB-A08D-954C7B55B9E7}" destId="{11F7EA8C-4396-4499-A026-5F81AFD72FBC}" srcOrd="0" destOrd="0" presId="urn:microsoft.com/office/officeart/2005/8/layout/StepDownProcess"/>
    <dgm:cxn modelId="{58D52DAB-1494-4A2B-8AF3-BE11AA737C10}" type="presOf" srcId="{5A93AAC8-F32D-4F4A-A574-653D9705BED1}" destId="{060DB363-BFA5-422F-99C9-03533481B58E}" srcOrd="0" destOrd="0" presId="urn:microsoft.com/office/officeart/2005/8/layout/StepDownProcess"/>
    <dgm:cxn modelId="{C29641B1-90AE-49BB-88CE-01CB90D10329}" type="presOf" srcId="{60248523-F4A1-442B-8795-7174521F14EF}" destId="{373FCAA8-2198-4B28-ACE8-D9D4DFD5B402}" srcOrd="0" destOrd="0" presId="urn:microsoft.com/office/officeart/2005/8/layout/StepDownProcess"/>
    <dgm:cxn modelId="{328840C2-CA25-4154-BB73-876B89FE8902}" type="presOf" srcId="{431CCB2F-2C23-4C99-B580-F5DEE5BC49BA}" destId="{49C0E8DE-27BF-407C-8814-CB60828E8014}" srcOrd="0" destOrd="0" presId="urn:microsoft.com/office/officeart/2005/8/layout/StepDownProcess"/>
    <dgm:cxn modelId="{924CB9C6-E758-4AE5-9E9B-E33DFB907DC6}" srcId="{4F45EFEC-8591-40DB-8F51-BE26950F5659}" destId="{796A5970-00C0-4E41-9DCC-94DDDF096150}" srcOrd="2" destOrd="0" parTransId="{EB95D9F0-4157-47C9-A14A-BC869063FA8B}" sibTransId="{12369E86-9BA9-42F3-B85B-F9E49F514825}"/>
    <dgm:cxn modelId="{BD100268-EAC4-40B2-85C6-4B8E53BC1B8C}" type="presParOf" srcId="{3EB4D27D-376E-499E-A394-35B64B197176}" destId="{51F8C74D-E78C-4186-8EFC-04C155BF8826}" srcOrd="0" destOrd="0" presId="urn:microsoft.com/office/officeart/2005/8/layout/StepDownProcess"/>
    <dgm:cxn modelId="{3C9CC99A-D5A2-4C2E-9A9F-E749CAB4A2AF}" type="presParOf" srcId="{51F8C74D-E78C-4186-8EFC-04C155BF8826}" destId="{B085D98F-C640-4CFF-866F-4D19E95983C9}" srcOrd="0" destOrd="0" presId="urn:microsoft.com/office/officeart/2005/8/layout/StepDownProcess"/>
    <dgm:cxn modelId="{E774A405-A43F-4F14-985E-0C69CBB97C4F}" type="presParOf" srcId="{51F8C74D-E78C-4186-8EFC-04C155BF8826}" destId="{11F7EA8C-4396-4499-A026-5F81AFD72FBC}" srcOrd="1" destOrd="0" presId="urn:microsoft.com/office/officeart/2005/8/layout/StepDownProcess"/>
    <dgm:cxn modelId="{7660D87A-C00B-4C80-B88A-CE4B10659CF5}" type="presParOf" srcId="{51F8C74D-E78C-4186-8EFC-04C155BF8826}" destId="{49C0E8DE-27BF-407C-8814-CB60828E8014}" srcOrd="2" destOrd="0" presId="urn:microsoft.com/office/officeart/2005/8/layout/StepDownProcess"/>
    <dgm:cxn modelId="{203E6887-50C2-4459-81EF-671C223D69DF}" type="presParOf" srcId="{3EB4D27D-376E-499E-A394-35B64B197176}" destId="{4DED128B-2985-4807-B355-AE476316E18D}" srcOrd="1" destOrd="0" presId="urn:microsoft.com/office/officeart/2005/8/layout/StepDownProcess"/>
    <dgm:cxn modelId="{DFACB641-9AA5-4E71-91C6-5E7BE97D5854}" type="presParOf" srcId="{3EB4D27D-376E-499E-A394-35B64B197176}" destId="{D410FBD5-CF56-49D4-B647-8AEB4D3BF306}" srcOrd="2" destOrd="0" presId="urn:microsoft.com/office/officeart/2005/8/layout/StepDownProcess"/>
    <dgm:cxn modelId="{815314D4-1F60-4AA4-8283-5E6716F5643E}" type="presParOf" srcId="{D410FBD5-CF56-49D4-B647-8AEB4D3BF306}" destId="{9C27FB50-5232-4DDA-9E49-7195B10FE87B}" srcOrd="0" destOrd="0" presId="urn:microsoft.com/office/officeart/2005/8/layout/StepDownProcess"/>
    <dgm:cxn modelId="{0DFC527B-67B2-41DE-951D-1291BB51FA9C}" type="presParOf" srcId="{D410FBD5-CF56-49D4-B647-8AEB4D3BF306}" destId="{A4CB7B8E-41FB-4E92-A1E8-0465B61EE192}" srcOrd="1" destOrd="0" presId="urn:microsoft.com/office/officeart/2005/8/layout/StepDownProcess"/>
    <dgm:cxn modelId="{183B4A8E-DF33-49F0-87F1-B8ADA3D75E89}" type="presParOf" srcId="{D410FBD5-CF56-49D4-B647-8AEB4D3BF306}" destId="{373FCAA8-2198-4B28-ACE8-D9D4DFD5B402}" srcOrd="2" destOrd="0" presId="urn:microsoft.com/office/officeart/2005/8/layout/StepDownProcess"/>
    <dgm:cxn modelId="{80610C97-14E1-426F-ADE0-DDF3F2CF6F1C}" type="presParOf" srcId="{3EB4D27D-376E-499E-A394-35B64B197176}" destId="{0457CBFA-0C2E-400F-B68C-17866C3C2ED5}" srcOrd="3" destOrd="0" presId="urn:microsoft.com/office/officeart/2005/8/layout/StepDownProcess"/>
    <dgm:cxn modelId="{52EF41F9-53CD-4722-9A28-6A657E0A91B1}" type="presParOf" srcId="{3EB4D27D-376E-499E-A394-35B64B197176}" destId="{AEBD403A-4C00-4E7E-9518-26B6E49AC9DC}" srcOrd="4" destOrd="0" presId="urn:microsoft.com/office/officeart/2005/8/layout/StepDownProcess"/>
    <dgm:cxn modelId="{6FC572DA-2069-4DEA-BF93-940A2190C572}" type="presParOf" srcId="{AEBD403A-4C00-4E7E-9518-26B6E49AC9DC}" destId="{757B71B2-2630-4CA0-B8D9-6817F1B40974}" srcOrd="0" destOrd="0" presId="urn:microsoft.com/office/officeart/2005/8/layout/StepDownProcess"/>
    <dgm:cxn modelId="{46957C6E-498C-49CD-AD20-7BCD11B882D7}" type="presParOf" srcId="{AEBD403A-4C00-4E7E-9518-26B6E49AC9DC}" destId="{060DB363-BFA5-422F-99C9-03533481B58E}"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85D98F-C640-4CFF-866F-4D19E95983C9}">
      <dsp:nvSpPr>
        <dsp:cNvPr id="0" name=""/>
        <dsp:cNvSpPr/>
      </dsp:nvSpPr>
      <dsp:spPr>
        <a:xfrm rot="5400000">
          <a:off x="748279" y="988985"/>
          <a:ext cx="874671" cy="995783"/>
        </a:xfrm>
        <a:prstGeom prst="bentUpArrow">
          <a:avLst>
            <a:gd name="adj1" fmla="val 32840"/>
            <a:gd name="adj2" fmla="val 25000"/>
            <a:gd name="adj3" fmla="val 35780"/>
          </a:avLst>
        </a:prstGeom>
        <a:solidFill>
          <a:schemeClr val="accent1">
            <a:tint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1F7EA8C-4396-4499-A026-5F81AFD72FBC}">
      <dsp:nvSpPr>
        <dsp:cNvPr id="0" name=""/>
        <dsp:cNvSpPr/>
      </dsp:nvSpPr>
      <dsp:spPr>
        <a:xfrm>
          <a:off x="516544" y="19393"/>
          <a:ext cx="1472432" cy="1030655"/>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From the Beginning </a:t>
          </a:r>
          <a:endParaRPr lang="en-PK" sz="2400" kern="1200" dirty="0"/>
        </a:p>
      </dsp:txBody>
      <dsp:txXfrm>
        <a:off x="566865" y="69714"/>
        <a:ext cx="1371790" cy="930013"/>
      </dsp:txXfrm>
    </dsp:sp>
    <dsp:sp modelId="{49C0E8DE-27BF-407C-8814-CB60828E8014}">
      <dsp:nvSpPr>
        <dsp:cNvPr id="0" name=""/>
        <dsp:cNvSpPr/>
      </dsp:nvSpPr>
      <dsp:spPr>
        <a:xfrm>
          <a:off x="2029688" y="118631"/>
          <a:ext cx="1233331" cy="833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kern="1200" dirty="0"/>
            <a:t>O(1)</a:t>
          </a:r>
          <a:endParaRPr lang="en-PK" sz="2400" b="1" kern="1200" dirty="0"/>
        </a:p>
      </dsp:txBody>
      <dsp:txXfrm>
        <a:off x="2029688" y="118631"/>
        <a:ext cx="1233331" cy="833020"/>
      </dsp:txXfrm>
    </dsp:sp>
    <dsp:sp modelId="{9C27FB50-5232-4DDA-9E49-7195B10FE87B}">
      <dsp:nvSpPr>
        <dsp:cNvPr id="0" name=""/>
        <dsp:cNvSpPr/>
      </dsp:nvSpPr>
      <dsp:spPr>
        <a:xfrm rot="5400000">
          <a:off x="2008064" y="2146750"/>
          <a:ext cx="874671" cy="995783"/>
        </a:xfrm>
        <a:prstGeom prst="bentUpArrow">
          <a:avLst>
            <a:gd name="adj1" fmla="val 32840"/>
            <a:gd name="adj2" fmla="val 25000"/>
            <a:gd name="adj3" fmla="val 35780"/>
          </a:avLst>
        </a:prstGeom>
        <a:solidFill>
          <a:schemeClr val="accent1">
            <a:tint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4CB7B8E-41FB-4E92-A1E8-0465B61EE192}">
      <dsp:nvSpPr>
        <dsp:cNvPr id="0" name=""/>
        <dsp:cNvSpPr/>
      </dsp:nvSpPr>
      <dsp:spPr>
        <a:xfrm>
          <a:off x="1776329" y="1177159"/>
          <a:ext cx="1472432" cy="1030655"/>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From the End</a:t>
          </a:r>
          <a:endParaRPr lang="en-PK" sz="2400" kern="1200" dirty="0"/>
        </a:p>
      </dsp:txBody>
      <dsp:txXfrm>
        <a:off x="1826650" y="1227480"/>
        <a:ext cx="1371790" cy="930013"/>
      </dsp:txXfrm>
    </dsp:sp>
    <dsp:sp modelId="{373FCAA8-2198-4B28-ACE8-D9D4DFD5B402}">
      <dsp:nvSpPr>
        <dsp:cNvPr id="0" name=""/>
        <dsp:cNvSpPr/>
      </dsp:nvSpPr>
      <dsp:spPr>
        <a:xfrm>
          <a:off x="3077706" y="1265293"/>
          <a:ext cx="1900689" cy="833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285750" lvl="1" indent="-285750" algn="l" defTabSz="1244600">
            <a:lnSpc>
              <a:spcPct val="90000"/>
            </a:lnSpc>
            <a:spcBef>
              <a:spcPct val="0"/>
            </a:spcBef>
            <a:spcAft>
              <a:spcPct val="15000"/>
            </a:spcAft>
            <a:buChar char="•"/>
          </a:pPr>
          <a:r>
            <a:rPr lang="en-US" sz="2800" b="1" kern="1200" dirty="0"/>
            <a:t>O(n</a:t>
          </a:r>
          <a:r>
            <a:rPr lang="en-US" sz="1900" kern="1200" dirty="0"/>
            <a:t>)</a:t>
          </a:r>
          <a:endParaRPr lang="en-PK" sz="1900" kern="1200" dirty="0"/>
        </a:p>
      </dsp:txBody>
      <dsp:txXfrm>
        <a:off x="3077706" y="1265293"/>
        <a:ext cx="1900689" cy="833020"/>
      </dsp:txXfrm>
    </dsp:sp>
    <dsp:sp modelId="{757B71B2-2630-4CA0-B8D9-6817F1B40974}">
      <dsp:nvSpPr>
        <dsp:cNvPr id="0" name=""/>
        <dsp:cNvSpPr/>
      </dsp:nvSpPr>
      <dsp:spPr>
        <a:xfrm>
          <a:off x="3036115" y="2334925"/>
          <a:ext cx="1472432" cy="1030655"/>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From The Middle</a:t>
          </a:r>
          <a:endParaRPr lang="en-PK" sz="2400" kern="1200" dirty="0"/>
        </a:p>
      </dsp:txBody>
      <dsp:txXfrm>
        <a:off x="3086436" y="2385246"/>
        <a:ext cx="1371790" cy="930013"/>
      </dsp:txXfrm>
    </dsp:sp>
    <dsp:sp modelId="{060DB363-BFA5-422F-99C9-03533481B58E}">
      <dsp:nvSpPr>
        <dsp:cNvPr id="0" name=""/>
        <dsp:cNvSpPr/>
      </dsp:nvSpPr>
      <dsp:spPr>
        <a:xfrm>
          <a:off x="4508547" y="2433221"/>
          <a:ext cx="1070907" cy="833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228600" lvl="1" indent="-228600" algn="l" defTabSz="977900">
            <a:lnSpc>
              <a:spcPct val="90000"/>
            </a:lnSpc>
            <a:spcBef>
              <a:spcPct val="0"/>
            </a:spcBef>
            <a:spcAft>
              <a:spcPct val="15000"/>
            </a:spcAft>
            <a:buChar char="•"/>
          </a:pPr>
          <a:r>
            <a:rPr lang="en-US" sz="2200" b="1" kern="1200" dirty="0"/>
            <a:t>O(n)</a:t>
          </a:r>
          <a:endParaRPr lang="en-PK" sz="2200" b="1" kern="1200" dirty="0"/>
        </a:p>
      </dsp:txBody>
      <dsp:txXfrm>
        <a:off x="4508547" y="2433221"/>
        <a:ext cx="1070907" cy="833020"/>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7/21/2025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7/21/2025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790112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0FEA381-5717-4970-8F05-9C82AD7A102A}" type="datetime1">
              <a:rPr lang="en-US" smtClean="0"/>
              <a:t>7/21/2025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m.saleem@duet.edu.pk</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ln/>
        </p:spPr>
        <p:style>
          <a:lnRef idx="1">
            <a:schemeClr val="accent3"/>
          </a:lnRef>
          <a:fillRef idx="2">
            <a:schemeClr val="accent3"/>
          </a:fillRef>
          <a:effectRef idx="1">
            <a:schemeClr val="accent3"/>
          </a:effectRef>
          <a:fontRef idx="minor">
            <a:schemeClr val="dk1"/>
          </a:fontRef>
        </p:style>
      </p:sp>
      <p:sp>
        <p:nvSpPr>
          <p:cNvPr id="2" name="Title 1"/>
          <p:cNvSpPr>
            <a:spLocks noGrp="1"/>
          </p:cNvSpPr>
          <p:nvPr>
            <p:ph type="title"/>
          </p:nvPr>
        </p:nvSpPr>
        <p:spPr>
          <a:xfrm>
            <a:off x="581192" y="702156"/>
            <a:ext cx="11029616" cy="1013800"/>
          </a:xfrm>
        </p:spPr>
        <p:txBody>
          <a:bodyPr/>
          <a:lstStyle>
            <a:lvl1pPr>
              <a:defRPr b="1">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p:cNvSpPr>
            <a:spLocks noGrp="1"/>
          </p:cNvSpPr>
          <p:nvPr>
            <p:ph type="ftr" sz="quarter" idx="11"/>
          </p:nvPr>
        </p:nvSpPr>
        <p:spPr/>
        <p:txBody>
          <a:bodyPr/>
          <a:lstStyle/>
          <a:p>
            <a:r>
              <a:rPr lang="en-US"/>
              <a:t>m.saleem@duet.edu.pk</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pic>
        <p:nvPicPr>
          <p:cNvPr id="9" name="Picture 8" descr="Logo, company name&#10;&#10;Description automatically generated">
            <a:extLst>
              <a:ext uri="{FF2B5EF4-FFF2-40B4-BE49-F238E27FC236}">
                <a16:creationId xmlns:a16="http://schemas.microsoft.com/office/drawing/2014/main" id="{BBEE6594-EBEC-59F4-23AA-912B1946A264}"/>
              </a:ext>
            </a:extLst>
          </p:cNvPr>
          <p:cNvPicPr>
            <a:picLocks noChangeAspect="1"/>
          </p:cNvPicPr>
          <p:nvPr userDrawn="1"/>
        </p:nvPicPr>
        <p:blipFill>
          <a:blip r:embed="rId2"/>
          <a:stretch>
            <a:fillRect/>
          </a:stretch>
        </p:blipFill>
        <p:spPr>
          <a:xfrm>
            <a:off x="10370921" y="724556"/>
            <a:ext cx="1239886" cy="938181"/>
          </a:xfrm>
          <a:prstGeom prst="rect">
            <a:avLst/>
          </a:prstGeom>
        </p:spPr>
      </p:pic>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6F743DA-DA51-4368-8D33-3571BCA182F9}" type="datetime1">
              <a:rPr lang="en-US" smtClean="0"/>
              <a:t>7/21/2025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m.saleem@duet.edu.pk</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C39587-D505-4A64-AD18-B47176D30259}" type="datetime1">
              <a:rPr lang="en-US" smtClean="0"/>
              <a:t>7/21/2025</a:t>
            </a:fld>
            <a:endParaRPr lang="en-US" dirty="0"/>
          </a:p>
        </p:txBody>
      </p:sp>
      <p:sp>
        <p:nvSpPr>
          <p:cNvPr id="6" name="Footer Placeholder 5"/>
          <p:cNvSpPr>
            <a:spLocks noGrp="1"/>
          </p:cNvSpPr>
          <p:nvPr>
            <p:ph type="ftr" sz="quarter" idx="11"/>
          </p:nvPr>
        </p:nvSpPr>
        <p:spPr/>
        <p:txBody>
          <a:bodyPr/>
          <a:lstStyle/>
          <a:p>
            <a:r>
              <a:rPr lang="en-US"/>
              <a:t>m.saleem@duet.edu.pk</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00CFC3-C226-4C48-ACEC-CC7B3DA9F383}" type="datetime1">
              <a:rPr lang="en-US" smtClean="0"/>
              <a:t>7/21/2025</a:t>
            </a:fld>
            <a:endParaRPr lang="en-US" dirty="0"/>
          </a:p>
        </p:txBody>
      </p:sp>
      <p:sp>
        <p:nvSpPr>
          <p:cNvPr id="8" name="Footer Placeholder 7"/>
          <p:cNvSpPr>
            <a:spLocks noGrp="1"/>
          </p:cNvSpPr>
          <p:nvPr>
            <p:ph type="ftr" sz="quarter" idx="11"/>
          </p:nvPr>
        </p:nvSpPr>
        <p:spPr/>
        <p:txBody>
          <a:bodyPr/>
          <a:lstStyle/>
          <a:p>
            <a:r>
              <a:rPr lang="en-US"/>
              <a:t>m.saleem@duet.edu.pk</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7FAC6AB-B123-4E74-97E2-DE708FCEB9A2}" type="datetime1">
              <a:rPr lang="en-US" smtClean="0"/>
              <a:t>7/21/2025</a:t>
            </a:fld>
            <a:endParaRPr lang="en-US" dirty="0"/>
          </a:p>
        </p:txBody>
      </p:sp>
      <p:sp>
        <p:nvSpPr>
          <p:cNvPr id="4" name="Footer Placeholder 3"/>
          <p:cNvSpPr>
            <a:spLocks noGrp="1"/>
          </p:cNvSpPr>
          <p:nvPr>
            <p:ph type="ftr" sz="quarter" idx="11"/>
          </p:nvPr>
        </p:nvSpPr>
        <p:spPr/>
        <p:txBody>
          <a:bodyPr/>
          <a:lstStyle/>
          <a:p>
            <a:r>
              <a:rPr lang="en-US"/>
              <a:t>m.saleem@duet.edu.pk</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0E8386-EA55-4DEB-8FF0-E3E1E8C48556}" type="datetime1">
              <a:rPr lang="en-US" smtClean="0"/>
              <a:t>7/21/2025</a:t>
            </a:fld>
            <a:endParaRPr lang="en-US" dirty="0"/>
          </a:p>
        </p:txBody>
      </p:sp>
      <p:sp>
        <p:nvSpPr>
          <p:cNvPr id="3" name="Footer Placeholder 2"/>
          <p:cNvSpPr>
            <a:spLocks noGrp="1"/>
          </p:cNvSpPr>
          <p:nvPr>
            <p:ph type="ftr" sz="quarter" idx="11"/>
          </p:nvPr>
        </p:nvSpPr>
        <p:spPr/>
        <p:txBody>
          <a:bodyPr/>
          <a:lstStyle/>
          <a:p>
            <a:r>
              <a:rPr lang="en-US"/>
              <a:t>m.saleem@duet.edu.pk</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37A13619-B8FC-46A7-A1C6-B108F6A3D83A}" type="datetime1">
              <a:rPr lang="en-US" smtClean="0"/>
              <a:t>7/21/2025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m.saleem@duet.edu.pk</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351B62-E3C2-4A68-8F82-EB84F60B40A9}" type="datetime1">
              <a:rPr lang="en-US" smtClean="0"/>
              <a:t>7/21/2025</a:t>
            </a:fld>
            <a:endParaRPr lang="en-US" dirty="0"/>
          </a:p>
        </p:txBody>
      </p:sp>
      <p:sp>
        <p:nvSpPr>
          <p:cNvPr id="6" name="Footer Placeholder 5"/>
          <p:cNvSpPr>
            <a:spLocks noGrp="1"/>
          </p:cNvSpPr>
          <p:nvPr>
            <p:ph type="ftr" sz="quarter" idx="11"/>
          </p:nvPr>
        </p:nvSpPr>
        <p:spPr/>
        <p:txBody>
          <a:bodyPr/>
          <a:lstStyle/>
          <a:p>
            <a:r>
              <a:rPr lang="en-US"/>
              <a:t>m.saleem@duet.edu.pk</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4D692F-E8CB-46A5-8F4D-7A5E7EC179D8}" type="datetime1">
              <a:rPr lang="en-US" smtClean="0"/>
              <a:t>7/21/2025</a:t>
            </a:fld>
            <a:endParaRPr lang="en-US" dirty="0"/>
          </a:p>
        </p:txBody>
      </p:sp>
      <p:sp>
        <p:nvSpPr>
          <p:cNvPr id="5" name="Footer Placeholder 4"/>
          <p:cNvSpPr>
            <a:spLocks noGrp="1"/>
          </p:cNvSpPr>
          <p:nvPr>
            <p:ph type="ftr" sz="quarter" idx="11"/>
          </p:nvPr>
        </p:nvSpPr>
        <p:spPr/>
        <p:txBody>
          <a:bodyPr/>
          <a:lstStyle/>
          <a:p>
            <a:r>
              <a:rPr lang="en-US"/>
              <a:t>m.saleem@duet.edu.pk</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3FCAB71-B2F6-49B1-8000-713E47638E8D}" type="datetime1">
              <a:rPr lang="en-US" smtClean="0"/>
              <a:t>7/21/2025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m.saleem@duet.edu.pk</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E7AA2898-A283-4240-9881-8802813274A7}" type="datetime1">
              <a:rPr lang="en-US" smtClean="0"/>
              <a:t>7/21/2025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m.saleem@duet.edu.pk</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mailto:Msaleem.jcb@gmail.com"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dirty="0">
                <a:latin typeface="Cambria" panose="02040503050406030204" pitchFamily="18" charset="0"/>
              </a:rPr>
              <a:t>Lecture – linked list</a:t>
            </a:r>
            <a:br>
              <a:rPr lang="en-US" sz="4400" b="1" dirty="0">
                <a:latin typeface="Cambria" panose="02040503050406030204" pitchFamily="18" charset="0"/>
              </a:rPr>
            </a:br>
            <a:r>
              <a:rPr lang="en-US" sz="2800" b="1" dirty="0">
                <a:latin typeface="Cambria" panose="02040503050406030204" pitchFamily="18" charset="0"/>
              </a:rPr>
              <a:t>data structure &amp; algorithms</a:t>
            </a:r>
            <a:endParaRPr lang="en-US" sz="4400" b="1" dirty="0">
              <a:latin typeface="Cambria" panose="02040503050406030204" pitchFamily="18" charset="0"/>
            </a:endParaRPr>
          </a:p>
        </p:txBody>
      </p:sp>
      <p:sp>
        <p:nvSpPr>
          <p:cNvPr id="6" name="Subtitle 5">
            <a:extLst>
              <a:ext uri="{FF2B5EF4-FFF2-40B4-BE49-F238E27FC236}">
                <a16:creationId xmlns:a16="http://schemas.microsoft.com/office/drawing/2014/main" id="{41D3350B-398A-40DF-53FC-708A49DD13AA}"/>
              </a:ext>
            </a:extLst>
          </p:cNvPr>
          <p:cNvSpPr>
            <a:spLocks noGrp="1"/>
          </p:cNvSpPr>
          <p:nvPr>
            <p:ph type="subTitle" idx="1"/>
          </p:nvPr>
        </p:nvSpPr>
        <p:spPr>
          <a:xfrm>
            <a:off x="4767306" y="4511090"/>
            <a:ext cx="6000222" cy="1030169"/>
          </a:xfrm>
        </p:spPr>
        <p:txBody>
          <a:bodyPr>
            <a:normAutofit/>
          </a:bodyPr>
          <a:lstStyle/>
          <a:p>
            <a:pPr algn="r"/>
            <a:r>
              <a:rPr lang="en-US" b="1" dirty="0">
                <a:solidFill>
                  <a:schemeClr val="bg1"/>
                </a:solidFill>
              </a:rPr>
              <a:t>Mr. muhammad saleem</a:t>
            </a:r>
          </a:p>
          <a:p>
            <a:pPr algn="r">
              <a:spcBef>
                <a:spcPts val="0"/>
              </a:spcBef>
              <a:spcAft>
                <a:spcPts val="0"/>
              </a:spcAft>
            </a:pPr>
            <a:r>
              <a:rPr lang="en-US" dirty="0">
                <a:solidFill>
                  <a:schemeClr val="bg1"/>
                </a:solidFill>
              </a:rPr>
              <a:t>lecturer</a:t>
            </a:r>
          </a:p>
          <a:p>
            <a:pPr algn="r">
              <a:spcBef>
                <a:spcPts val="0"/>
              </a:spcBef>
              <a:spcAft>
                <a:spcPts val="0"/>
              </a:spcAft>
            </a:pPr>
            <a:r>
              <a:rPr lang="en-US" dirty="0">
                <a:solidFill>
                  <a:schemeClr val="bg1"/>
                </a:solidFill>
              </a:rPr>
              <a:t>Department of Computer Science</a:t>
            </a:r>
          </a:p>
        </p:txBody>
      </p:sp>
      <p:pic>
        <p:nvPicPr>
          <p:cNvPr id="4" name="Picture 3" descr="Logo, company name&#10;&#10;Description automatically generated">
            <a:extLst>
              <a:ext uri="{FF2B5EF4-FFF2-40B4-BE49-F238E27FC236}">
                <a16:creationId xmlns:a16="http://schemas.microsoft.com/office/drawing/2014/main" id="{3E77B147-6C8C-6C65-0645-F25534F0FACA}"/>
              </a:ext>
            </a:extLst>
          </p:cNvPr>
          <p:cNvPicPr>
            <a:picLocks noChangeAspect="1"/>
          </p:cNvPicPr>
          <p:nvPr/>
        </p:nvPicPr>
        <p:blipFill>
          <a:blip r:embed="rId2"/>
          <a:stretch>
            <a:fillRect/>
          </a:stretch>
        </p:blipFill>
        <p:spPr>
          <a:xfrm>
            <a:off x="10393003" y="657935"/>
            <a:ext cx="1559987" cy="1180390"/>
          </a:xfrm>
          <a:prstGeom prst="rect">
            <a:avLst/>
          </a:prstGeom>
        </p:spPr>
      </p:pic>
      <p:sp>
        <p:nvSpPr>
          <p:cNvPr id="7" name="TextBox 6">
            <a:extLst>
              <a:ext uri="{FF2B5EF4-FFF2-40B4-BE49-F238E27FC236}">
                <a16:creationId xmlns:a16="http://schemas.microsoft.com/office/drawing/2014/main" id="{742C2789-3549-08ED-F8E9-97F97E2BF5D2}"/>
              </a:ext>
            </a:extLst>
          </p:cNvPr>
          <p:cNvSpPr txBox="1"/>
          <p:nvPr/>
        </p:nvSpPr>
        <p:spPr>
          <a:xfrm>
            <a:off x="412357" y="5749016"/>
            <a:ext cx="11138533" cy="584775"/>
          </a:xfrm>
          <a:prstGeom prst="rect">
            <a:avLst/>
          </a:prstGeom>
          <a:noFill/>
        </p:spPr>
        <p:txBody>
          <a:bodyPr wrap="square">
            <a:spAutoFit/>
          </a:bodyPr>
          <a:lstStyle/>
          <a:p>
            <a:pPr algn="ctr">
              <a:spcBef>
                <a:spcPts val="0"/>
              </a:spcBef>
              <a:spcAft>
                <a:spcPts val="0"/>
              </a:spcAft>
            </a:pPr>
            <a:r>
              <a:rPr lang="en-US" sz="3200" dirty="0">
                <a:solidFill>
                  <a:schemeClr val="bg1"/>
                </a:solidFill>
              </a:rPr>
              <a:t>Dawood University of Engineering and Technology, Karachi</a:t>
            </a:r>
          </a:p>
        </p:txBody>
      </p:sp>
      <p:pic>
        <p:nvPicPr>
          <p:cNvPr id="9218" name="Picture 2" descr="Linked List | Codewhoop">
            <a:extLst>
              <a:ext uri="{FF2B5EF4-FFF2-40B4-BE49-F238E27FC236}">
                <a16:creationId xmlns:a16="http://schemas.microsoft.com/office/drawing/2014/main" id="{7314A773-0BC4-BE14-A917-086AB32EAE14}"/>
              </a:ext>
            </a:extLst>
          </p:cNvPr>
          <p:cNvPicPr>
            <a:picLocks noChangeAspect="1" noChangeArrowheads="1"/>
          </p:cNvPicPr>
          <p:nvPr/>
        </p:nvPicPr>
        <p:blipFill>
          <a:blip r:embed="rId3">
            <a:clrChange>
              <a:clrFrom>
                <a:srgbClr val="B6C7CF"/>
              </a:clrFrom>
              <a:clrTo>
                <a:srgbClr val="B6C7CF">
                  <a:alpha val="0"/>
                </a:srgbClr>
              </a:clrTo>
            </a:clrChange>
            <a:extLst>
              <a:ext uri="{28A0092B-C50C-407E-A947-70E740481C1C}">
                <a14:useLocalDpi xmlns:a14="http://schemas.microsoft.com/office/drawing/2010/main" val="0"/>
              </a:ext>
            </a:extLst>
          </a:blip>
          <a:srcRect/>
          <a:stretch>
            <a:fillRect/>
          </a:stretch>
        </p:blipFill>
        <p:spPr bwMode="auto">
          <a:xfrm>
            <a:off x="1742758" y="3398134"/>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783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a:xfrm>
            <a:off x="581192" y="2857241"/>
            <a:ext cx="10921831" cy="2919211"/>
          </a:xfrm>
        </p:spPr>
        <p:txBody>
          <a:bodyPr>
            <a:noAutofit/>
          </a:bodyPr>
          <a:lstStyle/>
          <a:p>
            <a:pPr lvl="0">
              <a:spcAft>
                <a:spcPts val="0"/>
              </a:spcAft>
            </a:pPr>
            <a:r>
              <a:rPr lang="en-US" sz="1600" dirty="0"/>
              <a:t>Introduction of Linked List</a:t>
            </a:r>
          </a:p>
          <a:p>
            <a:pPr lvl="0">
              <a:spcAft>
                <a:spcPts val="0"/>
              </a:spcAft>
            </a:pPr>
            <a:r>
              <a:rPr lang="en-US" sz="1600" dirty="0"/>
              <a:t>Uses of Linked List</a:t>
            </a:r>
          </a:p>
          <a:p>
            <a:pPr lvl="0">
              <a:spcAft>
                <a:spcPts val="0"/>
              </a:spcAft>
            </a:pPr>
            <a:r>
              <a:rPr lang="en-US" sz="1600" dirty="0"/>
              <a:t>Limitation of Array Linked list can Over Come</a:t>
            </a:r>
          </a:p>
          <a:p>
            <a:pPr lvl="0">
              <a:spcAft>
                <a:spcPts val="0"/>
              </a:spcAft>
            </a:pPr>
            <a:r>
              <a:rPr lang="en-US" sz="1600" dirty="0"/>
              <a:t>Linked List Memory Representation</a:t>
            </a:r>
          </a:p>
          <a:p>
            <a:pPr lvl="0">
              <a:spcAft>
                <a:spcPts val="0"/>
              </a:spcAft>
            </a:pPr>
            <a:r>
              <a:rPr lang="en-US" sz="1600" dirty="0"/>
              <a:t>Type of Linked List</a:t>
            </a:r>
          </a:p>
          <a:p>
            <a:pPr lvl="1">
              <a:spcAft>
                <a:spcPts val="0"/>
              </a:spcAft>
            </a:pPr>
            <a:r>
              <a:rPr lang="en-US" sz="1400" dirty="0"/>
              <a:t>Singly</a:t>
            </a:r>
          </a:p>
          <a:p>
            <a:pPr lvl="1">
              <a:spcAft>
                <a:spcPts val="0"/>
              </a:spcAft>
            </a:pPr>
            <a:r>
              <a:rPr lang="en-US" sz="1400" dirty="0"/>
              <a:t>Doubly</a:t>
            </a:r>
          </a:p>
          <a:p>
            <a:pPr lvl="1">
              <a:spcAft>
                <a:spcPts val="0"/>
              </a:spcAft>
            </a:pPr>
            <a:r>
              <a:rPr lang="en-US" sz="1400" dirty="0"/>
              <a:t>Circular</a:t>
            </a:r>
          </a:p>
          <a:p>
            <a:pPr lvl="0">
              <a:spcAft>
                <a:spcPts val="0"/>
              </a:spcAft>
            </a:pPr>
            <a:endParaRPr lang="en-US" sz="1600" dirty="0"/>
          </a:p>
        </p:txBody>
      </p:sp>
      <p:sp>
        <p:nvSpPr>
          <p:cNvPr id="5" name="Slide Number Placeholder 4"/>
          <p:cNvSpPr>
            <a:spLocks noGrp="1"/>
          </p:cNvSpPr>
          <p:nvPr>
            <p:ph type="sldNum" sz="quarter" idx="12"/>
          </p:nvPr>
        </p:nvSpPr>
        <p:spPr/>
        <p:txBody>
          <a:bodyPr/>
          <a:lstStyle/>
          <a:p>
            <a:fld id="{EDDF765D-707C-4213-8BA3-23FEF1A59540}" type="slidenum">
              <a:rPr lang="en-US" smtClean="0"/>
              <a:t>2</a:t>
            </a:fld>
            <a:endParaRPr lang="en-US"/>
          </a:p>
        </p:txBody>
      </p:sp>
      <p:sp>
        <p:nvSpPr>
          <p:cNvPr id="6" name="Rectangle 5">
            <a:extLst>
              <a:ext uri="{FF2B5EF4-FFF2-40B4-BE49-F238E27FC236}">
                <a16:creationId xmlns:a16="http://schemas.microsoft.com/office/drawing/2014/main" id="{21EFAF7C-8750-C5DE-F6D3-09F532DD2D4A}"/>
              </a:ext>
            </a:extLst>
          </p:cNvPr>
          <p:cNvSpPr/>
          <p:nvPr/>
        </p:nvSpPr>
        <p:spPr>
          <a:xfrm>
            <a:off x="9331" y="6098298"/>
            <a:ext cx="765110" cy="743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022718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D269A-31C5-253E-54E0-B442AA7F2601}"/>
              </a:ext>
            </a:extLst>
          </p:cNvPr>
          <p:cNvSpPr>
            <a:spLocks noGrp="1"/>
          </p:cNvSpPr>
          <p:nvPr>
            <p:ph type="title"/>
          </p:nvPr>
        </p:nvSpPr>
        <p:spPr>
          <a:xfrm>
            <a:off x="581193" y="729658"/>
            <a:ext cx="11029616" cy="988332"/>
          </a:xfrm>
        </p:spPr>
        <p:txBody>
          <a:bodyPr anchor="b">
            <a:normAutofit/>
          </a:bodyPr>
          <a:lstStyle/>
          <a:p>
            <a:r>
              <a:rPr lang="en-US" dirty="0"/>
              <a:t>Linked list</a:t>
            </a:r>
            <a:endParaRPr lang="en-PK" dirty="0"/>
          </a:p>
        </p:txBody>
      </p:sp>
      <p:sp>
        <p:nvSpPr>
          <p:cNvPr id="3" name="Content Placeholder 2">
            <a:extLst>
              <a:ext uri="{FF2B5EF4-FFF2-40B4-BE49-F238E27FC236}">
                <a16:creationId xmlns:a16="http://schemas.microsoft.com/office/drawing/2014/main" id="{EEAC47DA-031B-8555-1369-97983F859942}"/>
              </a:ext>
            </a:extLst>
          </p:cNvPr>
          <p:cNvSpPr>
            <a:spLocks noGrp="1"/>
          </p:cNvSpPr>
          <p:nvPr>
            <p:ph sz="half" idx="1"/>
          </p:nvPr>
        </p:nvSpPr>
        <p:spPr>
          <a:xfrm>
            <a:off x="581193" y="2228003"/>
            <a:ext cx="5422390" cy="3633047"/>
          </a:xfrm>
        </p:spPr>
        <p:txBody>
          <a:bodyPr anchor="ctr">
            <a:normAutofit/>
          </a:bodyPr>
          <a:lstStyle/>
          <a:p>
            <a:pPr algn="just"/>
            <a:r>
              <a:rPr lang="en-US" b="0" i="0" dirty="0">
                <a:effectLst/>
              </a:rPr>
              <a:t>Linked List can be defined as collection of objects called </a:t>
            </a:r>
            <a:r>
              <a:rPr lang="en-US" b="1" i="0" dirty="0">
                <a:effectLst/>
              </a:rPr>
              <a:t>nodes</a:t>
            </a:r>
            <a:r>
              <a:rPr lang="en-US" b="0" i="0" dirty="0">
                <a:effectLst/>
              </a:rPr>
              <a:t> that are randomly stored in the memory.</a:t>
            </a:r>
          </a:p>
          <a:p>
            <a:pPr algn="just"/>
            <a:r>
              <a:rPr lang="en-US" b="0" i="0" dirty="0">
                <a:effectLst/>
              </a:rPr>
              <a:t>A node contains two fields i.e. data stored at that particular address and the pointer which contains the address of the next node in the memory.</a:t>
            </a:r>
          </a:p>
          <a:p>
            <a:pPr algn="just"/>
            <a:r>
              <a:rPr lang="en-US" b="0" i="0" dirty="0">
                <a:effectLst/>
              </a:rPr>
              <a:t>The last node of the list contains pointer to the null.</a:t>
            </a:r>
          </a:p>
        </p:txBody>
      </p:sp>
      <p:pic>
        <p:nvPicPr>
          <p:cNvPr id="1026" name="Picture 2" descr="DS Linked List">
            <a:extLst>
              <a:ext uri="{FF2B5EF4-FFF2-40B4-BE49-F238E27FC236}">
                <a16:creationId xmlns:a16="http://schemas.microsoft.com/office/drawing/2014/main" id="{F5C43054-317F-5E4B-F81D-9C5A85AFF98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88417" y="3387061"/>
            <a:ext cx="5422392" cy="1314930"/>
          </a:xfrm>
          <a:prstGeom prst="rect">
            <a:avLst/>
          </a:prstGeom>
          <a:solidFill>
            <a:srgbClr val="FFFFFF"/>
          </a:solidFill>
        </p:spPr>
      </p:pic>
      <p:sp>
        <p:nvSpPr>
          <p:cNvPr id="4" name="Date Placeholder 3">
            <a:extLst>
              <a:ext uri="{FF2B5EF4-FFF2-40B4-BE49-F238E27FC236}">
                <a16:creationId xmlns:a16="http://schemas.microsoft.com/office/drawing/2014/main" id="{DEF8F252-681E-9169-F70D-FCFA051A7072}"/>
              </a:ext>
            </a:extLst>
          </p:cNvPr>
          <p:cNvSpPr>
            <a:spLocks noGrp="1"/>
          </p:cNvSpPr>
          <p:nvPr>
            <p:ph type="dt" sz="half" idx="10"/>
          </p:nvPr>
        </p:nvSpPr>
        <p:spPr>
          <a:xfrm>
            <a:off x="7605951" y="5956137"/>
            <a:ext cx="2844799" cy="365125"/>
          </a:xfrm>
        </p:spPr>
        <p:txBody>
          <a:bodyPr anchor="ctr">
            <a:normAutofit/>
          </a:bodyPr>
          <a:lstStyle/>
          <a:p>
            <a:pPr>
              <a:spcAft>
                <a:spcPts val="600"/>
              </a:spcAft>
            </a:pPr>
            <a:fld id="{E99B68EB-34CE-40AD-9008-FF96287658FF}" type="datetime1">
              <a:rPr lang="en-US" smtClean="0"/>
              <a:pPr>
                <a:spcAft>
                  <a:spcPts val="600"/>
                </a:spcAft>
              </a:pPr>
              <a:t>7/21/2025</a:t>
            </a:fld>
            <a:endParaRPr lang="en-US"/>
          </a:p>
        </p:txBody>
      </p:sp>
      <p:sp>
        <p:nvSpPr>
          <p:cNvPr id="5" name="Footer Placeholder 4">
            <a:extLst>
              <a:ext uri="{FF2B5EF4-FFF2-40B4-BE49-F238E27FC236}">
                <a16:creationId xmlns:a16="http://schemas.microsoft.com/office/drawing/2014/main" id="{D977CA10-FCB5-1297-4585-F7A42BFEB145}"/>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6" name="Slide Number Placeholder 5">
            <a:extLst>
              <a:ext uri="{FF2B5EF4-FFF2-40B4-BE49-F238E27FC236}">
                <a16:creationId xmlns:a16="http://schemas.microsoft.com/office/drawing/2014/main" id="{993791CB-6248-2A0C-F08F-B1CC69686295}"/>
              </a:ext>
            </a:extLst>
          </p:cNvPr>
          <p:cNvSpPr>
            <a:spLocks noGrp="1"/>
          </p:cNvSpPr>
          <p:nvPr>
            <p:ph type="sldNum" sz="quarter" idx="12"/>
          </p:nvPr>
        </p:nvSpPr>
        <p:spPr>
          <a:xfrm>
            <a:off x="10558300" y="5956137"/>
            <a:ext cx="1052510" cy="365125"/>
          </a:xfrm>
        </p:spPr>
        <p:txBody>
          <a:bodyPr anchor="ctr">
            <a:normAutofit/>
          </a:bodyPr>
          <a:lstStyle/>
          <a:p>
            <a:pPr>
              <a:spcAft>
                <a:spcPts val="600"/>
              </a:spcAft>
            </a:pPr>
            <a:fld id="{D57F1E4F-1CFF-5643-939E-217C01CDF565}" type="slidenum">
              <a:rPr lang="en-US" smtClean="0"/>
              <a:pPr>
                <a:spcAft>
                  <a:spcPts val="600"/>
                </a:spcAft>
              </a:pPr>
              <a:t>3</a:t>
            </a:fld>
            <a:endParaRPr lang="en-US"/>
          </a:p>
        </p:txBody>
      </p:sp>
    </p:spTree>
    <p:extLst>
      <p:ext uri="{BB962C8B-B14F-4D97-AF65-F5344CB8AC3E}">
        <p14:creationId xmlns:p14="http://schemas.microsoft.com/office/powerpoint/2010/main" val="406446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2C9E5-B7B6-5902-87AA-D79A10A668F0}"/>
              </a:ext>
            </a:extLst>
          </p:cNvPr>
          <p:cNvSpPr>
            <a:spLocks noGrp="1"/>
          </p:cNvSpPr>
          <p:nvPr>
            <p:ph type="title"/>
          </p:nvPr>
        </p:nvSpPr>
        <p:spPr/>
        <p:txBody>
          <a:bodyPr/>
          <a:lstStyle/>
          <a:p>
            <a:r>
              <a:rPr lang="en-US" i="0" dirty="0">
                <a:solidFill>
                  <a:srgbClr val="1D1D27"/>
                </a:solidFill>
                <a:effectLst/>
                <a:latin typeface="montserrat" panose="00000500000000000000" pitchFamily="2" charset="0"/>
              </a:rPr>
              <a:t>Uses of Linked List</a:t>
            </a:r>
            <a:endParaRPr lang="en-PK" dirty="0"/>
          </a:p>
        </p:txBody>
      </p:sp>
      <p:sp>
        <p:nvSpPr>
          <p:cNvPr id="3" name="Content Placeholder 2">
            <a:extLst>
              <a:ext uri="{FF2B5EF4-FFF2-40B4-BE49-F238E27FC236}">
                <a16:creationId xmlns:a16="http://schemas.microsoft.com/office/drawing/2014/main" id="{28AB53E8-6A32-8323-B2DA-72940A59DFE3}"/>
              </a:ext>
            </a:extLst>
          </p:cNvPr>
          <p:cNvSpPr>
            <a:spLocks noGrp="1"/>
          </p:cNvSpPr>
          <p:nvPr>
            <p:ph idx="1"/>
          </p:nvPr>
        </p:nvSpPr>
        <p:spPr/>
        <p:txBody>
          <a:bodyPr/>
          <a:lstStyle/>
          <a:p>
            <a:pPr algn="just"/>
            <a:r>
              <a:rPr lang="en-US" b="0" i="0" dirty="0">
                <a:solidFill>
                  <a:srgbClr val="2B2A29"/>
                </a:solidFill>
                <a:effectLst/>
                <a:latin typeface="montserrat" panose="00000500000000000000" pitchFamily="2" charset="0"/>
              </a:rPr>
              <a:t>The list is not required to be contiguously present in the memory. The node can reside any where in the memory and linked together to make a list. </a:t>
            </a:r>
          </a:p>
          <a:p>
            <a:pPr algn="just"/>
            <a:r>
              <a:rPr lang="en-US" b="0" i="0" dirty="0">
                <a:solidFill>
                  <a:srgbClr val="2B2A29"/>
                </a:solidFill>
                <a:effectLst/>
                <a:latin typeface="montserrat" panose="00000500000000000000" pitchFamily="2" charset="0"/>
              </a:rPr>
              <a:t>This achieves optimized utilization of space.</a:t>
            </a:r>
          </a:p>
          <a:p>
            <a:pPr algn="just"/>
            <a:r>
              <a:rPr lang="en-US" b="0" i="0" dirty="0">
                <a:solidFill>
                  <a:srgbClr val="2B2A29"/>
                </a:solidFill>
                <a:effectLst/>
                <a:latin typeface="montserrat" panose="00000500000000000000" pitchFamily="2" charset="0"/>
              </a:rPr>
              <a:t>list size is limited to the memory size and doesn't need to be declared in advance.</a:t>
            </a:r>
          </a:p>
          <a:p>
            <a:pPr algn="just"/>
            <a:r>
              <a:rPr lang="en-US" b="0" i="0" dirty="0">
                <a:solidFill>
                  <a:srgbClr val="2B2A29"/>
                </a:solidFill>
                <a:effectLst/>
                <a:latin typeface="montserrat" panose="00000500000000000000" pitchFamily="2" charset="0"/>
              </a:rPr>
              <a:t>Empty node can not be present in the linked list.</a:t>
            </a:r>
          </a:p>
          <a:p>
            <a:pPr algn="just"/>
            <a:r>
              <a:rPr lang="en-US" b="0" i="0" dirty="0">
                <a:solidFill>
                  <a:srgbClr val="2B2A29"/>
                </a:solidFill>
                <a:effectLst/>
                <a:latin typeface="montserrat" panose="00000500000000000000" pitchFamily="2" charset="0"/>
              </a:rPr>
              <a:t>We can store values of primitive types or objects in the singly linked list.</a:t>
            </a:r>
          </a:p>
        </p:txBody>
      </p:sp>
      <p:sp>
        <p:nvSpPr>
          <p:cNvPr id="4" name="Date Placeholder 3">
            <a:extLst>
              <a:ext uri="{FF2B5EF4-FFF2-40B4-BE49-F238E27FC236}">
                <a16:creationId xmlns:a16="http://schemas.microsoft.com/office/drawing/2014/main" id="{A83BA1EF-F80F-72B2-DEC4-064EFD494B98}"/>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372FBE2B-DEB9-2C11-D147-EB7FF5FC9F3B}"/>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586158A7-4219-6508-AF25-C2966682D1F1}"/>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836139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52450-F76F-2259-8DF5-F1A0B8F41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FDB18-E61B-EA1A-5679-14B3C2CE74F4}"/>
              </a:ext>
            </a:extLst>
          </p:cNvPr>
          <p:cNvSpPr>
            <a:spLocks noGrp="1"/>
          </p:cNvSpPr>
          <p:nvPr>
            <p:ph type="title"/>
          </p:nvPr>
        </p:nvSpPr>
        <p:spPr/>
        <p:txBody>
          <a:bodyPr/>
          <a:lstStyle/>
          <a:p>
            <a:r>
              <a:rPr lang="en-US" b="1" i="0" dirty="0">
                <a:solidFill>
                  <a:srgbClr val="2B2A29"/>
                </a:solidFill>
                <a:effectLst/>
                <a:latin typeface="montserrat" panose="00000500000000000000" pitchFamily="2" charset="0"/>
              </a:rPr>
              <a:t>Array contains following limitations:</a:t>
            </a:r>
            <a:endParaRPr lang="en-PK" dirty="0"/>
          </a:p>
        </p:txBody>
      </p:sp>
      <p:sp>
        <p:nvSpPr>
          <p:cNvPr id="4" name="Date Placeholder 3">
            <a:extLst>
              <a:ext uri="{FF2B5EF4-FFF2-40B4-BE49-F238E27FC236}">
                <a16:creationId xmlns:a16="http://schemas.microsoft.com/office/drawing/2014/main" id="{3C94313E-627A-72C1-4393-5820E983FC6D}"/>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63E1EF02-7399-CFE5-3254-2C3E5A0A2D98}"/>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C67036AB-2320-352B-B80C-90626C6410F9}"/>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7" name="TextBox 6">
            <a:extLst>
              <a:ext uri="{FF2B5EF4-FFF2-40B4-BE49-F238E27FC236}">
                <a16:creationId xmlns:a16="http://schemas.microsoft.com/office/drawing/2014/main" id="{8713D73A-B8DA-14C6-9C05-9B6DD99991B0}"/>
              </a:ext>
            </a:extLst>
          </p:cNvPr>
          <p:cNvSpPr txBox="1"/>
          <p:nvPr/>
        </p:nvSpPr>
        <p:spPr>
          <a:xfrm>
            <a:off x="401320" y="1766947"/>
            <a:ext cx="11389360" cy="3693319"/>
          </a:xfrm>
          <a:prstGeom prst="rect">
            <a:avLst/>
          </a:prstGeom>
          <a:noFill/>
        </p:spPr>
        <p:txBody>
          <a:bodyPr wrap="square">
            <a:spAutoFit/>
          </a:bodyPr>
          <a:lstStyle/>
          <a:p>
            <a:pPr algn="just"/>
            <a:endParaRPr lang="en-US" b="1" i="0" dirty="0">
              <a:solidFill>
                <a:srgbClr val="2B2A29"/>
              </a:solidFill>
              <a:effectLst/>
              <a:latin typeface="montserrat" panose="00000500000000000000" pitchFamily="2" charset="0"/>
            </a:endParaRPr>
          </a:p>
          <a:p>
            <a:pPr marL="285750" indent="-285750" algn="just">
              <a:buFont typeface="Arial" panose="020B0604020202020204" pitchFamily="34" charset="0"/>
              <a:buChar char="•"/>
            </a:pPr>
            <a:r>
              <a:rPr lang="en-US" sz="2400" b="0" i="0" dirty="0">
                <a:solidFill>
                  <a:srgbClr val="2B2A29"/>
                </a:solidFill>
                <a:effectLst/>
                <a:latin typeface="montserrat" panose="00000500000000000000" pitchFamily="2" charset="0"/>
              </a:rPr>
              <a:t>The size of array must be known in advance before using it in the program.</a:t>
            </a:r>
          </a:p>
          <a:p>
            <a:pPr marL="285750" indent="-285750" algn="just">
              <a:buFont typeface="Arial" panose="020B0604020202020204" pitchFamily="34" charset="0"/>
              <a:buChar char="•"/>
            </a:pPr>
            <a:endParaRPr lang="en-US" sz="2400" dirty="0">
              <a:solidFill>
                <a:srgbClr val="2B2A29"/>
              </a:solidFill>
              <a:latin typeface="montserrat" panose="00000500000000000000" pitchFamily="2" charset="0"/>
            </a:endParaRPr>
          </a:p>
          <a:p>
            <a:pPr marL="285750" indent="-285750" algn="just">
              <a:buFont typeface="Arial" panose="020B0604020202020204" pitchFamily="34" charset="0"/>
              <a:buChar char="•"/>
            </a:pPr>
            <a:r>
              <a:rPr lang="en-US" sz="2400" b="0" i="0" dirty="0">
                <a:solidFill>
                  <a:srgbClr val="2B2A29"/>
                </a:solidFill>
                <a:effectLst/>
                <a:latin typeface="montserrat" panose="00000500000000000000" pitchFamily="2" charset="0"/>
              </a:rPr>
              <a:t>Increasing size of the array is a time taking process. It is almost impossible to expand the size of the array at run time.</a:t>
            </a:r>
          </a:p>
          <a:p>
            <a:pPr algn="just"/>
            <a:endParaRPr lang="en-US" sz="2400" dirty="0">
              <a:solidFill>
                <a:srgbClr val="2B2A29"/>
              </a:solidFill>
              <a:latin typeface="montserrat" panose="00000500000000000000" pitchFamily="2" charset="0"/>
            </a:endParaRPr>
          </a:p>
          <a:p>
            <a:pPr marL="285750" indent="-285750" algn="just">
              <a:buFont typeface="Arial" panose="020B0604020202020204" pitchFamily="34" charset="0"/>
              <a:buChar char="•"/>
            </a:pPr>
            <a:r>
              <a:rPr lang="en-US" sz="2400" b="0" i="0" dirty="0">
                <a:solidFill>
                  <a:srgbClr val="2B2A29"/>
                </a:solidFill>
                <a:effectLst/>
                <a:latin typeface="montserrat" panose="00000500000000000000" pitchFamily="2" charset="0"/>
              </a:rPr>
              <a:t>All the elements in the array need to be contiguously stored in the memory. Inserting any element in the array needs shifting of all its predecessors.</a:t>
            </a:r>
          </a:p>
        </p:txBody>
      </p:sp>
    </p:spTree>
    <p:extLst>
      <p:ext uri="{BB962C8B-B14F-4D97-AF65-F5344CB8AC3E}">
        <p14:creationId xmlns:p14="http://schemas.microsoft.com/office/powerpoint/2010/main" val="2676342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D7B1-74D6-DE11-6E18-A24148807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10C93-241B-8405-3397-B5CE4221C5C9}"/>
              </a:ext>
            </a:extLst>
          </p:cNvPr>
          <p:cNvSpPr>
            <a:spLocks noGrp="1"/>
          </p:cNvSpPr>
          <p:nvPr>
            <p:ph type="title"/>
          </p:nvPr>
        </p:nvSpPr>
        <p:spPr/>
        <p:txBody>
          <a:bodyPr>
            <a:normAutofit/>
          </a:bodyPr>
          <a:lstStyle/>
          <a:p>
            <a:r>
              <a:rPr lang="en-US" sz="2400" dirty="0"/>
              <a:t>Linked list overcomes the limitations of array</a:t>
            </a:r>
            <a:endParaRPr lang="en-PK" sz="2400" dirty="0"/>
          </a:p>
        </p:txBody>
      </p:sp>
      <p:sp>
        <p:nvSpPr>
          <p:cNvPr id="3" name="Content Placeholder 2">
            <a:extLst>
              <a:ext uri="{FF2B5EF4-FFF2-40B4-BE49-F238E27FC236}">
                <a16:creationId xmlns:a16="http://schemas.microsoft.com/office/drawing/2014/main" id="{FD0F8800-5A49-21BA-0392-6849EE41E01E}"/>
              </a:ext>
            </a:extLst>
          </p:cNvPr>
          <p:cNvSpPr>
            <a:spLocks noGrp="1"/>
          </p:cNvSpPr>
          <p:nvPr>
            <p:ph idx="1"/>
          </p:nvPr>
        </p:nvSpPr>
        <p:spPr/>
        <p:txBody>
          <a:bodyPr>
            <a:normAutofit/>
          </a:bodyPr>
          <a:lstStyle/>
          <a:p>
            <a:pPr algn="just">
              <a:buFont typeface="+mj-lt"/>
              <a:buAutoNum type="arabicPeriod"/>
            </a:pPr>
            <a:r>
              <a:rPr lang="en-US" sz="2400" b="0" i="0" dirty="0">
                <a:solidFill>
                  <a:srgbClr val="2B2A29"/>
                </a:solidFill>
                <a:effectLst/>
                <a:latin typeface="montserrat" panose="00000500000000000000" pitchFamily="2" charset="0"/>
              </a:rPr>
              <a:t>It allocates the memory dynamically. </a:t>
            </a:r>
          </a:p>
          <a:p>
            <a:pPr algn="just">
              <a:buFont typeface="+mj-lt"/>
              <a:buAutoNum type="arabicPeriod"/>
            </a:pPr>
            <a:r>
              <a:rPr lang="en-US" sz="2400" b="0" i="0" dirty="0">
                <a:solidFill>
                  <a:srgbClr val="2B2A29"/>
                </a:solidFill>
                <a:effectLst/>
                <a:latin typeface="montserrat" panose="00000500000000000000" pitchFamily="2" charset="0"/>
              </a:rPr>
              <a:t>All the nodes of linked list are non-contiguously stored in the memory and linked together with the help of pointers.</a:t>
            </a:r>
          </a:p>
          <a:p>
            <a:pPr algn="just">
              <a:buFont typeface="+mj-lt"/>
              <a:buAutoNum type="arabicPeriod"/>
            </a:pPr>
            <a:r>
              <a:rPr lang="en-US" sz="2400" b="0" i="0" dirty="0">
                <a:solidFill>
                  <a:srgbClr val="2B2A29"/>
                </a:solidFill>
                <a:effectLst/>
                <a:latin typeface="montserrat" panose="00000500000000000000" pitchFamily="2" charset="0"/>
              </a:rPr>
              <a:t>Sizing is no longer a problem since we do not need to define its size at the time of declaration. List grows as per the program's demand and limited to the available memory space.</a:t>
            </a:r>
          </a:p>
        </p:txBody>
      </p:sp>
      <p:sp>
        <p:nvSpPr>
          <p:cNvPr id="4" name="Date Placeholder 3">
            <a:extLst>
              <a:ext uri="{FF2B5EF4-FFF2-40B4-BE49-F238E27FC236}">
                <a16:creationId xmlns:a16="http://schemas.microsoft.com/office/drawing/2014/main" id="{2B8B6DCB-1C46-58FB-B500-C814ABC18218}"/>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BC34F1CA-C579-0630-319E-8D2C6BE5029E}"/>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E0DCB6A2-CF96-AC4F-DC7D-B4379726B8AB}"/>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834835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6E52C-6E41-D720-2915-E434E1153A23}"/>
              </a:ext>
            </a:extLst>
          </p:cNvPr>
          <p:cNvSpPr>
            <a:spLocks noGrp="1"/>
          </p:cNvSpPr>
          <p:nvPr>
            <p:ph type="title"/>
          </p:nvPr>
        </p:nvSpPr>
        <p:spPr>
          <a:xfrm>
            <a:off x="581193" y="729658"/>
            <a:ext cx="11029616" cy="988332"/>
          </a:xfrm>
        </p:spPr>
        <p:txBody>
          <a:bodyPr anchor="b">
            <a:normAutofit/>
          </a:bodyPr>
          <a:lstStyle/>
          <a:p>
            <a:r>
              <a:rPr lang="en-US" b="1" dirty="0"/>
              <a:t>Simple variable memory representation</a:t>
            </a:r>
            <a:endParaRPr lang="en-PK" b="1" dirty="0"/>
          </a:p>
        </p:txBody>
      </p:sp>
      <p:sp>
        <p:nvSpPr>
          <p:cNvPr id="3" name="Content Placeholder 2">
            <a:extLst>
              <a:ext uri="{FF2B5EF4-FFF2-40B4-BE49-F238E27FC236}">
                <a16:creationId xmlns:a16="http://schemas.microsoft.com/office/drawing/2014/main" id="{215904E3-6ADC-E99B-55AD-1F376E710480}"/>
              </a:ext>
            </a:extLst>
          </p:cNvPr>
          <p:cNvSpPr>
            <a:spLocks noGrp="1"/>
          </p:cNvSpPr>
          <p:nvPr>
            <p:ph sz="half" idx="1"/>
          </p:nvPr>
        </p:nvSpPr>
        <p:spPr>
          <a:xfrm>
            <a:off x="581193" y="2228003"/>
            <a:ext cx="5422390" cy="3633047"/>
          </a:xfrm>
        </p:spPr>
        <p:txBody>
          <a:bodyPr anchor="ctr">
            <a:normAutofit/>
          </a:bodyPr>
          <a:lstStyle/>
          <a:p>
            <a:pPr algn="just"/>
            <a:r>
              <a:rPr lang="en-US" b="0" i="0" dirty="0">
                <a:effectLst/>
              </a:rPr>
              <a:t>Computer memory is the storage your program uses when it is running. </a:t>
            </a:r>
          </a:p>
          <a:p>
            <a:pPr algn="just"/>
            <a:r>
              <a:rPr lang="en-US" b="0" i="0" dirty="0">
                <a:effectLst/>
              </a:rPr>
              <a:t>This is where your variables, arrays and linked lists are stored.</a:t>
            </a:r>
          </a:p>
          <a:p>
            <a:pPr algn="just"/>
            <a:r>
              <a:rPr lang="en-US" b="0" i="0" dirty="0">
                <a:effectLst/>
              </a:rPr>
              <a:t>The image fig 1.1 shows how the variable </a:t>
            </a:r>
            <a:r>
              <a:rPr lang="en-US" b="0" i="0" dirty="0" err="1">
                <a:effectLst/>
              </a:rPr>
              <a:t>myNumber</a:t>
            </a:r>
            <a:r>
              <a:rPr lang="en-US" b="0" i="0" dirty="0">
                <a:effectLst/>
              </a:rPr>
              <a:t> = 17 is stored in memory.</a:t>
            </a:r>
            <a:endParaRPr lang="en-PK" dirty="0"/>
          </a:p>
        </p:txBody>
      </p:sp>
      <p:pic>
        <p:nvPicPr>
          <p:cNvPr id="1026" name="Picture 2" descr="A variable stored in memory">
            <a:extLst>
              <a:ext uri="{FF2B5EF4-FFF2-40B4-BE49-F238E27FC236}">
                <a16:creationId xmlns:a16="http://schemas.microsoft.com/office/drawing/2014/main" id="{A29A934D-31BF-B844-B4BC-D12E699E932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28776" y="2228003"/>
            <a:ext cx="4141673" cy="3633047"/>
          </a:xfrm>
          <a:prstGeom prst="rect">
            <a:avLst/>
          </a:prstGeom>
          <a:solidFill>
            <a:srgbClr val="FFFFFF"/>
          </a:solidFill>
        </p:spPr>
      </p:pic>
      <p:sp>
        <p:nvSpPr>
          <p:cNvPr id="4" name="Date Placeholder 3">
            <a:extLst>
              <a:ext uri="{FF2B5EF4-FFF2-40B4-BE49-F238E27FC236}">
                <a16:creationId xmlns:a16="http://schemas.microsoft.com/office/drawing/2014/main" id="{FB297BAB-D627-779E-2588-B4D8C55161F5}"/>
              </a:ext>
            </a:extLst>
          </p:cNvPr>
          <p:cNvSpPr>
            <a:spLocks noGrp="1"/>
          </p:cNvSpPr>
          <p:nvPr>
            <p:ph type="dt" sz="half" idx="10"/>
          </p:nvPr>
        </p:nvSpPr>
        <p:spPr>
          <a:xfrm>
            <a:off x="7605951" y="5956137"/>
            <a:ext cx="2844799" cy="365125"/>
          </a:xfrm>
        </p:spPr>
        <p:txBody>
          <a:bodyPr anchor="ctr">
            <a:normAutofit/>
          </a:bodyPr>
          <a:lstStyle/>
          <a:p>
            <a:pPr>
              <a:spcAft>
                <a:spcPts val="600"/>
              </a:spcAft>
            </a:pPr>
            <a:fld id="{E99B68EB-34CE-40AD-9008-FF96287658FF}" type="datetime1">
              <a:rPr lang="en-US" smtClean="0"/>
              <a:pPr>
                <a:spcAft>
                  <a:spcPts val="600"/>
                </a:spcAft>
              </a:pPr>
              <a:t>7/21/2025</a:t>
            </a:fld>
            <a:endParaRPr lang="en-US"/>
          </a:p>
        </p:txBody>
      </p:sp>
      <p:sp>
        <p:nvSpPr>
          <p:cNvPr id="5" name="Footer Placeholder 4">
            <a:extLst>
              <a:ext uri="{FF2B5EF4-FFF2-40B4-BE49-F238E27FC236}">
                <a16:creationId xmlns:a16="http://schemas.microsoft.com/office/drawing/2014/main" id="{40322C7F-2993-8212-AFD9-8E6672BBD39F}"/>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6" name="Slide Number Placeholder 5">
            <a:extLst>
              <a:ext uri="{FF2B5EF4-FFF2-40B4-BE49-F238E27FC236}">
                <a16:creationId xmlns:a16="http://schemas.microsoft.com/office/drawing/2014/main" id="{6D3697D2-B9FD-9B94-3BD2-AB6FC5B3032A}"/>
              </a:ext>
            </a:extLst>
          </p:cNvPr>
          <p:cNvSpPr>
            <a:spLocks noGrp="1"/>
          </p:cNvSpPr>
          <p:nvPr>
            <p:ph type="sldNum" sz="quarter" idx="12"/>
          </p:nvPr>
        </p:nvSpPr>
        <p:spPr>
          <a:xfrm>
            <a:off x="10558300" y="5956137"/>
            <a:ext cx="1052510" cy="365125"/>
          </a:xfrm>
        </p:spPr>
        <p:txBody>
          <a:bodyPr anchor="ctr">
            <a:normAutofit/>
          </a:bodyPr>
          <a:lstStyle/>
          <a:p>
            <a:pPr>
              <a:spcAft>
                <a:spcPts val="600"/>
              </a:spcAft>
            </a:pPr>
            <a:fld id="{D57F1E4F-1CFF-5643-939E-217C01CDF565}" type="slidenum">
              <a:rPr lang="en-US" smtClean="0"/>
              <a:pPr>
                <a:spcAft>
                  <a:spcPts val="600"/>
                </a:spcAft>
              </a:pPr>
              <a:t>7</a:t>
            </a:fld>
            <a:endParaRPr lang="en-US"/>
          </a:p>
        </p:txBody>
      </p:sp>
    </p:spTree>
    <p:extLst>
      <p:ext uri="{BB962C8B-B14F-4D97-AF65-F5344CB8AC3E}">
        <p14:creationId xmlns:p14="http://schemas.microsoft.com/office/powerpoint/2010/main" val="1681602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EE3DBBB9-1E11-7D38-A344-4E36C4BFB228}"/>
              </a:ext>
            </a:extLst>
          </p:cNvPr>
          <p:cNvSpPr>
            <a:spLocks noGrp="1"/>
          </p:cNvSpPr>
          <p:nvPr>
            <p:ph type="title"/>
          </p:nvPr>
        </p:nvSpPr>
        <p:spPr>
          <a:xfrm>
            <a:off x="581193" y="729658"/>
            <a:ext cx="11029616" cy="988332"/>
          </a:xfrm>
        </p:spPr>
        <p:txBody>
          <a:bodyPr/>
          <a:lstStyle/>
          <a:p>
            <a:r>
              <a:rPr lang="en-US" b="1" dirty="0"/>
              <a:t>Array memory representation</a:t>
            </a:r>
          </a:p>
        </p:txBody>
      </p:sp>
      <p:pic>
        <p:nvPicPr>
          <p:cNvPr id="2050" name="Picture 2" descr="An array stored in memory">
            <a:extLst>
              <a:ext uri="{FF2B5EF4-FFF2-40B4-BE49-F238E27FC236}">
                <a16:creationId xmlns:a16="http://schemas.microsoft.com/office/drawing/2014/main" id="{1E2F4F66-8D76-E6D6-F207-BBC1B3B9B2B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7875" y="2228002"/>
            <a:ext cx="4709505" cy="3633047"/>
          </a:xfrm>
          <a:prstGeom prst="rect">
            <a:avLst/>
          </a:prstGeom>
          <a:solidFill>
            <a:srgbClr val="FFFFFF"/>
          </a:solidFill>
        </p:spPr>
      </p:pic>
      <p:sp>
        <p:nvSpPr>
          <p:cNvPr id="14" name="Content Placeholder 2">
            <a:extLst>
              <a:ext uri="{FF2B5EF4-FFF2-40B4-BE49-F238E27FC236}">
                <a16:creationId xmlns:a16="http://schemas.microsoft.com/office/drawing/2014/main" id="{B2BDFE20-3DE4-C8F6-4A26-68711381D0A5}"/>
              </a:ext>
            </a:extLst>
          </p:cNvPr>
          <p:cNvSpPr>
            <a:spLocks noGrp="1"/>
          </p:cNvSpPr>
          <p:nvPr>
            <p:ph sz="half" idx="2"/>
          </p:nvPr>
        </p:nvSpPr>
        <p:spPr>
          <a:xfrm>
            <a:off x="5354320" y="2228003"/>
            <a:ext cx="6256489" cy="3633047"/>
          </a:xfrm>
        </p:spPr>
        <p:txBody>
          <a:bodyPr anchor="ctr">
            <a:normAutofit/>
          </a:bodyPr>
          <a:lstStyle/>
          <a:p>
            <a:pPr algn="just"/>
            <a:r>
              <a:rPr lang="en-US" sz="2400" b="0" i="0" dirty="0">
                <a:effectLst/>
              </a:rPr>
              <a:t>The image below shows how an array of integers </a:t>
            </a:r>
            <a:r>
              <a:rPr lang="en-US" sz="2400" b="0" i="0" dirty="0" err="1">
                <a:effectLst/>
              </a:rPr>
              <a:t>myArray</a:t>
            </a:r>
            <a:r>
              <a:rPr lang="en-US" sz="2400" b="0" i="0" dirty="0">
                <a:effectLst/>
              </a:rPr>
              <a:t> = [3,5,13,2] is stored in memory. </a:t>
            </a:r>
          </a:p>
          <a:p>
            <a:pPr algn="just"/>
            <a:r>
              <a:rPr lang="en-US" sz="2400" b="0" i="0" dirty="0">
                <a:effectLst/>
              </a:rPr>
              <a:t>We use a simple kind of memory here with two bytes for each integer, like in the previous example, just to get the idea.</a:t>
            </a:r>
            <a:endParaRPr lang="en-US" sz="2400" dirty="0"/>
          </a:p>
        </p:txBody>
      </p:sp>
      <p:sp>
        <p:nvSpPr>
          <p:cNvPr id="5" name="Date Placeholder 4">
            <a:extLst>
              <a:ext uri="{FF2B5EF4-FFF2-40B4-BE49-F238E27FC236}">
                <a16:creationId xmlns:a16="http://schemas.microsoft.com/office/drawing/2014/main" id="{94A3BDD7-4650-98C2-BBFD-71C153571C11}"/>
              </a:ext>
            </a:extLst>
          </p:cNvPr>
          <p:cNvSpPr>
            <a:spLocks noGrp="1"/>
          </p:cNvSpPr>
          <p:nvPr>
            <p:ph type="dt" sz="half" idx="10"/>
          </p:nvPr>
        </p:nvSpPr>
        <p:spPr>
          <a:xfrm>
            <a:off x="7605951" y="5956137"/>
            <a:ext cx="2844799" cy="365125"/>
          </a:xfrm>
        </p:spPr>
        <p:txBody>
          <a:bodyPr anchor="ctr">
            <a:normAutofit/>
          </a:bodyPr>
          <a:lstStyle/>
          <a:p>
            <a:pPr>
              <a:spcAft>
                <a:spcPts val="600"/>
              </a:spcAft>
            </a:pPr>
            <a:fld id="{BDC39587-D505-4A64-AD18-B47176D30259}" type="datetime1">
              <a:rPr lang="en-US" smtClean="0"/>
              <a:pPr>
                <a:spcAft>
                  <a:spcPts val="600"/>
                </a:spcAft>
              </a:pPr>
              <a:t>7/21/2025</a:t>
            </a:fld>
            <a:endParaRPr lang="en-US"/>
          </a:p>
        </p:txBody>
      </p:sp>
      <p:sp>
        <p:nvSpPr>
          <p:cNvPr id="6" name="Footer Placeholder 5">
            <a:extLst>
              <a:ext uri="{FF2B5EF4-FFF2-40B4-BE49-F238E27FC236}">
                <a16:creationId xmlns:a16="http://schemas.microsoft.com/office/drawing/2014/main" id="{BDD32953-67C7-2E82-105E-88102D737EDC}"/>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7" name="Slide Number Placeholder 6">
            <a:extLst>
              <a:ext uri="{FF2B5EF4-FFF2-40B4-BE49-F238E27FC236}">
                <a16:creationId xmlns:a16="http://schemas.microsoft.com/office/drawing/2014/main" id="{6B9FFC3C-FDA3-6B77-4DF0-C889704DCC25}"/>
              </a:ext>
            </a:extLst>
          </p:cNvPr>
          <p:cNvSpPr>
            <a:spLocks noGrp="1"/>
          </p:cNvSpPr>
          <p:nvPr>
            <p:ph type="sldNum" sz="quarter" idx="12"/>
          </p:nvPr>
        </p:nvSpPr>
        <p:spPr>
          <a:xfrm>
            <a:off x="10558300" y="5956137"/>
            <a:ext cx="1052508" cy="365125"/>
          </a:xfrm>
        </p:spPr>
        <p:txBody>
          <a:bodyPr anchor="ctr">
            <a:normAutofit/>
          </a:bodyPr>
          <a:lstStyle/>
          <a:p>
            <a:pPr>
              <a:spcAft>
                <a:spcPts val="600"/>
              </a:spcAft>
            </a:pPr>
            <a:fld id="{D57F1E4F-1CFF-5643-939E-217C01CDF565}" type="slidenum">
              <a:rPr lang="en-US" smtClean="0"/>
              <a:pPr>
                <a:spcAft>
                  <a:spcPts val="600"/>
                </a:spcAft>
              </a:pPr>
              <a:t>8</a:t>
            </a:fld>
            <a:endParaRPr lang="en-US"/>
          </a:p>
        </p:txBody>
      </p:sp>
    </p:spTree>
    <p:extLst>
      <p:ext uri="{BB962C8B-B14F-4D97-AF65-F5344CB8AC3E}">
        <p14:creationId xmlns:p14="http://schemas.microsoft.com/office/powerpoint/2010/main" val="2098857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2AFF8-B689-3B89-F030-938D3EB7747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27146497-742E-D874-E968-A1B30735AD7D}"/>
              </a:ext>
            </a:extLst>
          </p:cNvPr>
          <p:cNvSpPr>
            <a:spLocks noGrp="1"/>
          </p:cNvSpPr>
          <p:nvPr>
            <p:ph type="title"/>
          </p:nvPr>
        </p:nvSpPr>
        <p:spPr>
          <a:xfrm>
            <a:off x="581192" y="702156"/>
            <a:ext cx="11029616" cy="1013800"/>
          </a:xfrm>
        </p:spPr>
        <p:txBody>
          <a:bodyPr/>
          <a:lstStyle/>
          <a:p>
            <a:r>
              <a:rPr lang="en-US" b="1" dirty="0"/>
              <a:t>Array memory representation</a:t>
            </a:r>
            <a:endParaRPr lang="en-US" dirty="0"/>
          </a:p>
        </p:txBody>
      </p:sp>
      <p:sp>
        <p:nvSpPr>
          <p:cNvPr id="14" name="Content Placeholder 2">
            <a:extLst>
              <a:ext uri="{FF2B5EF4-FFF2-40B4-BE49-F238E27FC236}">
                <a16:creationId xmlns:a16="http://schemas.microsoft.com/office/drawing/2014/main" id="{8E9CE497-186B-D5C0-46C9-22AEF1DE2D61}"/>
              </a:ext>
            </a:extLst>
          </p:cNvPr>
          <p:cNvSpPr>
            <a:spLocks noGrp="1"/>
          </p:cNvSpPr>
          <p:nvPr>
            <p:ph idx="1"/>
          </p:nvPr>
        </p:nvSpPr>
        <p:spPr>
          <a:xfrm>
            <a:off x="581192" y="2180496"/>
            <a:ext cx="11133287" cy="3678303"/>
          </a:xfrm>
        </p:spPr>
        <p:txBody>
          <a:bodyPr/>
          <a:lstStyle/>
          <a:p>
            <a:pPr algn="l"/>
            <a:r>
              <a:rPr lang="en-US" b="0" i="0" dirty="0">
                <a:solidFill>
                  <a:srgbClr val="000000"/>
                </a:solidFill>
                <a:effectLst/>
                <a:latin typeface="Verdana" panose="020B0604030504040204" pitchFamily="34" charset="0"/>
              </a:rPr>
              <a:t>When removing or inserting elements in an array, every element that comes after must be either shifted up to make place for the new element, or shifted down to take the removed element's place. </a:t>
            </a:r>
          </a:p>
          <a:p>
            <a:pPr algn="l"/>
            <a:r>
              <a:rPr lang="en-US" b="0" i="0" dirty="0">
                <a:solidFill>
                  <a:srgbClr val="000000"/>
                </a:solidFill>
                <a:effectLst/>
                <a:latin typeface="Verdana" panose="020B0604030504040204" pitchFamily="34" charset="0"/>
              </a:rPr>
              <a:t>Such shifting operations are time consuming and can cause problems in real-time systems for example.</a:t>
            </a:r>
          </a:p>
          <a:p>
            <a:pPr algn="l"/>
            <a:r>
              <a:rPr lang="en-US" b="0" i="0" dirty="0">
                <a:solidFill>
                  <a:srgbClr val="000000"/>
                </a:solidFill>
                <a:effectLst/>
                <a:latin typeface="Verdana" panose="020B0604030504040204" pitchFamily="34" charset="0"/>
              </a:rPr>
              <a:t>The image below shows how elements are shifted when an array element is removed.</a:t>
            </a:r>
          </a:p>
          <a:p>
            <a:endParaRPr lang="en-US" dirty="0"/>
          </a:p>
        </p:txBody>
      </p:sp>
      <p:sp>
        <p:nvSpPr>
          <p:cNvPr id="5" name="Date Placeholder 4">
            <a:extLst>
              <a:ext uri="{FF2B5EF4-FFF2-40B4-BE49-F238E27FC236}">
                <a16:creationId xmlns:a16="http://schemas.microsoft.com/office/drawing/2014/main" id="{530C6556-98A7-3E1E-5290-976EABE87E49}"/>
              </a:ext>
            </a:extLst>
          </p:cNvPr>
          <p:cNvSpPr>
            <a:spLocks noGrp="1"/>
          </p:cNvSpPr>
          <p:nvPr>
            <p:ph type="dt" sz="half" idx="10"/>
          </p:nvPr>
        </p:nvSpPr>
        <p:spPr>
          <a:xfrm>
            <a:off x="7605951" y="5956137"/>
            <a:ext cx="2844799" cy="365125"/>
          </a:xfrm>
        </p:spPr>
        <p:txBody>
          <a:bodyPr anchor="ctr">
            <a:normAutofit/>
          </a:bodyPr>
          <a:lstStyle/>
          <a:p>
            <a:pPr>
              <a:spcAft>
                <a:spcPts val="600"/>
              </a:spcAft>
            </a:pPr>
            <a:fld id="{BDC39587-D505-4A64-AD18-B47176D30259}" type="datetime1">
              <a:rPr lang="en-US" smtClean="0"/>
              <a:pPr>
                <a:spcAft>
                  <a:spcPts val="600"/>
                </a:spcAft>
              </a:pPr>
              <a:t>7/21/2025</a:t>
            </a:fld>
            <a:endParaRPr lang="en-US"/>
          </a:p>
        </p:txBody>
      </p:sp>
      <p:sp>
        <p:nvSpPr>
          <p:cNvPr id="6" name="Footer Placeholder 5">
            <a:extLst>
              <a:ext uri="{FF2B5EF4-FFF2-40B4-BE49-F238E27FC236}">
                <a16:creationId xmlns:a16="http://schemas.microsoft.com/office/drawing/2014/main" id="{B36993C7-5F5D-31F3-4605-B8271BD9DE7E}"/>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7" name="Slide Number Placeholder 6">
            <a:extLst>
              <a:ext uri="{FF2B5EF4-FFF2-40B4-BE49-F238E27FC236}">
                <a16:creationId xmlns:a16="http://schemas.microsoft.com/office/drawing/2014/main" id="{502A7B9C-0852-3B80-85E0-B88C851B090E}"/>
              </a:ext>
            </a:extLst>
          </p:cNvPr>
          <p:cNvSpPr>
            <a:spLocks noGrp="1"/>
          </p:cNvSpPr>
          <p:nvPr>
            <p:ph type="sldNum" sz="quarter" idx="12"/>
          </p:nvPr>
        </p:nvSpPr>
        <p:spPr>
          <a:xfrm>
            <a:off x="10558300" y="5956137"/>
            <a:ext cx="1052508" cy="365125"/>
          </a:xfrm>
        </p:spPr>
        <p:txBody>
          <a:bodyPr anchor="ctr">
            <a:normAutofit/>
          </a:bodyPr>
          <a:lstStyle/>
          <a:p>
            <a:pPr>
              <a:spcAft>
                <a:spcPts val="600"/>
              </a:spcAft>
            </a:pPr>
            <a:fld id="{D57F1E4F-1CFF-5643-939E-217C01CDF565}" type="slidenum">
              <a:rPr lang="en-US" smtClean="0"/>
              <a:pPr>
                <a:spcAft>
                  <a:spcPts val="600"/>
                </a:spcAft>
              </a:pPr>
              <a:t>9</a:t>
            </a:fld>
            <a:endParaRPr lang="en-US"/>
          </a:p>
        </p:txBody>
      </p:sp>
      <p:pic>
        <p:nvPicPr>
          <p:cNvPr id="3074" name="Picture 2" descr="Removing an element from an array">
            <a:extLst>
              <a:ext uri="{FF2B5EF4-FFF2-40B4-BE49-F238E27FC236}">
                <a16:creationId xmlns:a16="http://schemas.microsoft.com/office/drawing/2014/main" id="{D449C3D5-2321-A87A-B356-111DF1053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9393" y="4923428"/>
            <a:ext cx="6954042" cy="1589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775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45B75-AB58-1035-F492-5F2FC438DAC6}"/>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E10195AA-5ABA-C496-24CC-61E6A8FD6FE4}"/>
              </a:ext>
            </a:extLst>
          </p:cNvPr>
          <p:cNvSpPr>
            <a:spLocks noGrp="1"/>
          </p:cNvSpPr>
          <p:nvPr>
            <p:ph type="title"/>
          </p:nvPr>
        </p:nvSpPr>
        <p:spPr>
          <a:xfrm>
            <a:off x="581192" y="702156"/>
            <a:ext cx="11029616" cy="1013800"/>
          </a:xfrm>
        </p:spPr>
        <p:txBody>
          <a:bodyPr/>
          <a:lstStyle/>
          <a:p>
            <a:r>
              <a:rPr lang="en-US" dirty="0"/>
              <a:t>Linked list in memory</a:t>
            </a:r>
          </a:p>
        </p:txBody>
      </p:sp>
      <p:sp>
        <p:nvSpPr>
          <p:cNvPr id="14" name="Content Placeholder 2">
            <a:extLst>
              <a:ext uri="{FF2B5EF4-FFF2-40B4-BE49-F238E27FC236}">
                <a16:creationId xmlns:a16="http://schemas.microsoft.com/office/drawing/2014/main" id="{474CC32A-793F-4F12-2555-23E4C94D99D8}"/>
              </a:ext>
            </a:extLst>
          </p:cNvPr>
          <p:cNvSpPr>
            <a:spLocks noGrp="1"/>
          </p:cNvSpPr>
          <p:nvPr>
            <p:ph idx="1"/>
          </p:nvPr>
        </p:nvSpPr>
        <p:spPr>
          <a:xfrm>
            <a:off x="581192" y="2180496"/>
            <a:ext cx="11029615" cy="3678303"/>
          </a:xfrm>
        </p:spPr>
        <p:txBody>
          <a:bodyPr/>
          <a:lstStyle/>
          <a:p>
            <a:pPr algn="just"/>
            <a:r>
              <a:rPr lang="en-US" b="0" i="0" dirty="0">
                <a:solidFill>
                  <a:srgbClr val="000000"/>
                </a:solidFill>
                <a:effectLst/>
                <a:latin typeface="Verdana" panose="020B0604030504040204" pitchFamily="34" charset="0"/>
              </a:rPr>
              <a:t>Instead of storing a collection of data as an array, we can create a linked list.</a:t>
            </a:r>
          </a:p>
          <a:p>
            <a:pPr algn="just"/>
            <a:r>
              <a:rPr lang="en-US" b="0" i="0" dirty="0">
                <a:solidFill>
                  <a:srgbClr val="000000"/>
                </a:solidFill>
                <a:effectLst/>
                <a:latin typeface="Verdana" panose="020B0604030504040204" pitchFamily="34" charset="0"/>
              </a:rPr>
              <a:t>Linked lists are used in many scenarios, </a:t>
            </a:r>
          </a:p>
          <a:p>
            <a:pPr lvl="1" algn="just"/>
            <a:r>
              <a:rPr lang="en-US" b="0" i="0" dirty="0">
                <a:solidFill>
                  <a:srgbClr val="000000"/>
                </a:solidFill>
                <a:effectLst/>
                <a:latin typeface="Verdana" panose="020B0604030504040204" pitchFamily="34" charset="0"/>
              </a:rPr>
              <a:t>like dynamic data storage, </a:t>
            </a:r>
          </a:p>
          <a:p>
            <a:pPr lvl="1" algn="just"/>
            <a:r>
              <a:rPr lang="en-US" b="0" i="0" dirty="0">
                <a:solidFill>
                  <a:srgbClr val="000000"/>
                </a:solidFill>
                <a:effectLst/>
                <a:latin typeface="Verdana" panose="020B0604030504040204" pitchFamily="34" charset="0"/>
              </a:rPr>
              <a:t>stack </a:t>
            </a:r>
            <a:r>
              <a:rPr lang="en-US" dirty="0">
                <a:solidFill>
                  <a:srgbClr val="000000"/>
                </a:solidFill>
                <a:latin typeface="Verdana" panose="020B0604030504040204" pitchFamily="34" charset="0"/>
              </a:rPr>
              <a:t>and </a:t>
            </a:r>
            <a:r>
              <a:rPr lang="en-US" b="0" i="0" dirty="0">
                <a:solidFill>
                  <a:srgbClr val="000000"/>
                </a:solidFill>
                <a:effectLst/>
                <a:latin typeface="Verdana" panose="020B0604030504040204" pitchFamily="34" charset="0"/>
              </a:rPr>
              <a:t>queue implementation or graph representation, to mention some of them. </a:t>
            </a:r>
          </a:p>
          <a:p>
            <a:pPr algn="just"/>
            <a:r>
              <a:rPr lang="en-US" b="0" i="0" dirty="0">
                <a:solidFill>
                  <a:srgbClr val="000000"/>
                </a:solidFill>
                <a:effectLst/>
                <a:latin typeface="Verdana" panose="020B0604030504040204" pitchFamily="34" charset="0"/>
              </a:rPr>
              <a:t>A big benefit with using linked lists is that nodes are stored wherever there is free space in memory, the nodes do not have to be stored contiguously right after each other like elements are stored in arrays. </a:t>
            </a:r>
          </a:p>
          <a:p>
            <a:pPr algn="just"/>
            <a:r>
              <a:rPr lang="en-US" b="0" i="0" dirty="0">
                <a:solidFill>
                  <a:srgbClr val="000000"/>
                </a:solidFill>
                <a:effectLst/>
                <a:latin typeface="Verdana" panose="020B0604030504040204" pitchFamily="34" charset="0"/>
              </a:rPr>
              <a:t>Another nice thing with linked lists is that when adding or removing nodes, the rest of the nodes in the list do not have to be shifted.</a:t>
            </a:r>
            <a:endParaRPr lang="en-US" dirty="0"/>
          </a:p>
        </p:txBody>
      </p:sp>
      <p:sp>
        <p:nvSpPr>
          <p:cNvPr id="5" name="Date Placeholder 4">
            <a:extLst>
              <a:ext uri="{FF2B5EF4-FFF2-40B4-BE49-F238E27FC236}">
                <a16:creationId xmlns:a16="http://schemas.microsoft.com/office/drawing/2014/main" id="{356F9A14-990A-1B00-492D-7B26D775BD0E}"/>
              </a:ext>
            </a:extLst>
          </p:cNvPr>
          <p:cNvSpPr>
            <a:spLocks noGrp="1"/>
          </p:cNvSpPr>
          <p:nvPr>
            <p:ph type="dt" sz="half" idx="10"/>
          </p:nvPr>
        </p:nvSpPr>
        <p:spPr>
          <a:xfrm>
            <a:off x="7605951" y="5956137"/>
            <a:ext cx="2844799" cy="365125"/>
          </a:xfrm>
        </p:spPr>
        <p:txBody>
          <a:bodyPr anchor="ctr">
            <a:normAutofit/>
          </a:bodyPr>
          <a:lstStyle/>
          <a:p>
            <a:pPr>
              <a:spcAft>
                <a:spcPts val="600"/>
              </a:spcAft>
            </a:pPr>
            <a:fld id="{BDC39587-D505-4A64-AD18-B47176D30259}" type="datetime1">
              <a:rPr lang="en-US" smtClean="0"/>
              <a:pPr>
                <a:spcAft>
                  <a:spcPts val="600"/>
                </a:spcAft>
              </a:pPr>
              <a:t>7/21/2025</a:t>
            </a:fld>
            <a:endParaRPr lang="en-US"/>
          </a:p>
        </p:txBody>
      </p:sp>
      <p:sp>
        <p:nvSpPr>
          <p:cNvPr id="6" name="Footer Placeholder 5">
            <a:extLst>
              <a:ext uri="{FF2B5EF4-FFF2-40B4-BE49-F238E27FC236}">
                <a16:creationId xmlns:a16="http://schemas.microsoft.com/office/drawing/2014/main" id="{EDC10422-A78E-4D57-7688-03141954B9ED}"/>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7" name="Slide Number Placeholder 6">
            <a:extLst>
              <a:ext uri="{FF2B5EF4-FFF2-40B4-BE49-F238E27FC236}">
                <a16:creationId xmlns:a16="http://schemas.microsoft.com/office/drawing/2014/main" id="{B6CEC060-41E1-8492-9BB2-CEE9D91118B3}"/>
              </a:ext>
            </a:extLst>
          </p:cNvPr>
          <p:cNvSpPr>
            <a:spLocks noGrp="1"/>
          </p:cNvSpPr>
          <p:nvPr>
            <p:ph type="sldNum" sz="quarter" idx="12"/>
          </p:nvPr>
        </p:nvSpPr>
        <p:spPr>
          <a:xfrm>
            <a:off x="10558300" y="5956137"/>
            <a:ext cx="1052508" cy="365125"/>
          </a:xfrm>
        </p:spPr>
        <p:txBody>
          <a:bodyPr anchor="ctr">
            <a:normAutofit/>
          </a:bodyPr>
          <a:lstStyle/>
          <a:p>
            <a:pPr>
              <a:spcAft>
                <a:spcPts val="600"/>
              </a:spcAft>
            </a:pPr>
            <a:fld id="{D57F1E4F-1CFF-5643-939E-217C01CDF565}" type="slidenum">
              <a:rPr lang="en-US" smtClean="0"/>
              <a:pPr>
                <a:spcAft>
                  <a:spcPts val="600"/>
                </a:spcAft>
              </a:pPr>
              <a:t>10</a:t>
            </a:fld>
            <a:endParaRPr lang="en-US"/>
          </a:p>
        </p:txBody>
      </p:sp>
    </p:spTree>
    <p:extLst>
      <p:ext uri="{BB962C8B-B14F-4D97-AF65-F5344CB8AC3E}">
        <p14:creationId xmlns:p14="http://schemas.microsoft.com/office/powerpoint/2010/main" val="1243376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DEEB7-82B7-757F-9938-2CD9B297B962}"/>
            </a:ext>
          </a:extLst>
        </p:cNvPr>
        <p:cNvGrpSpPr/>
        <p:nvPr/>
      </p:nvGrpSpPr>
      <p:grpSpPr>
        <a:xfrm>
          <a:off x="0" y="0"/>
          <a:ext cx="0" cy="0"/>
          <a:chOff x="0" y="0"/>
          <a:chExt cx="0" cy="0"/>
        </a:xfrm>
      </p:grpSpPr>
      <p:pic>
        <p:nvPicPr>
          <p:cNvPr id="2050" name="Picture 2" descr="Types of Linked List in Data Structures: A Complete Overview">
            <a:extLst>
              <a:ext uri="{FF2B5EF4-FFF2-40B4-BE49-F238E27FC236}">
                <a16:creationId xmlns:a16="http://schemas.microsoft.com/office/drawing/2014/main" id="{505E20F4-64C2-F41D-2D8A-CE339F2DB9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75"/>
          <a:stretch/>
        </p:blipFill>
        <p:spPr bwMode="auto">
          <a:xfrm>
            <a:off x="120650" y="790924"/>
            <a:ext cx="11950700" cy="5828603"/>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hidden="1">
            <a:extLst>
              <a:ext uri="{FF2B5EF4-FFF2-40B4-BE49-F238E27FC236}">
                <a16:creationId xmlns:a16="http://schemas.microsoft.com/office/drawing/2014/main" id="{847624C5-46B0-4DCA-58C9-F747B3BA072B}"/>
              </a:ext>
            </a:extLst>
          </p:cNvPr>
          <p:cNvSpPr>
            <a:spLocks noGrp="1"/>
          </p:cNvSpPr>
          <p:nvPr>
            <p:ph type="dt" sz="half" idx="10"/>
          </p:nvPr>
        </p:nvSpPr>
        <p:spPr>
          <a:xfrm>
            <a:off x="7605951" y="5956137"/>
            <a:ext cx="2844799" cy="365125"/>
          </a:xfrm>
        </p:spPr>
        <p:txBody>
          <a:bodyPr anchor="ctr">
            <a:normAutofit/>
          </a:bodyPr>
          <a:lstStyle/>
          <a:p>
            <a:pPr>
              <a:spcAft>
                <a:spcPts val="600"/>
              </a:spcAft>
            </a:pPr>
            <a:fld id="{E99B68EB-34CE-40AD-9008-FF96287658FF}" type="datetime1">
              <a:rPr lang="en-US" smtClean="0"/>
              <a:pPr>
                <a:spcAft>
                  <a:spcPts val="600"/>
                </a:spcAft>
              </a:pPr>
              <a:t>7/21/2025</a:t>
            </a:fld>
            <a:endParaRPr lang="en-US"/>
          </a:p>
        </p:txBody>
      </p:sp>
      <p:sp>
        <p:nvSpPr>
          <p:cNvPr id="5" name="Footer Placeholder 4">
            <a:extLst>
              <a:ext uri="{FF2B5EF4-FFF2-40B4-BE49-F238E27FC236}">
                <a16:creationId xmlns:a16="http://schemas.microsoft.com/office/drawing/2014/main" id="{BC1B61C6-CB60-D2FE-9B79-34B84D51CF53}"/>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6" name="Slide Number Placeholder 5" hidden="1">
            <a:extLst>
              <a:ext uri="{FF2B5EF4-FFF2-40B4-BE49-F238E27FC236}">
                <a16:creationId xmlns:a16="http://schemas.microsoft.com/office/drawing/2014/main" id="{92885F1D-D69B-73BD-9BB6-E86ADC85A700}"/>
              </a:ext>
            </a:extLst>
          </p:cNvPr>
          <p:cNvSpPr>
            <a:spLocks noGrp="1"/>
          </p:cNvSpPr>
          <p:nvPr>
            <p:ph type="sldNum" sz="quarter" idx="12"/>
          </p:nvPr>
        </p:nvSpPr>
        <p:spPr>
          <a:xfrm>
            <a:off x="10558300" y="5956137"/>
            <a:ext cx="1052510" cy="365125"/>
          </a:xfrm>
        </p:spPr>
        <p:txBody>
          <a:bodyPr anchor="ctr">
            <a:normAutofit/>
          </a:bodyPr>
          <a:lstStyle/>
          <a:p>
            <a:pPr>
              <a:spcAft>
                <a:spcPts val="600"/>
              </a:spcAft>
            </a:pPr>
            <a:fld id="{D57F1E4F-1CFF-5643-939E-217C01CDF565}" type="slidenum">
              <a:rPr lang="en-US" smtClean="0"/>
              <a:pPr>
                <a:spcAft>
                  <a:spcPts val="600"/>
                </a:spcAft>
              </a:pPr>
              <a:t>11</a:t>
            </a:fld>
            <a:endParaRPr lang="en-US"/>
          </a:p>
        </p:txBody>
      </p:sp>
    </p:spTree>
    <p:extLst>
      <p:ext uri="{BB962C8B-B14F-4D97-AF65-F5344CB8AC3E}">
        <p14:creationId xmlns:p14="http://schemas.microsoft.com/office/powerpoint/2010/main" val="497963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45360-BB05-273B-1699-7FA162D37CA5}"/>
              </a:ext>
            </a:extLst>
          </p:cNvPr>
          <p:cNvSpPr>
            <a:spLocks noGrp="1"/>
          </p:cNvSpPr>
          <p:nvPr>
            <p:ph type="title"/>
          </p:nvPr>
        </p:nvSpPr>
        <p:spPr/>
        <p:txBody>
          <a:bodyPr/>
          <a:lstStyle/>
          <a:p>
            <a:r>
              <a:rPr lang="en-US" dirty="0"/>
              <a:t>Singly linked list</a:t>
            </a:r>
            <a:endParaRPr lang="en-PK" dirty="0"/>
          </a:p>
        </p:txBody>
      </p:sp>
      <p:sp>
        <p:nvSpPr>
          <p:cNvPr id="3" name="Content Placeholder 2">
            <a:extLst>
              <a:ext uri="{FF2B5EF4-FFF2-40B4-BE49-F238E27FC236}">
                <a16:creationId xmlns:a16="http://schemas.microsoft.com/office/drawing/2014/main" id="{0D8D03F9-31AA-0F3F-F1FB-5E717D9B04EB}"/>
              </a:ext>
            </a:extLst>
          </p:cNvPr>
          <p:cNvSpPr>
            <a:spLocks noGrp="1"/>
          </p:cNvSpPr>
          <p:nvPr>
            <p:ph idx="1"/>
          </p:nvPr>
        </p:nvSpPr>
        <p:spPr>
          <a:xfrm>
            <a:off x="581192" y="2180497"/>
            <a:ext cx="11029615" cy="1802224"/>
          </a:xfrm>
        </p:spPr>
        <p:txBody>
          <a:bodyPr/>
          <a:lstStyle/>
          <a:p>
            <a:r>
              <a:rPr lang="en-US" b="0" i="0" dirty="0">
                <a:solidFill>
                  <a:srgbClr val="000000"/>
                </a:solidFill>
                <a:effectLst/>
                <a:latin typeface="Verdana" panose="020B0604030504040204" pitchFamily="34" charset="0"/>
              </a:rPr>
              <a:t>A </a:t>
            </a:r>
            <a:r>
              <a:rPr lang="en-US" b="1" i="0" dirty="0">
                <a:solidFill>
                  <a:srgbClr val="000000"/>
                </a:solidFill>
                <a:effectLst/>
                <a:latin typeface="Verdana" panose="020B0604030504040204" pitchFamily="34" charset="0"/>
              </a:rPr>
              <a:t>singly linked list</a:t>
            </a:r>
            <a:r>
              <a:rPr lang="en-US" b="0" i="0" dirty="0">
                <a:solidFill>
                  <a:srgbClr val="000000"/>
                </a:solidFill>
                <a:effectLst/>
                <a:latin typeface="Verdana" panose="020B0604030504040204" pitchFamily="34" charset="0"/>
              </a:rPr>
              <a:t> is the simplest kind of linked lists. It takes up less space in memory because each node has only one address to the next node, like in the image below.</a:t>
            </a:r>
            <a:endParaRPr lang="en-PK" dirty="0"/>
          </a:p>
        </p:txBody>
      </p:sp>
      <p:sp>
        <p:nvSpPr>
          <p:cNvPr id="4" name="Date Placeholder 3">
            <a:extLst>
              <a:ext uri="{FF2B5EF4-FFF2-40B4-BE49-F238E27FC236}">
                <a16:creationId xmlns:a16="http://schemas.microsoft.com/office/drawing/2014/main" id="{F60A979F-A5DC-FE50-7FC3-D23BFFFB71D8}"/>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9A712224-2713-DD1E-7996-289300B36C5C}"/>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A2579466-183B-30C8-2531-DBB18A605DE0}"/>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4102" name="Picture 6" descr="DS Linked List">
            <a:extLst>
              <a:ext uri="{FF2B5EF4-FFF2-40B4-BE49-F238E27FC236}">
                <a16:creationId xmlns:a16="http://schemas.microsoft.com/office/drawing/2014/main" id="{DE730DFB-715A-7878-42D5-A02CEC7D6D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7450" y="3841115"/>
            <a:ext cx="6972300"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381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51BA-A94B-5EF8-C137-CB88EB0F4DC0}"/>
              </a:ext>
            </a:extLst>
          </p:cNvPr>
          <p:cNvSpPr>
            <a:spLocks noGrp="1"/>
          </p:cNvSpPr>
          <p:nvPr>
            <p:ph type="title"/>
          </p:nvPr>
        </p:nvSpPr>
        <p:spPr/>
        <p:txBody>
          <a:bodyPr/>
          <a:lstStyle/>
          <a:p>
            <a:r>
              <a:rPr lang="en-US" dirty="0"/>
              <a:t>Singly linked list operations</a:t>
            </a:r>
            <a:endParaRPr lang="en-PK" dirty="0"/>
          </a:p>
        </p:txBody>
      </p:sp>
      <p:sp>
        <p:nvSpPr>
          <p:cNvPr id="3" name="Content Placeholder 2">
            <a:extLst>
              <a:ext uri="{FF2B5EF4-FFF2-40B4-BE49-F238E27FC236}">
                <a16:creationId xmlns:a16="http://schemas.microsoft.com/office/drawing/2014/main" id="{DD2735EF-4A26-CE20-F98A-246C21376CD5}"/>
              </a:ext>
            </a:extLst>
          </p:cNvPr>
          <p:cNvSpPr>
            <a:spLocks noGrp="1"/>
          </p:cNvSpPr>
          <p:nvPr>
            <p:ph idx="1"/>
          </p:nvPr>
        </p:nvSpPr>
        <p:spPr/>
        <p:txBody>
          <a:bodyPr/>
          <a:lstStyle/>
          <a:p>
            <a:r>
              <a:rPr lang="en-US" dirty="0"/>
              <a:t>Look Up</a:t>
            </a:r>
          </a:p>
          <a:p>
            <a:pPr lvl="1"/>
            <a:r>
              <a:rPr lang="en-US" dirty="0"/>
              <a:t>By Value O(n)</a:t>
            </a:r>
          </a:p>
          <a:p>
            <a:pPr lvl="1"/>
            <a:r>
              <a:rPr lang="en-US" dirty="0"/>
              <a:t>By Index O(n)</a:t>
            </a:r>
          </a:p>
          <a:p>
            <a:r>
              <a:rPr lang="en-US" dirty="0"/>
              <a:t>Insertion</a:t>
            </a:r>
          </a:p>
          <a:p>
            <a:pPr lvl="1"/>
            <a:r>
              <a:rPr lang="en-US" dirty="0"/>
              <a:t>At the end O(1)</a:t>
            </a:r>
          </a:p>
          <a:p>
            <a:pPr lvl="1"/>
            <a:r>
              <a:rPr lang="en-US" dirty="0"/>
              <a:t>At the beginning O(1)</a:t>
            </a:r>
          </a:p>
          <a:p>
            <a:pPr lvl="1"/>
            <a:r>
              <a:rPr lang="en-US" dirty="0"/>
              <a:t>At the Middle O(n)</a:t>
            </a:r>
            <a:endParaRPr lang="en-PK" dirty="0"/>
          </a:p>
        </p:txBody>
      </p:sp>
      <p:sp>
        <p:nvSpPr>
          <p:cNvPr id="4" name="Date Placeholder 3">
            <a:extLst>
              <a:ext uri="{FF2B5EF4-FFF2-40B4-BE49-F238E27FC236}">
                <a16:creationId xmlns:a16="http://schemas.microsoft.com/office/drawing/2014/main" id="{325138C9-DA2E-6DC3-72F1-76EBDBCEB204}"/>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5EC46BEB-8A7F-2821-C896-D75A6608BC14}"/>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F977D028-A9A8-7470-D58F-C9FF6848F5DC}"/>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370670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00AB-FB9D-D873-725A-FBE4266D111A}"/>
              </a:ext>
            </a:extLst>
          </p:cNvPr>
          <p:cNvSpPr>
            <a:spLocks noGrp="1"/>
          </p:cNvSpPr>
          <p:nvPr>
            <p:ph type="title"/>
          </p:nvPr>
        </p:nvSpPr>
        <p:spPr/>
        <p:txBody>
          <a:bodyPr/>
          <a:lstStyle/>
          <a:p>
            <a:r>
              <a:rPr lang="en-US" dirty="0"/>
              <a:t>Insertion into the beginning of the list</a:t>
            </a:r>
            <a:endParaRPr lang="en-PK" dirty="0"/>
          </a:p>
        </p:txBody>
      </p:sp>
      <p:sp>
        <p:nvSpPr>
          <p:cNvPr id="4" name="Date Placeholder 3">
            <a:extLst>
              <a:ext uri="{FF2B5EF4-FFF2-40B4-BE49-F238E27FC236}">
                <a16:creationId xmlns:a16="http://schemas.microsoft.com/office/drawing/2014/main" id="{C6DF89C2-A950-AA86-91BF-DFB8425D6B6C}"/>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6979184F-7083-CE7B-4DE9-686B92381D37}"/>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5795B730-BD11-9861-D666-D6C54838DDF7}"/>
              </a:ext>
            </a:extLst>
          </p:cNvPr>
          <p:cNvSpPr>
            <a:spLocks noGrp="1"/>
          </p:cNvSpPr>
          <p:nvPr>
            <p:ph type="sldNum" sz="quarter" idx="12"/>
          </p:nvPr>
        </p:nvSpPr>
        <p:spPr/>
        <p:txBody>
          <a:bodyPr/>
          <a:lstStyle/>
          <a:p>
            <a:fld id="{D57F1E4F-1CFF-5643-939E-217C01CDF565}" type="slidenum">
              <a:rPr lang="en-US" smtClean="0"/>
              <a:pPr/>
              <a:t>14</a:t>
            </a:fld>
            <a:endParaRPr lang="en-US" dirty="0"/>
          </a:p>
        </p:txBody>
      </p:sp>
      <p:grpSp>
        <p:nvGrpSpPr>
          <p:cNvPr id="9" name="Group 8">
            <a:extLst>
              <a:ext uri="{FF2B5EF4-FFF2-40B4-BE49-F238E27FC236}">
                <a16:creationId xmlns:a16="http://schemas.microsoft.com/office/drawing/2014/main" id="{97E7DFC6-7F10-2115-888D-6C7F4FD86E10}"/>
              </a:ext>
            </a:extLst>
          </p:cNvPr>
          <p:cNvGrpSpPr/>
          <p:nvPr/>
        </p:nvGrpSpPr>
        <p:grpSpPr>
          <a:xfrm>
            <a:off x="3188429" y="2864451"/>
            <a:ext cx="1464851" cy="365125"/>
            <a:chOff x="1493520" y="2702560"/>
            <a:chExt cx="2426168" cy="579120"/>
          </a:xfrm>
        </p:grpSpPr>
        <p:sp>
          <p:nvSpPr>
            <p:cNvPr id="7" name="Rectangle 6">
              <a:extLst>
                <a:ext uri="{FF2B5EF4-FFF2-40B4-BE49-F238E27FC236}">
                  <a16:creationId xmlns:a16="http://schemas.microsoft.com/office/drawing/2014/main" id="{B70ECBAF-6F90-E227-F8D4-EA8D432D927C}"/>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8" name="Rectangle 7">
              <a:extLst>
                <a:ext uri="{FF2B5EF4-FFF2-40B4-BE49-F238E27FC236}">
                  <a16:creationId xmlns:a16="http://schemas.microsoft.com/office/drawing/2014/main" id="{F5807688-FE6F-3FE0-138D-C375778C06B5}"/>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0" name="Group 9">
            <a:extLst>
              <a:ext uri="{FF2B5EF4-FFF2-40B4-BE49-F238E27FC236}">
                <a16:creationId xmlns:a16="http://schemas.microsoft.com/office/drawing/2014/main" id="{8C9BAD87-2DD5-B00B-2BBA-0A52051FE139}"/>
              </a:ext>
            </a:extLst>
          </p:cNvPr>
          <p:cNvGrpSpPr/>
          <p:nvPr/>
        </p:nvGrpSpPr>
        <p:grpSpPr>
          <a:xfrm>
            <a:off x="5159469" y="2864450"/>
            <a:ext cx="1464851" cy="365125"/>
            <a:chOff x="1493520" y="2702560"/>
            <a:chExt cx="2426168" cy="579120"/>
          </a:xfrm>
        </p:grpSpPr>
        <p:sp>
          <p:nvSpPr>
            <p:cNvPr id="11" name="Rectangle 10">
              <a:extLst>
                <a:ext uri="{FF2B5EF4-FFF2-40B4-BE49-F238E27FC236}">
                  <a16:creationId xmlns:a16="http://schemas.microsoft.com/office/drawing/2014/main" id="{D01275F9-618A-F266-EA30-CEE7F3316068}"/>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2" name="Rectangle 11">
              <a:extLst>
                <a:ext uri="{FF2B5EF4-FFF2-40B4-BE49-F238E27FC236}">
                  <a16:creationId xmlns:a16="http://schemas.microsoft.com/office/drawing/2014/main" id="{F6337727-B993-D7B8-1508-64E10F49D0D5}"/>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3" name="Group 12">
            <a:extLst>
              <a:ext uri="{FF2B5EF4-FFF2-40B4-BE49-F238E27FC236}">
                <a16:creationId xmlns:a16="http://schemas.microsoft.com/office/drawing/2014/main" id="{2F123379-6D1D-A6D4-6111-41AB8246EDD8}"/>
              </a:ext>
            </a:extLst>
          </p:cNvPr>
          <p:cNvGrpSpPr/>
          <p:nvPr/>
        </p:nvGrpSpPr>
        <p:grpSpPr>
          <a:xfrm>
            <a:off x="7257433" y="2864450"/>
            <a:ext cx="1464851" cy="365125"/>
            <a:chOff x="1493520" y="2702560"/>
            <a:chExt cx="2426168" cy="579120"/>
          </a:xfrm>
        </p:grpSpPr>
        <p:sp>
          <p:nvSpPr>
            <p:cNvPr id="14" name="Rectangle 13">
              <a:extLst>
                <a:ext uri="{FF2B5EF4-FFF2-40B4-BE49-F238E27FC236}">
                  <a16:creationId xmlns:a16="http://schemas.microsoft.com/office/drawing/2014/main" id="{536E3D72-E281-BF5F-4421-A665F6CF3DA5}"/>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85C359D5-BD66-38F1-5163-3CE4DFBB469A}"/>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cxnSp>
        <p:nvCxnSpPr>
          <p:cNvPr id="20" name="Straight Arrow Connector 19">
            <a:extLst>
              <a:ext uri="{FF2B5EF4-FFF2-40B4-BE49-F238E27FC236}">
                <a16:creationId xmlns:a16="http://schemas.microsoft.com/office/drawing/2014/main" id="{3E3E5DD9-BAA1-A0E5-3C8D-D860DE705001}"/>
              </a:ext>
            </a:extLst>
          </p:cNvPr>
          <p:cNvCxnSpPr>
            <a:stCxn id="8" idx="3"/>
            <a:endCxn id="11" idx="1"/>
          </p:cNvCxnSpPr>
          <p:nvPr/>
        </p:nvCxnSpPr>
        <p:spPr>
          <a:xfrm flipV="1">
            <a:off x="4653280" y="3047013"/>
            <a:ext cx="50618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2C9DA66-F09F-8E4A-A6FC-D7CC644A1C6C}"/>
              </a:ext>
            </a:extLst>
          </p:cNvPr>
          <p:cNvCxnSpPr>
            <a:stCxn id="12" idx="3"/>
            <a:endCxn id="14" idx="1"/>
          </p:cNvCxnSpPr>
          <p:nvPr/>
        </p:nvCxnSpPr>
        <p:spPr>
          <a:xfrm>
            <a:off x="6624320" y="3047013"/>
            <a:ext cx="633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6049FDF-2CF9-817A-56BF-BBD6CC49FA7B}"/>
              </a:ext>
            </a:extLst>
          </p:cNvPr>
          <p:cNvSpPr/>
          <p:nvPr/>
        </p:nvSpPr>
        <p:spPr>
          <a:xfrm>
            <a:off x="1981200" y="4413035"/>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Head</a:t>
            </a:r>
            <a:endParaRPr lang="en-PK" dirty="0"/>
          </a:p>
        </p:txBody>
      </p:sp>
      <p:cxnSp>
        <p:nvCxnSpPr>
          <p:cNvPr id="25" name="Connector: Elbow 24">
            <a:extLst>
              <a:ext uri="{FF2B5EF4-FFF2-40B4-BE49-F238E27FC236}">
                <a16:creationId xmlns:a16="http://schemas.microsoft.com/office/drawing/2014/main" id="{F88D04E5-FB7E-0107-5FA3-19A3A79FD55C}"/>
              </a:ext>
            </a:extLst>
          </p:cNvPr>
          <p:cNvCxnSpPr>
            <a:stCxn id="23" idx="0"/>
            <a:endCxn id="7" idx="1"/>
          </p:cNvCxnSpPr>
          <p:nvPr/>
        </p:nvCxnSpPr>
        <p:spPr>
          <a:xfrm rot="5400000" flipH="1" flipV="1">
            <a:off x="2084300" y="3308907"/>
            <a:ext cx="1366021" cy="8422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5CFC948-BEB4-80D6-BB50-6A1E89DC9104}"/>
              </a:ext>
            </a:extLst>
          </p:cNvPr>
          <p:cNvSpPr/>
          <p:nvPr/>
        </p:nvSpPr>
        <p:spPr>
          <a:xfrm>
            <a:off x="9479280" y="4184832"/>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Tail</a:t>
            </a:r>
            <a:endParaRPr lang="en-PK" dirty="0"/>
          </a:p>
        </p:txBody>
      </p:sp>
      <p:cxnSp>
        <p:nvCxnSpPr>
          <p:cNvPr id="32" name="Connector: Elbow 31">
            <a:extLst>
              <a:ext uri="{FF2B5EF4-FFF2-40B4-BE49-F238E27FC236}">
                <a16:creationId xmlns:a16="http://schemas.microsoft.com/office/drawing/2014/main" id="{CDC0959E-8675-678E-A2A3-602D789A96B9}"/>
              </a:ext>
            </a:extLst>
          </p:cNvPr>
          <p:cNvCxnSpPr>
            <a:stCxn id="15" idx="3"/>
            <a:endCxn id="30" idx="0"/>
          </p:cNvCxnSpPr>
          <p:nvPr/>
        </p:nvCxnSpPr>
        <p:spPr>
          <a:xfrm>
            <a:off x="8722284" y="3047013"/>
            <a:ext cx="1121988" cy="11378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620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32706-7D4F-8479-49B8-8B2AF6184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0A305-219D-1A91-A607-C872FACFD0BE}"/>
              </a:ext>
            </a:extLst>
          </p:cNvPr>
          <p:cNvSpPr>
            <a:spLocks noGrp="1"/>
          </p:cNvSpPr>
          <p:nvPr>
            <p:ph type="title"/>
          </p:nvPr>
        </p:nvSpPr>
        <p:spPr/>
        <p:txBody>
          <a:bodyPr/>
          <a:lstStyle/>
          <a:p>
            <a:r>
              <a:rPr lang="en-US" dirty="0"/>
              <a:t>Insertion into the beginning of the list</a:t>
            </a:r>
            <a:endParaRPr lang="en-PK" dirty="0"/>
          </a:p>
        </p:txBody>
      </p:sp>
      <p:sp>
        <p:nvSpPr>
          <p:cNvPr id="4" name="Date Placeholder 3">
            <a:extLst>
              <a:ext uri="{FF2B5EF4-FFF2-40B4-BE49-F238E27FC236}">
                <a16:creationId xmlns:a16="http://schemas.microsoft.com/office/drawing/2014/main" id="{4E14BA7D-92CF-17A5-9889-98F802ECAE12}"/>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7152EFBB-180F-F70C-33FB-D970B0BECC00}"/>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7329A06A-D314-C016-CCB4-69F256C1D751}"/>
              </a:ext>
            </a:extLst>
          </p:cNvPr>
          <p:cNvSpPr>
            <a:spLocks noGrp="1"/>
          </p:cNvSpPr>
          <p:nvPr>
            <p:ph type="sldNum" sz="quarter" idx="12"/>
          </p:nvPr>
        </p:nvSpPr>
        <p:spPr/>
        <p:txBody>
          <a:bodyPr/>
          <a:lstStyle/>
          <a:p>
            <a:fld id="{D57F1E4F-1CFF-5643-939E-217C01CDF565}" type="slidenum">
              <a:rPr lang="en-US" smtClean="0"/>
              <a:pPr/>
              <a:t>15</a:t>
            </a:fld>
            <a:endParaRPr lang="en-US" dirty="0"/>
          </a:p>
        </p:txBody>
      </p:sp>
      <p:grpSp>
        <p:nvGrpSpPr>
          <p:cNvPr id="9" name="Group 8">
            <a:extLst>
              <a:ext uri="{FF2B5EF4-FFF2-40B4-BE49-F238E27FC236}">
                <a16:creationId xmlns:a16="http://schemas.microsoft.com/office/drawing/2014/main" id="{A77A20E5-42C1-461E-9363-6C2D40DE5A2B}"/>
              </a:ext>
            </a:extLst>
          </p:cNvPr>
          <p:cNvGrpSpPr/>
          <p:nvPr/>
        </p:nvGrpSpPr>
        <p:grpSpPr>
          <a:xfrm>
            <a:off x="3188429" y="2864451"/>
            <a:ext cx="1464851" cy="365125"/>
            <a:chOff x="1493520" y="2702560"/>
            <a:chExt cx="2426168" cy="579120"/>
          </a:xfrm>
        </p:grpSpPr>
        <p:sp>
          <p:nvSpPr>
            <p:cNvPr id="7" name="Rectangle 6">
              <a:extLst>
                <a:ext uri="{FF2B5EF4-FFF2-40B4-BE49-F238E27FC236}">
                  <a16:creationId xmlns:a16="http://schemas.microsoft.com/office/drawing/2014/main" id="{4E2F5F3B-A69E-9264-0B7C-6AE2BA26FC9B}"/>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8" name="Rectangle 7">
              <a:extLst>
                <a:ext uri="{FF2B5EF4-FFF2-40B4-BE49-F238E27FC236}">
                  <a16:creationId xmlns:a16="http://schemas.microsoft.com/office/drawing/2014/main" id="{22B657FF-B83F-0E5C-AA33-F37AACB1740A}"/>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0" name="Group 9">
            <a:extLst>
              <a:ext uri="{FF2B5EF4-FFF2-40B4-BE49-F238E27FC236}">
                <a16:creationId xmlns:a16="http://schemas.microsoft.com/office/drawing/2014/main" id="{53425584-B62C-5667-1C3D-8C1BB111DBCA}"/>
              </a:ext>
            </a:extLst>
          </p:cNvPr>
          <p:cNvGrpSpPr/>
          <p:nvPr/>
        </p:nvGrpSpPr>
        <p:grpSpPr>
          <a:xfrm>
            <a:off x="5159469" y="2864450"/>
            <a:ext cx="1464851" cy="365125"/>
            <a:chOff x="1493520" y="2702560"/>
            <a:chExt cx="2426168" cy="579120"/>
          </a:xfrm>
        </p:grpSpPr>
        <p:sp>
          <p:nvSpPr>
            <p:cNvPr id="11" name="Rectangle 10">
              <a:extLst>
                <a:ext uri="{FF2B5EF4-FFF2-40B4-BE49-F238E27FC236}">
                  <a16:creationId xmlns:a16="http://schemas.microsoft.com/office/drawing/2014/main" id="{68901A1A-AC5A-E7B7-B706-387095E5642C}"/>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2" name="Rectangle 11">
              <a:extLst>
                <a:ext uri="{FF2B5EF4-FFF2-40B4-BE49-F238E27FC236}">
                  <a16:creationId xmlns:a16="http://schemas.microsoft.com/office/drawing/2014/main" id="{16C01533-CFE6-B06F-8C65-7222F618CC52}"/>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3" name="Group 12">
            <a:extLst>
              <a:ext uri="{FF2B5EF4-FFF2-40B4-BE49-F238E27FC236}">
                <a16:creationId xmlns:a16="http://schemas.microsoft.com/office/drawing/2014/main" id="{B109F7C8-0B90-035C-1316-9FE217E1D31C}"/>
              </a:ext>
            </a:extLst>
          </p:cNvPr>
          <p:cNvGrpSpPr/>
          <p:nvPr/>
        </p:nvGrpSpPr>
        <p:grpSpPr>
          <a:xfrm>
            <a:off x="7257433" y="2864450"/>
            <a:ext cx="1464851" cy="365125"/>
            <a:chOff x="1493520" y="2702560"/>
            <a:chExt cx="2426168" cy="579120"/>
          </a:xfrm>
        </p:grpSpPr>
        <p:sp>
          <p:nvSpPr>
            <p:cNvPr id="14" name="Rectangle 13">
              <a:extLst>
                <a:ext uri="{FF2B5EF4-FFF2-40B4-BE49-F238E27FC236}">
                  <a16:creationId xmlns:a16="http://schemas.microsoft.com/office/drawing/2014/main" id="{D6C827D1-7987-4560-69EF-828704D54FA9}"/>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426815A2-2675-C838-B6B7-8821137F74D3}"/>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cxnSp>
        <p:nvCxnSpPr>
          <p:cNvPr id="20" name="Straight Arrow Connector 19">
            <a:extLst>
              <a:ext uri="{FF2B5EF4-FFF2-40B4-BE49-F238E27FC236}">
                <a16:creationId xmlns:a16="http://schemas.microsoft.com/office/drawing/2014/main" id="{5D030AE1-CF6A-D4FD-6679-41F6993FEA00}"/>
              </a:ext>
            </a:extLst>
          </p:cNvPr>
          <p:cNvCxnSpPr>
            <a:stCxn id="8" idx="3"/>
            <a:endCxn id="11" idx="1"/>
          </p:cNvCxnSpPr>
          <p:nvPr/>
        </p:nvCxnSpPr>
        <p:spPr>
          <a:xfrm flipV="1">
            <a:off x="4653280" y="3047013"/>
            <a:ext cx="50618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2121487-00E5-2418-508A-453D98520FA1}"/>
              </a:ext>
            </a:extLst>
          </p:cNvPr>
          <p:cNvCxnSpPr>
            <a:stCxn id="12" idx="3"/>
            <a:endCxn id="14" idx="1"/>
          </p:cNvCxnSpPr>
          <p:nvPr/>
        </p:nvCxnSpPr>
        <p:spPr>
          <a:xfrm>
            <a:off x="6624320" y="3047013"/>
            <a:ext cx="633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BFCFE0B-1696-801B-3994-BBE5680AD1BE}"/>
              </a:ext>
            </a:extLst>
          </p:cNvPr>
          <p:cNvSpPr/>
          <p:nvPr/>
        </p:nvSpPr>
        <p:spPr>
          <a:xfrm>
            <a:off x="1981200" y="4413035"/>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Head</a:t>
            </a:r>
            <a:endParaRPr lang="en-PK" dirty="0"/>
          </a:p>
        </p:txBody>
      </p:sp>
      <p:cxnSp>
        <p:nvCxnSpPr>
          <p:cNvPr id="25" name="Connector: Elbow 24">
            <a:extLst>
              <a:ext uri="{FF2B5EF4-FFF2-40B4-BE49-F238E27FC236}">
                <a16:creationId xmlns:a16="http://schemas.microsoft.com/office/drawing/2014/main" id="{F7C6A0D3-F4B0-184E-0495-B2AC7BEF2EFD}"/>
              </a:ext>
            </a:extLst>
          </p:cNvPr>
          <p:cNvCxnSpPr>
            <a:stCxn id="23" idx="0"/>
            <a:endCxn id="7" idx="1"/>
          </p:cNvCxnSpPr>
          <p:nvPr/>
        </p:nvCxnSpPr>
        <p:spPr>
          <a:xfrm rot="5400000" flipH="1" flipV="1">
            <a:off x="2084300" y="3308907"/>
            <a:ext cx="1366021" cy="8422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5AA98028-88B3-76C0-708F-11EF04E11347}"/>
              </a:ext>
            </a:extLst>
          </p:cNvPr>
          <p:cNvSpPr/>
          <p:nvPr/>
        </p:nvSpPr>
        <p:spPr>
          <a:xfrm>
            <a:off x="9479280" y="4184832"/>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Tail</a:t>
            </a:r>
            <a:endParaRPr lang="en-PK" dirty="0"/>
          </a:p>
        </p:txBody>
      </p:sp>
      <p:cxnSp>
        <p:nvCxnSpPr>
          <p:cNvPr id="32" name="Connector: Elbow 31">
            <a:extLst>
              <a:ext uri="{FF2B5EF4-FFF2-40B4-BE49-F238E27FC236}">
                <a16:creationId xmlns:a16="http://schemas.microsoft.com/office/drawing/2014/main" id="{A10710A8-4642-D68D-B43F-5825FC8D52A3}"/>
              </a:ext>
            </a:extLst>
          </p:cNvPr>
          <p:cNvCxnSpPr>
            <a:stCxn id="15" idx="3"/>
            <a:endCxn id="30" idx="0"/>
          </p:cNvCxnSpPr>
          <p:nvPr/>
        </p:nvCxnSpPr>
        <p:spPr>
          <a:xfrm>
            <a:off x="8722284" y="3047013"/>
            <a:ext cx="1121988" cy="11378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AED5053-FD3A-A7F8-D56F-6EAE127C4D55}"/>
              </a:ext>
            </a:extLst>
          </p:cNvPr>
          <p:cNvGrpSpPr/>
          <p:nvPr/>
        </p:nvGrpSpPr>
        <p:grpSpPr>
          <a:xfrm>
            <a:off x="5085907" y="4414780"/>
            <a:ext cx="1464851" cy="871594"/>
            <a:chOff x="5362806" y="4573747"/>
            <a:chExt cx="1464851" cy="871594"/>
          </a:xfrm>
        </p:grpSpPr>
        <p:grpSp>
          <p:nvGrpSpPr>
            <p:cNvPr id="33" name="Group 32">
              <a:extLst>
                <a:ext uri="{FF2B5EF4-FFF2-40B4-BE49-F238E27FC236}">
                  <a16:creationId xmlns:a16="http://schemas.microsoft.com/office/drawing/2014/main" id="{D6827718-406A-0E10-A849-A084C7C8D7E1}"/>
                </a:ext>
              </a:extLst>
            </p:cNvPr>
            <p:cNvGrpSpPr/>
            <p:nvPr/>
          </p:nvGrpSpPr>
          <p:grpSpPr>
            <a:xfrm>
              <a:off x="5362806" y="4573747"/>
              <a:ext cx="1464851" cy="365125"/>
              <a:chOff x="1493520" y="2702560"/>
              <a:chExt cx="2426168" cy="579120"/>
            </a:xfrm>
          </p:grpSpPr>
          <p:sp>
            <p:nvSpPr>
              <p:cNvPr id="34" name="Rectangle 33">
                <a:extLst>
                  <a:ext uri="{FF2B5EF4-FFF2-40B4-BE49-F238E27FC236}">
                    <a16:creationId xmlns:a16="http://schemas.microsoft.com/office/drawing/2014/main" id="{07D17A59-5EE7-815A-F81F-87D57A017489}"/>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5" name="Rectangle 34">
                <a:extLst>
                  <a:ext uri="{FF2B5EF4-FFF2-40B4-BE49-F238E27FC236}">
                    <a16:creationId xmlns:a16="http://schemas.microsoft.com/office/drawing/2014/main" id="{076C6F7F-5AE9-F334-6AEF-9F4D10C01F87}"/>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sp>
          <p:nvSpPr>
            <p:cNvPr id="36" name="TextBox 35">
              <a:extLst>
                <a:ext uri="{FF2B5EF4-FFF2-40B4-BE49-F238E27FC236}">
                  <a16:creationId xmlns:a16="http://schemas.microsoft.com/office/drawing/2014/main" id="{B13ED87A-FCA7-2E23-08FB-729ABC2DD0BD}"/>
                </a:ext>
              </a:extLst>
            </p:cNvPr>
            <p:cNvSpPr txBox="1"/>
            <p:nvPr/>
          </p:nvSpPr>
          <p:spPr>
            <a:xfrm>
              <a:off x="5466327" y="5076009"/>
              <a:ext cx="1341778" cy="369332"/>
            </a:xfrm>
            <a:prstGeom prst="rect">
              <a:avLst/>
            </a:prstGeom>
            <a:noFill/>
          </p:spPr>
          <p:txBody>
            <a:bodyPr wrap="none" rtlCol="0">
              <a:spAutoFit/>
            </a:bodyPr>
            <a:lstStyle/>
            <a:p>
              <a:r>
                <a:rPr lang="en-US" b="1" dirty="0">
                  <a:solidFill>
                    <a:srgbClr val="FF0000"/>
                  </a:solidFill>
                </a:rPr>
                <a:t>New Node</a:t>
              </a:r>
              <a:endParaRPr lang="en-PK" b="1" dirty="0">
                <a:solidFill>
                  <a:srgbClr val="FF0000"/>
                </a:solidFill>
              </a:endParaRPr>
            </a:p>
          </p:txBody>
        </p:sp>
      </p:grpSp>
      <p:cxnSp>
        <p:nvCxnSpPr>
          <p:cNvPr id="19" name="Straight Arrow Connector 18">
            <a:extLst>
              <a:ext uri="{FF2B5EF4-FFF2-40B4-BE49-F238E27FC236}">
                <a16:creationId xmlns:a16="http://schemas.microsoft.com/office/drawing/2014/main" id="{9DD3FED1-313A-D30C-E5BB-C153F97F4B38}"/>
              </a:ext>
            </a:extLst>
          </p:cNvPr>
          <p:cNvCxnSpPr>
            <a:stCxn id="23" idx="3"/>
            <a:endCxn id="34" idx="1"/>
          </p:cNvCxnSpPr>
          <p:nvPr/>
        </p:nvCxnSpPr>
        <p:spPr>
          <a:xfrm flipV="1">
            <a:off x="2711184" y="4597343"/>
            <a:ext cx="2374723" cy="43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1CA212B-3976-147D-A47C-AC821A817F16}"/>
              </a:ext>
            </a:extLst>
          </p:cNvPr>
          <p:cNvCxnSpPr>
            <a:stCxn id="34" idx="0"/>
          </p:cNvCxnSpPr>
          <p:nvPr/>
        </p:nvCxnSpPr>
        <p:spPr>
          <a:xfrm flipH="1" flipV="1">
            <a:off x="3918413" y="3229575"/>
            <a:ext cx="1532486" cy="118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1771DF2-9893-F683-8A65-55B8A0A924AF}"/>
              </a:ext>
            </a:extLst>
          </p:cNvPr>
          <p:cNvSpPr txBox="1"/>
          <p:nvPr/>
        </p:nvSpPr>
        <p:spPr>
          <a:xfrm>
            <a:off x="4470400" y="6136640"/>
            <a:ext cx="2652649" cy="369332"/>
          </a:xfrm>
          <a:prstGeom prst="rect">
            <a:avLst/>
          </a:prstGeom>
          <a:noFill/>
        </p:spPr>
        <p:txBody>
          <a:bodyPr wrap="none" rtlCol="0">
            <a:spAutoFit/>
          </a:bodyPr>
          <a:lstStyle/>
          <a:p>
            <a:r>
              <a:rPr lang="en-US" b="1" dirty="0">
                <a:solidFill>
                  <a:schemeClr val="accent1"/>
                </a:solidFill>
              </a:rPr>
              <a:t>Time Complexity O(1)</a:t>
            </a:r>
            <a:endParaRPr lang="en-PK" b="1" dirty="0">
              <a:solidFill>
                <a:schemeClr val="accent1"/>
              </a:solidFill>
            </a:endParaRPr>
          </a:p>
        </p:txBody>
      </p:sp>
    </p:spTree>
    <p:extLst>
      <p:ext uri="{BB962C8B-B14F-4D97-AF65-F5344CB8AC3E}">
        <p14:creationId xmlns:p14="http://schemas.microsoft.com/office/powerpoint/2010/main" val="136914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nodeType="clickEffect">
                                  <p:stCondLst>
                                    <p:cond delay="0"/>
                                  </p:stCondLst>
                                  <p:childTnLst>
                                    <p:anim calcmode="lin" valueType="num">
                                      <p:cBhvr additive="base">
                                        <p:cTn id="22" dur="500"/>
                                        <p:tgtEl>
                                          <p:spTgt spid="25"/>
                                        </p:tgtEl>
                                        <p:attrNameLst>
                                          <p:attrName>ppt_x</p:attrName>
                                        </p:attrNameLst>
                                      </p:cBhvr>
                                      <p:tavLst>
                                        <p:tav tm="0">
                                          <p:val>
                                            <p:strVal val="ppt_x"/>
                                          </p:val>
                                        </p:tav>
                                        <p:tav tm="100000">
                                          <p:val>
                                            <p:strVal val="ppt_x"/>
                                          </p:val>
                                        </p:tav>
                                      </p:tavLst>
                                    </p:anim>
                                    <p:anim calcmode="lin" valueType="num">
                                      <p:cBhvr additive="base">
                                        <p:cTn id="23" dur="500"/>
                                        <p:tgtEl>
                                          <p:spTgt spid="25"/>
                                        </p:tgtEl>
                                        <p:attrNameLst>
                                          <p:attrName>ppt_y</p:attrName>
                                        </p:attrNameLst>
                                      </p:cBhvr>
                                      <p:tavLst>
                                        <p:tav tm="0">
                                          <p:val>
                                            <p:strVal val="ppt_y"/>
                                          </p:val>
                                        </p:tav>
                                        <p:tav tm="100000">
                                          <p:val>
                                            <p:strVal val="1+ppt_h/2"/>
                                          </p:val>
                                        </p:tav>
                                      </p:tavLst>
                                    </p:anim>
                                    <p:set>
                                      <p:cBhvr>
                                        <p:cTn id="24" dur="1" fill="hold">
                                          <p:stCondLst>
                                            <p:cond delay="499"/>
                                          </p:stCondLst>
                                        </p:cTn>
                                        <p:tgtEl>
                                          <p:spTgt spid="2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800" decel="100000"/>
                                        <p:tgtEl>
                                          <p:spTgt spid="26"/>
                                        </p:tgtEl>
                                      </p:cBhvr>
                                    </p:animEffect>
                                    <p:anim calcmode="lin" valueType="num">
                                      <p:cBhvr>
                                        <p:cTn id="30" dur="800" decel="100000" fill="hold"/>
                                        <p:tgtEl>
                                          <p:spTgt spid="26"/>
                                        </p:tgtEl>
                                        <p:attrNameLst>
                                          <p:attrName>style.rotation</p:attrName>
                                        </p:attrNameLst>
                                      </p:cBhvr>
                                      <p:tavLst>
                                        <p:tav tm="0">
                                          <p:val>
                                            <p:fltVal val="-90"/>
                                          </p:val>
                                        </p:tav>
                                        <p:tav tm="100000">
                                          <p:val>
                                            <p:fltVal val="0"/>
                                          </p:val>
                                        </p:tav>
                                      </p:tavLst>
                                    </p:anim>
                                    <p:anim calcmode="lin" valueType="num">
                                      <p:cBhvr>
                                        <p:cTn id="31" dur="800" decel="100000" fill="hold"/>
                                        <p:tgtEl>
                                          <p:spTgt spid="26"/>
                                        </p:tgtEl>
                                        <p:attrNameLst>
                                          <p:attrName>ppt_x</p:attrName>
                                        </p:attrNameLst>
                                      </p:cBhvr>
                                      <p:tavLst>
                                        <p:tav tm="0">
                                          <p:val>
                                            <p:strVal val="#ppt_x+0.4"/>
                                          </p:val>
                                        </p:tav>
                                        <p:tav tm="100000">
                                          <p:val>
                                            <p:strVal val="#ppt_x-0.05"/>
                                          </p:val>
                                        </p:tav>
                                      </p:tavLst>
                                    </p:anim>
                                    <p:anim calcmode="lin" valueType="num">
                                      <p:cBhvr>
                                        <p:cTn id="32" dur="800" decel="100000" fill="hold"/>
                                        <p:tgtEl>
                                          <p:spTgt spid="26"/>
                                        </p:tgtEl>
                                        <p:attrNameLst>
                                          <p:attrName>ppt_y</p:attrName>
                                        </p:attrNameLst>
                                      </p:cBhvr>
                                      <p:tavLst>
                                        <p:tav tm="0">
                                          <p:val>
                                            <p:strVal val="#ppt_y-0.4"/>
                                          </p:val>
                                        </p:tav>
                                        <p:tav tm="100000">
                                          <p:val>
                                            <p:strVal val="#ppt_y+0.1"/>
                                          </p:val>
                                        </p:tav>
                                      </p:tavLst>
                                    </p:anim>
                                    <p:anim calcmode="lin" valueType="num">
                                      <p:cBhvr>
                                        <p:cTn id="33" dur="200" accel="100000" fill="hold">
                                          <p:stCondLst>
                                            <p:cond delay="800"/>
                                          </p:stCondLst>
                                        </p:cTn>
                                        <p:tgtEl>
                                          <p:spTgt spid="26"/>
                                        </p:tgtEl>
                                        <p:attrNameLst>
                                          <p:attrName>ppt_x</p:attrName>
                                        </p:attrNameLst>
                                      </p:cBhvr>
                                      <p:tavLst>
                                        <p:tav tm="0">
                                          <p:val>
                                            <p:strVal val="#ppt_x-0.05"/>
                                          </p:val>
                                        </p:tav>
                                        <p:tav tm="100000">
                                          <p:val>
                                            <p:strVal val="#ppt_x"/>
                                          </p:val>
                                        </p:tav>
                                      </p:tavLst>
                                    </p:anim>
                                    <p:anim calcmode="lin" valueType="num">
                                      <p:cBhvr>
                                        <p:cTn id="34" dur="200" accel="100000" fill="hold">
                                          <p:stCondLst>
                                            <p:cond delay="800"/>
                                          </p:stCondLst>
                                        </p:cTn>
                                        <p:tgtEl>
                                          <p:spTgt spid="2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72A90-534A-EDEB-C042-2CDED4878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B52A8-BA29-C34C-7738-44AC397C38CE}"/>
              </a:ext>
            </a:extLst>
          </p:cNvPr>
          <p:cNvSpPr>
            <a:spLocks noGrp="1"/>
          </p:cNvSpPr>
          <p:nvPr>
            <p:ph type="title"/>
          </p:nvPr>
        </p:nvSpPr>
        <p:spPr/>
        <p:txBody>
          <a:bodyPr/>
          <a:lstStyle/>
          <a:p>
            <a:r>
              <a:rPr lang="en-US" dirty="0"/>
              <a:t>inserting at the end of the list</a:t>
            </a:r>
            <a:endParaRPr lang="en-PK" dirty="0"/>
          </a:p>
        </p:txBody>
      </p:sp>
      <p:sp>
        <p:nvSpPr>
          <p:cNvPr id="4" name="Date Placeholder 3">
            <a:extLst>
              <a:ext uri="{FF2B5EF4-FFF2-40B4-BE49-F238E27FC236}">
                <a16:creationId xmlns:a16="http://schemas.microsoft.com/office/drawing/2014/main" id="{62576789-C807-713A-0F66-CCAF58BD9872}"/>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CB7D8B5C-703C-3F06-9437-4FC35159F993}"/>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0A111A42-ACA1-C540-2FD6-7B8B048114AB}"/>
              </a:ext>
            </a:extLst>
          </p:cNvPr>
          <p:cNvSpPr>
            <a:spLocks noGrp="1"/>
          </p:cNvSpPr>
          <p:nvPr>
            <p:ph type="sldNum" sz="quarter" idx="12"/>
          </p:nvPr>
        </p:nvSpPr>
        <p:spPr/>
        <p:txBody>
          <a:bodyPr/>
          <a:lstStyle/>
          <a:p>
            <a:fld id="{D57F1E4F-1CFF-5643-939E-217C01CDF565}" type="slidenum">
              <a:rPr lang="en-US" smtClean="0"/>
              <a:pPr/>
              <a:t>16</a:t>
            </a:fld>
            <a:endParaRPr lang="en-US" dirty="0"/>
          </a:p>
        </p:txBody>
      </p:sp>
      <p:grpSp>
        <p:nvGrpSpPr>
          <p:cNvPr id="9" name="Group 8">
            <a:extLst>
              <a:ext uri="{FF2B5EF4-FFF2-40B4-BE49-F238E27FC236}">
                <a16:creationId xmlns:a16="http://schemas.microsoft.com/office/drawing/2014/main" id="{3B2F4970-46BB-8E2E-A669-4356A84340A7}"/>
              </a:ext>
            </a:extLst>
          </p:cNvPr>
          <p:cNvGrpSpPr/>
          <p:nvPr/>
        </p:nvGrpSpPr>
        <p:grpSpPr>
          <a:xfrm>
            <a:off x="3188429" y="2864451"/>
            <a:ext cx="1464851" cy="365125"/>
            <a:chOff x="1493520" y="2702560"/>
            <a:chExt cx="2426168" cy="579120"/>
          </a:xfrm>
        </p:grpSpPr>
        <p:sp>
          <p:nvSpPr>
            <p:cNvPr id="7" name="Rectangle 6">
              <a:extLst>
                <a:ext uri="{FF2B5EF4-FFF2-40B4-BE49-F238E27FC236}">
                  <a16:creationId xmlns:a16="http://schemas.microsoft.com/office/drawing/2014/main" id="{3AACCD84-7839-413C-2A48-B5B0931597B3}"/>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8" name="Rectangle 7">
              <a:extLst>
                <a:ext uri="{FF2B5EF4-FFF2-40B4-BE49-F238E27FC236}">
                  <a16:creationId xmlns:a16="http://schemas.microsoft.com/office/drawing/2014/main" id="{C9D63674-8444-4272-7757-C7BC7EF10901}"/>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0" name="Group 9">
            <a:extLst>
              <a:ext uri="{FF2B5EF4-FFF2-40B4-BE49-F238E27FC236}">
                <a16:creationId xmlns:a16="http://schemas.microsoft.com/office/drawing/2014/main" id="{06293A6A-7A95-9E73-DCCB-3A92C8BC7805}"/>
              </a:ext>
            </a:extLst>
          </p:cNvPr>
          <p:cNvGrpSpPr/>
          <p:nvPr/>
        </p:nvGrpSpPr>
        <p:grpSpPr>
          <a:xfrm>
            <a:off x="5159469" y="2864450"/>
            <a:ext cx="1464851" cy="365125"/>
            <a:chOff x="1493520" y="2702560"/>
            <a:chExt cx="2426168" cy="579120"/>
          </a:xfrm>
        </p:grpSpPr>
        <p:sp>
          <p:nvSpPr>
            <p:cNvPr id="11" name="Rectangle 10">
              <a:extLst>
                <a:ext uri="{FF2B5EF4-FFF2-40B4-BE49-F238E27FC236}">
                  <a16:creationId xmlns:a16="http://schemas.microsoft.com/office/drawing/2014/main" id="{0298FC5A-9636-3570-7A8B-7A93A2B711CB}"/>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2" name="Rectangle 11">
              <a:extLst>
                <a:ext uri="{FF2B5EF4-FFF2-40B4-BE49-F238E27FC236}">
                  <a16:creationId xmlns:a16="http://schemas.microsoft.com/office/drawing/2014/main" id="{4307D976-B8FD-C3D5-BFCF-B246EC52452E}"/>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3" name="Group 12">
            <a:extLst>
              <a:ext uri="{FF2B5EF4-FFF2-40B4-BE49-F238E27FC236}">
                <a16:creationId xmlns:a16="http://schemas.microsoft.com/office/drawing/2014/main" id="{D7DE7A91-1132-61D6-7CAB-26AA5F050955}"/>
              </a:ext>
            </a:extLst>
          </p:cNvPr>
          <p:cNvGrpSpPr/>
          <p:nvPr/>
        </p:nvGrpSpPr>
        <p:grpSpPr>
          <a:xfrm>
            <a:off x="7257433" y="2864450"/>
            <a:ext cx="1464851" cy="365125"/>
            <a:chOff x="1493520" y="2702560"/>
            <a:chExt cx="2426168" cy="579120"/>
          </a:xfrm>
        </p:grpSpPr>
        <p:sp>
          <p:nvSpPr>
            <p:cNvPr id="14" name="Rectangle 13">
              <a:extLst>
                <a:ext uri="{FF2B5EF4-FFF2-40B4-BE49-F238E27FC236}">
                  <a16:creationId xmlns:a16="http://schemas.microsoft.com/office/drawing/2014/main" id="{46D4BA74-154D-DB88-0A6D-7CA77668402F}"/>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62D43A67-1B63-FE71-EEDD-5CC6AF3DA169}"/>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cxnSp>
        <p:nvCxnSpPr>
          <p:cNvPr id="20" name="Straight Arrow Connector 19">
            <a:extLst>
              <a:ext uri="{FF2B5EF4-FFF2-40B4-BE49-F238E27FC236}">
                <a16:creationId xmlns:a16="http://schemas.microsoft.com/office/drawing/2014/main" id="{5597749F-B671-A607-3680-0CA195812CD8}"/>
              </a:ext>
            </a:extLst>
          </p:cNvPr>
          <p:cNvCxnSpPr>
            <a:stCxn id="8" idx="3"/>
            <a:endCxn id="11" idx="1"/>
          </p:cNvCxnSpPr>
          <p:nvPr/>
        </p:nvCxnSpPr>
        <p:spPr>
          <a:xfrm flipV="1">
            <a:off x="4653280" y="3047013"/>
            <a:ext cx="50618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B8E40F3-7A30-5CAE-655E-887D7A00BD22}"/>
              </a:ext>
            </a:extLst>
          </p:cNvPr>
          <p:cNvCxnSpPr>
            <a:stCxn id="12" idx="3"/>
            <a:endCxn id="14" idx="1"/>
          </p:cNvCxnSpPr>
          <p:nvPr/>
        </p:nvCxnSpPr>
        <p:spPr>
          <a:xfrm>
            <a:off x="6624320" y="3047013"/>
            <a:ext cx="633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DD041AB-BC95-6538-2292-6F22B1943071}"/>
              </a:ext>
            </a:extLst>
          </p:cNvPr>
          <p:cNvSpPr/>
          <p:nvPr/>
        </p:nvSpPr>
        <p:spPr>
          <a:xfrm>
            <a:off x="1981200" y="4413035"/>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Head</a:t>
            </a:r>
            <a:endParaRPr lang="en-PK" dirty="0"/>
          </a:p>
        </p:txBody>
      </p:sp>
      <p:cxnSp>
        <p:nvCxnSpPr>
          <p:cNvPr id="25" name="Connector: Elbow 24">
            <a:extLst>
              <a:ext uri="{FF2B5EF4-FFF2-40B4-BE49-F238E27FC236}">
                <a16:creationId xmlns:a16="http://schemas.microsoft.com/office/drawing/2014/main" id="{A5DAD785-581D-F9EB-AB98-D4D3851DD4DD}"/>
              </a:ext>
            </a:extLst>
          </p:cNvPr>
          <p:cNvCxnSpPr>
            <a:stCxn id="23" idx="0"/>
            <a:endCxn id="7" idx="1"/>
          </p:cNvCxnSpPr>
          <p:nvPr/>
        </p:nvCxnSpPr>
        <p:spPr>
          <a:xfrm rot="5400000" flipH="1" flipV="1">
            <a:off x="2084300" y="3308907"/>
            <a:ext cx="1366021" cy="8422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DB385AC-71C3-7D54-93D6-E37A270D17D2}"/>
              </a:ext>
            </a:extLst>
          </p:cNvPr>
          <p:cNvSpPr/>
          <p:nvPr/>
        </p:nvSpPr>
        <p:spPr>
          <a:xfrm>
            <a:off x="9479280" y="4184832"/>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Tail</a:t>
            </a:r>
            <a:endParaRPr lang="en-PK" dirty="0"/>
          </a:p>
        </p:txBody>
      </p:sp>
      <p:cxnSp>
        <p:nvCxnSpPr>
          <p:cNvPr id="32" name="Connector: Elbow 31">
            <a:extLst>
              <a:ext uri="{FF2B5EF4-FFF2-40B4-BE49-F238E27FC236}">
                <a16:creationId xmlns:a16="http://schemas.microsoft.com/office/drawing/2014/main" id="{511AC69C-439D-AE24-5BCC-03B028AC8EFD}"/>
              </a:ext>
            </a:extLst>
          </p:cNvPr>
          <p:cNvCxnSpPr>
            <a:stCxn id="15" idx="3"/>
            <a:endCxn id="30" idx="0"/>
          </p:cNvCxnSpPr>
          <p:nvPr/>
        </p:nvCxnSpPr>
        <p:spPr>
          <a:xfrm>
            <a:off x="8722284" y="3047013"/>
            <a:ext cx="1121988" cy="11378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CEE232DF-4F86-34F6-6194-ED5D500E7761}"/>
              </a:ext>
            </a:extLst>
          </p:cNvPr>
          <p:cNvGrpSpPr/>
          <p:nvPr/>
        </p:nvGrpSpPr>
        <p:grpSpPr>
          <a:xfrm>
            <a:off x="5085907" y="4414780"/>
            <a:ext cx="1464851" cy="871594"/>
            <a:chOff x="5362806" y="4573747"/>
            <a:chExt cx="1464851" cy="871594"/>
          </a:xfrm>
        </p:grpSpPr>
        <p:grpSp>
          <p:nvGrpSpPr>
            <p:cNvPr id="33" name="Group 32">
              <a:extLst>
                <a:ext uri="{FF2B5EF4-FFF2-40B4-BE49-F238E27FC236}">
                  <a16:creationId xmlns:a16="http://schemas.microsoft.com/office/drawing/2014/main" id="{7377D9E9-60FD-DA51-6361-0B5E17506482}"/>
                </a:ext>
              </a:extLst>
            </p:cNvPr>
            <p:cNvGrpSpPr/>
            <p:nvPr/>
          </p:nvGrpSpPr>
          <p:grpSpPr>
            <a:xfrm>
              <a:off x="5362806" y="4573747"/>
              <a:ext cx="1464851" cy="365125"/>
              <a:chOff x="1493520" y="2702560"/>
              <a:chExt cx="2426168" cy="579120"/>
            </a:xfrm>
          </p:grpSpPr>
          <p:sp>
            <p:nvSpPr>
              <p:cNvPr id="34" name="Rectangle 33">
                <a:extLst>
                  <a:ext uri="{FF2B5EF4-FFF2-40B4-BE49-F238E27FC236}">
                    <a16:creationId xmlns:a16="http://schemas.microsoft.com/office/drawing/2014/main" id="{0F257B7D-8974-2B1F-3460-16F0173D89BA}"/>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5" name="Rectangle 34">
                <a:extLst>
                  <a:ext uri="{FF2B5EF4-FFF2-40B4-BE49-F238E27FC236}">
                    <a16:creationId xmlns:a16="http://schemas.microsoft.com/office/drawing/2014/main" id="{F2C9C17F-CBFF-7C23-60C6-77BD03D30A5E}"/>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sp>
          <p:nvSpPr>
            <p:cNvPr id="36" name="TextBox 35">
              <a:extLst>
                <a:ext uri="{FF2B5EF4-FFF2-40B4-BE49-F238E27FC236}">
                  <a16:creationId xmlns:a16="http://schemas.microsoft.com/office/drawing/2014/main" id="{56315BBE-B24E-B2F8-F84A-78F243CA3DBD}"/>
                </a:ext>
              </a:extLst>
            </p:cNvPr>
            <p:cNvSpPr txBox="1"/>
            <p:nvPr/>
          </p:nvSpPr>
          <p:spPr>
            <a:xfrm>
              <a:off x="5466327" y="5076009"/>
              <a:ext cx="1341778" cy="369332"/>
            </a:xfrm>
            <a:prstGeom prst="rect">
              <a:avLst/>
            </a:prstGeom>
            <a:noFill/>
          </p:spPr>
          <p:txBody>
            <a:bodyPr wrap="none" rtlCol="0">
              <a:spAutoFit/>
            </a:bodyPr>
            <a:lstStyle/>
            <a:p>
              <a:r>
                <a:rPr lang="en-US" b="1" dirty="0">
                  <a:solidFill>
                    <a:srgbClr val="FF0000"/>
                  </a:solidFill>
                </a:rPr>
                <a:t>New Node</a:t>
              </a:r>
              <a:endParaRPr lang="en-PK" b="1" dirty="0">
                <a:solidFill>
                  <a:srgbClr val="FF0000"/>
                </a:solidFill>
              </a:endParaRPr>
            </a:p>
          </p:txBody>
        </p:sp>
      </p:grpSp>
      <p:cxnSp>
        <p:nvCxnSpPr>
          <p:cNvPr id="19" name="Straight Arrow Connector 18">
            <a:extLst>
              <a:ext uri="{FF2B5EF4-FFF2-40B4-BE49-F238E27FC236}">
                <a16:creationId xmlns:a16="http://schemas.microsoft.com/office/drawing/2014/main" id="{28C1FC4E-6B06-971F-AA8C-A4D15FD246C8}"/>
              </a:ext>
            </a:extLst>
          </p:cNvPr>
          <p:cNvCxnSpPr>
            <a:cxnSpLocks/>
            <a:endCxn id="30" idx="1"/>
          </p:cNvCxnSpPr>
          <p:nvPr/>
        </p:nvCxnSpPr>
        <p:spPr>
          <a:xfrm flipV="1">
            <a:off x="6550758" y="4413035"/>
            <a:ext cx="2928522" cy="196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12518E6-AE5C-BAA0-E1C6-FC7AFDFE936C}"/>
              </a:ext>
            </a:extLst>
          </p:cNvPr>
          <p:cNvCxnSpPr>
            <a:cxnSpLocks/>
          </p:cNvCxnSpPr>
          <p:nvPr/>
        </p:nvCxnSpPr>
        <p:spPr>
          <a:xfrm flipH="1">
            <a:off x="6259328" y="3340646"/>
            <a:ext cx="1755691" cy="1004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23DC93E-22CE-8E4C-C87C-6F7FC1BBB1AF}"/>
              </a:ext>
            </a:extLst>
          </p:cNvPr>
          <p:cNvSpPr txBox="1"/>
          <p:nvPr/>
        </p:nvSpPr>
        <p:spPr>
          <a:xfrm>
            <a:off x="4683760" y="5762058"/>
            <a:ext cx="3505200" cy="369332"/>
          </a:xfrm>
          <a:prstGeom prst="rect">
            <a:avLst/>
          </a:prstGeom>
          <a:noFill/>
        </p:spPr>
        <p:txBody>
          <a:bodyPr wrap="square">
            <a:spAutoFit/>
          </a:bodyPr>
          <a:lstStyle/>
          <a:p>
            <a:r>
              <a:rPr lang="en-US" b="1" dirty="0">
                <a:solidFill>
                  <a:schemeClr val="accent1"/>
                </a:solidFill>
              </a:rPr>
              <a:t>Time Complexity O(1)</a:t>
            </a:r>
            <a:endParaRPr lang="en-PK" b="1" dirty="0">
              <a:solidFill>
                <a:schemeClr val="accent1"/>
              </a:solidFill>
            </a:endParaRPr>
          </a:p>
        </p:txBody>
      </p:sp>
    </p:spTree>
    <p:extLst>
      <p:ext uri="{BB962C8B-B14F-4D97-AF65-F5344CB8AC3E}">
        <p14:creationId xmlns:p14="http://schemas.microsoft.com/office/powerpoint/2010/main" val="3138265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nodeType="clickEffect">
                                  <p:stCondLst>
                                    <p:cond delay="0"/>
                                  </p:stCondLst>
                                  <p:childTnLst>
                                    <p:anim calcmode="lin" valueType="num">
                                      <p:cBhvr additive="base">
                                        <p:cTn id="22" dur="500"/>
                                        <p:tgtEl>
                                          <p:spTgt spid="32"/>
                                        </p:tgtEl>
                                        <p:attrNameLst>
                                          <p:attrName>ppt_x</p:attrName>
                                        </p:attrNameLst>
                                      </p:cBhvr>
                                      <p:tavLst>
                                        <p:tav tm="0">
                                          <p:val>
                                            <p:strVal val="ppt_x"/>
                                          </p:val>
                                        </p:tav>
                                        <p:tav tm="100000">
                                          <p:val>
                                            <p:strVal val="ppt_x"/>
                                          </p:val>
                                        </p:tav>
                                      </p:tavLst>
                                    </p:anim>
                                    <p:anim calcmode="lin" valueType="num">
                                      <p:cBhvr additive="base">
                                        <p:cTn id="23" dur="500"/>
                                        <p:tgtEl>
                                          <p:spTgt spid="32"/>
                                        </p:tgtEl>
                                        <p:attrNameLst>
                                          <p:attrName>ppt_y</p:attrName>
                                        </p:attrNameLst>
                                      </p:cBhvr>
                                      <p:tavLst>
                                        <p:tav tm="0">
                                          <p:val>
                                            <p:strVal val="ppt_y"/>
                                          </p:val>
                                        </p:tav>
                                        <p:tav tm="100000">
                                          <p:val>
                                            <p:strVal val="1+ppt_h/2"/>
                                          </p:val>
                                        </p:tav>
                                      </p:tavLst>
                                    </p:anim>
                                    <p:set>
                                      <p:cBhvr>
                                        <p:cTn id="24" dur="1" fill="hold">
                                          <p:stCondLst>
                                            <p:cond delay="499"/>
                                          </p:stCondLst>
                                        </p:cTn>
                                        <p:tgtEl>
                                          <p:spTgt spid="3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p:cTn id="29" dur="1000" fill="hold"/>
                                        <p:tgtEl>
                                          <p:spTgt spid="27"/>
                                        </p:tgtEl>
                                        <p:attrNameLst>
                                          <p:attrName>ppt_w</p:attrName>
                                        </p:attrNameLst>
                                      </p:cBhvr>
                                      <p:tavLst>
                                        <p:tav tm="0">
                                          <p:val>
                                            <p:fltVal val="0"/>
                                          </p:val>
                                        </p:tav>
                                        <p:tav tm="100000">
                                          <p:val>
                                            <p:strVal val="#ppt_w"/>
                                          </p:val>
                                        </p:tav>
                                      </p:tavLst>
                                    </p:anim>
                                    <p:anim calcmode="lin" valueType="num">
                                      <p:cBhvr>
                                        <p:cTn id="30" dur="1000" fill="hold"/>
                                        <p:tgtEl>
                                          <p:spTgt spid="27"/>
                                        </p:tgtEl>
                                        <p:attrNameLst>
                                          <p:attrName>ppt_h</p:attrName>
                                        </p:attrNameLst>
                                      </p:cBhvr>
                                      <p:tavLst>
                                        <p:tav tm="0">
                                          <p:val>
                                            <p:fltVal val="0"/>
                                          </p:val>
                                        </p:tav>
                                        <p:tav tm="100000">
                                          <p:val>
                                            <p:strVal val="#ppt_h"/>
                                          </p:val>
                                        </p:tav>
                                      </p:tavLst>
                                    </p:anim>
                                    <p:anim calcmode="lin" valueType="num">
                                      <p:cBhvr>
                                        <p:cTn id="31" dur="1000" fill="hold"/>
                                        <p:tgtEl>
                                          <p:spTgt spid="27"/>
                                        </p:tgtEl>
                                        <p:attrNameLst>
                                          <p:attrName>style.rotation</p:attrName>
                                        </p:attrNameLst>
                                      </p:cBhvr>
                                      <p:tavLst>
                                        <p:tav tm="0">
                                          <p:val>
                                            <p:fltVal val="90"/>
                                          </p:val>
                                        </p:tav>
                                        <p:tav tm="100000">
                                          <p:val>
                                            <p:fltVal val="0"/>
                                          </p:val>
                                        </p:tav>
                                      </p:tavLst>
                                    </p:anim>
                                    <p:animEffect transition="in" filter="fade">
                                      <p:cBhvr>
                                        <p:cTn id="32"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58532-E0CC-B245-C03B-2CA9BB098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77600-7019-4C75-7184-52A0D22E20ED}"/>
              </a:ext>
            </a:extLst>
          </p:cNvPr>
          <p:cNvSpPr>
            <a:spLocks noGrp="1"/>
          </p:cNvSpPr>
          <p:nvPr>
            <p:ph type="title"/>
          </p:nvPr>
        </p:nvSpPr>
        <p:spPr/>
        <p:txBody>
          <a:bodyPr/>
          <a:lstStyle/>
          <a:p>
            <a:r>
              <a:rPr lang="en-US" dirty="0"/>
              <a:t>inserting at the middle of the list</a:t>
            </a:r>
            <a:endParaRPr lang="en-PK" dirty="0"/>
          </a:p>
        </p:txBody>
      </p:sp>
      <p:sp>
        <p:nvSpPr>
          <p:cNvPr id="4" name="Date Placeholder 3">
            <a:extLst>
              <a:ext uri="{FF2B5EF4-FFF2-40B4-BE49-F238E27FC236}">
                <a16:creationId xmlns:a16="http://schemas.microsoft.com/office/drawing/2014/main" id="{B9240C65-3F6B-C642-98C3-2272E72E8B68}"/>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C494C402-91BD-683E-29FA-74DEFE240A85}"/>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FF9B459D-FEB1-1C47-B9FA-6F45427F8FA0}"/>
              </a:ext>
            </a:extLst>
          </p:cNvPr>
          <p:cNvSpPr>
            <a:spLocks noGrp="1"/>
          </p:cNvSpPr>
          <p:nvPr>
            <p:ph type="sldNum" sz="quarter" idx="12"/>
          </p:nvPr>
        </p:nvSpPr>
        <p:spPr/>
        <p:txBody>
          <a:bodyPr/>
          <a:lstStyle/>
          <a:p>
            <a:fld id="{D57F1E4F-1CFF-5643-939E-217C01CDF565}" type="slidenum">
              <a:rPr lang="en-US" smtClean="0"/>
              <a:pPr/>
              <a:t>17</a:t>
            </a:fld>
            <a:endParaRPr lang="en-US" dirty="0"/>
          </a:p>
        </p:txBody>
      </p:sp>
      <p:grpSp>
        <p:nvGrpSpPr>
          <p:cNvPr id="9" name="Group 8">
            <a:extLst>
              <a:ext uri="{FF2B5EF4-FFF2-40B4-BE49-F238E27FC236}">
                <a16:creationId xmlns:a16="http://schemas.microsoft.com/office/drawing/2014/main" id="{BA78516B-0333-013C-967A-ECE6E6C7EC51}"/>
              </a:ext>
            </a:extLst>
          </p:cNvPr>
          <p:cNvGrpSpPr/>
          <p:nvPr/>
        </p:nvGrpSpPr>
        <p:grpSpPr>
          <a:xfrm>
            <a:off x="3188429" y="2864451"/>
            <a:ext cx="1464851" cy="365125"/>
            <a:chOff x="1493520" y="2702560"/>
            <a:chExt cx="2426168" cy="579120"/>
          </a:xfrm>
        </p:grpSpPr>
        <p:sp>
          <p:nvSpPr>
            <p:cNvPr id="7" name="Rectangle 6">
              <a:extLst>
                <a:ext uri="{FF2B5EF4-FFF2-40B4-BE49-F238E27FC236}">
                  <a16:creationId xmlns:a16="http://schemas.microsoft.com/office/drawing/2014/main" id="{945D5D25-50C5-CE4F-1F13-C1A2BD6C33D6}"/>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8" name="Rectangle 7">
              <a:extLst>
                <a:ext uri="{FF2B5EF4-FFF2-40B4-BE49-F238E27FC236}">
                  <a16:creationId xmlns:a16="http://schemas.microsoft.com/office/drawing/2014/main" id="{9B770832-3E8A-71F9-0A7D-ACC4D514574A}"/>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0" name="Group 9">
            <a:extLst>
              <a:ext uri="{FF2B5EF4-FFF2-40B4-BE49-F238E27FC236}">
                <a16:creationId xmlns:a16="http://schemas.microsoft.com/office/drawing/2014/main" id="{D02119AB-7D7A-E5E8-04FD-E786F2C547E2}"/>
              </a:ext>
            </a:extLst>
          </p:cNvPr>
          <p:cNvGrpSpPr/>
          <p:nvPr/>
        </p:nvGrpSpPr>
        <p:grpSpPr>
          <a:xfrm>
            <a:off x="5159469" y="2864450"/>
            <a:ext cx="1464851" cy="365125"/>
            <a:chOff x="1493520" y="2702560"/>
            <a:chExt cx="2426168" cy="579120"/>
          </a:xfrm>
        </p:grpSpPr>
        <p:sp>
          <p:nvSpPr>
            <p:cNvPr id="11" name="Rectangle 10">
              <a:extLst>
                <a:ext uri="{FF2B5EF4-FFF2-40B4-BE49-F238E27FC236}">
                  <a16:creationId xmlns:a16="http://schemas.microsoft.com/office/drawing/2014/main" id="{D4249108-5498-F768-53EB-1F8D9F679E51}"/>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2" name="Rectangle 11">
              <a:extLst>
                <a:ext uri="{FF2B5EF4-FFF2-40B4-BE49-F238E27FC236}">
                  <a16:creationId xmlns:a16="http://schemas.microsoft.com/office/drawing/2014/main" id="{EC3E7292-7FA2-C39F-C749-02C5CBB54400}"/>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3" name="Group 12">
            <a:extLst>
              <a:ext uri="{FF2B5EF4-FFF2-40B4-BE49-F238E27FC236}">
                <a16:creationId xmlns:a16="http://schemas.microsoft.com/office/drawing/2014/main" id="{666B1592-E210-55F6-F8DA-8E4D5DE3A560}"/>
              </a:ext>
            </a:extLst>
          </p:cNvPr>
          <p:cNvGrpSpPr/>
          <p:nvPr/>
        </p:nvGrpSpPr>
        <p:grpSpPr>
          <a:xfrm>
            <a:off x="7257433" y="2864450"/>
            <a:ext cx="1464851" cy="365125"/>
            <a:chOff x="1493520" y="2702560"/>
            <a:chExt cx="2426168" cy="579120"/>
          </a:xfrm>
        </p:grpSpPr>
        <p:sp>
          <p:nvSpPr>
            <p:cNvPr id="14" name="Rectangle 13">
              <a:extLst>
                <a:ext uri="{FF2B5EF4-FFF2-40B4-BE49-F238E27FC236}">
                  <a16:creationId xmlns:a16="http://schemas.microsoft.com/office/drawing/2014/main" id="{40D6913F-5384-8551-CE2F-FCFA7248DFE6}"/>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B9FD04B5-55EE-DC08-3804-73E6F9660609}"/>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cxnSp>
        <p:nvCxnSpPr>
          <p:cNvPr id="20" name="Straight Arrow Connector 19">
            <a:extLst>
              <a:ext uri="{FF2B5EF4-FFF2-40B4-BE49-F238E27FC236}">
                <a16:creationId xmlns:a16="http://schemas.microsoft.com/office/drawing/2014/main" id="{7D453020-50A9-4FF4-B6B3-A1BF897A718D}"/>
              </a:ext>
            </a:extLst>
          </p:cNvPr>
          <p:cNvCxnSpPr>
            <a:stCxn id="8" idx="3"/>
            <a:endCxn id="11" idx="1"/>
          </p:cNvCxnSpPr>
          <p:nvPr/>
        </p:nvCxnSpPr>
        <p:spPr>
          <a:xfrm flipV="1">
            <a:off x="4653280" y="3047013"/>
            <a:ext cx="50618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F3AD02C-4E03-3FDB-193A-D4B7B734D753}"/>
              </a:ext>
            </a:extLst>
          </p:cNvPr>
          <p:cNvCxnSpPr>
            <a:stCxn id="12" idx="3"/>
            <a:endCxn id="14" idx="1"/>
          </p:cNvCxnSpPr>
          <p:nvPr/>
        </p:nvCxnSpPr>
        <p:spPr>
          <a:xfrm>
            <a:off x="6624320" y="3047013"/>
            <a:ext cx="633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6AA0A2A-5AEC-B154-76D3-CFEFBC6377D9}"/>
              </a:ext>
            </a:extLst>
          </p:cNvPr>
          <p:cNvSpPr/>
          <p:nvPr/>
        </p:nvSpPr>
        <p:spPr>
          <a:xfrm>
            <a:off x="1981200" y="4413035"/>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Head</a:t>
            </a:r>
            <a:endParaRPr lang="en-PK" dirty="0"/>
          </a:p>
        </p:txBody>
      </p:sp>
      <p:cxnSp>
        <p:nvCxnSpPr>
          <p:cNvPr id="25" name="Connector: Elbow 24">
            <a:extLst>
              <a:ext uri="{FF2B5EF4-FFF2-40B4-BE49-F238E27FC236}">
                <a16:creationId xmlns:a16="http://schemas.microsoft.com/office/drawing/2014/main" id="{2B34F209-896F-BB81-F89D-FAE8B6486ABE}"/>
              </a:ext>
            </a:extLst>
          </p:cNvPr>
          <p:cNvCxnSpPr>
            <a:stCxn id="23" idx="0"/>
            <a:endCxn id="7" idx="1"/>
          </p:cNvCxnSpPr>
          <p:nvPr/>
        </p:nvCxnSpPr>
        <p:spPr>
          <a:xfrm rot="5400000" flipH="1" flipV="1">
            <a:off x="2084300" y="3308907"/>
            <a:ext cx="1366021" cy="8422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AAE2FE4-BA04-A559-1992-93F6807FA31C}"/>
              </a:ext>
            </a:extLst>
          </p:cNvPr>
          <p:cNvSpPr/>
          <p:nvPr/>
        </p:nvSpPr>
        <p:spPr>
          <a:xfrm>
            <a:off x="9479280" y="4184832"/>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Tail</a:t>
            </a:r>
            <a:endParaRPr lang="en-PK" dirty="0"/>
          </a:p>
        </p:txBody>
      </p:sp>
      <p:cxnSp>
        <p:nvCxnSpPr>
          <p:cNvPr id="32" name="Connector: Elbow 31">
            <a:extLst>
              <a:ext uri="{FF2B5EF4-FFF2-40B4-BE49-F238E27FC236}">
                <a16:creationId xmlns:a16="http://schemas.microsoft.com/office/drawing/2014/main" id="{393318B9-18A3-2599-9E98-2A6EF16C0F0B}"/>
              </a:ext>
            </a:extLst>
          </p:cNvPr>
          <p:cNvCxnSpPr>
            <a:stCxn id="15" idx="3"/>
            <a:endCxn id="30" idx="0"/>
          </p:cNvCxnSpPr>
          <p:nvPr/>
        </p:nvCxnSpPr>
        <p:spPr>
          <a:xfrm>
            <a:off x="8722284" y="3047013"/>
            <a:ext cx="1121988" cy="11378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F3949271-068B-5A56-BF41-4CF8CAFC5712}"/>
              </a:ext>
            </a:extLst>
          </p:cNvPr>
          <p:cNvGrpSpPr/>
          <p:nvPr/>
        </p:nvGrpSpPr>
        <p:grpSpPr>
          <a:xfrm>
            <a:off x="5085907" y="4414780"/>
            <a:ext cx="1464851" cy="871594"/>
            <a:chOff x="5362806" y="4573747"/>
            <a:chExt cx="1464851" cy="871594"/>
          </a:xfrm>
        </p:grpSpPr>
        <p:grpSp>
          <p:nvGrpSpPr>
            <p:cNvPr id="33" name="Group 32">
              <a:extLst>
                <a:ext uri="{FF2B5EF4-FFF2-40B4-BE49-F238E27FC236}">
                  <a16:creationId xmlns:a16="http://schemas.microsoft.com/office/drawing/2014/main" id="{B33B3044-AFD2-2181-C9FE-5A2A671D74B4}"/>
                </a:ext>
              </a:extLst>
            </p:cNvPr>
            <p:cNvGrpSpPr/>
            <p:nvPr/>
          </p:nvGrpSpPr>
          <p:grpSpPr>
            <a:xfrm>
              <a:off x="5362806" y="4573747"/>
              <a:ext cx="1464851" cy="365125"/>
              <a:chOff x="1493520" y="2702560"/>
              <a:chExt cx="2426168" cy="579120"/>
            </a:xfrm>
          </p:grpSpPr>
          <p:sp>
            <p:nvSpPr>
              <p:cNvPr id="34" name="Rectangle 33">
                <a:extLst>
                  <a:ext uri="{FF2B5EF4-FFF2-40B4-BE49-F238E27FC236}">
                    <a16:creationId xmlns:a16="http://schemas.microsoft.com/office/drawing/2014/main" id="{D8090631-9D06-BC61-9E0B-BE2F8BA7D457}"/>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5" name="Rectangle 34">
                <a:extLst>
                  <a:ext uri="{FF2B5EF4-FFF2-40B4-BE49-F238E27FC236}">
                    <a16:creationId xmlns:a16="http://schemas.microsoft.com/office/drawing/2014/main" id="{1FCAEBBF-2195-DFB4-70B1-A7BD3CEF445B}"/>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sp>
          <p:nvSpPr>
            <p:cNvPr id="36" name="TextBox 35">
              <a:extLst>
                <a:ext uri="{FF2B5EF4-FFF2-40B4-BE49-F238E27FC236}">
                  <a16:creationId xmlns:a16="http://schemas.microsoft.com/office/drawing/2014/main" id="{0A33376E-A30C-9C2A-D54E-A12B3533AEF6}"/>
                </a:ext>
              </a:extLst>
            </p:cNvPr>
            <p:cNvSpPr txBox="1"/>
            <p:nvPr/>
          </p:nvSpPr>
          <p:spPr>
            <a:xfrm>
              <a:off x="5466327" y="5076009"/>
              <a:ext cx="1341778" cy="369332"/>
            </a:xfrm>
            <a:prstGeom prst="rect">
              <a:avLst/>
            </a:prstGeom>
            <a:noFill/>
          </p:spPr>
          <p:txBody>
            <a:bodyPr wrap="none" rtlCol="0">
              <a:spAutoFit/>
            </a:bodyPr>
            <a:lstStyle/>
            <a:p>
              <a:r>
                <a:rPr lang="en-US" b="1" dirty="0">
                  <a:solidFill>
                    <a:srgbClr val="FF0000"/>
                  </a:solidFill>
                </a:rPr>
                <a:t>New Node</a:t>
              </a:r>
              <a:endParaRPr lang="en-PK" b="1" dirty="0">
                <a:solidFill>
                  <a:srgbClr val="FF0000"/>
                </a:solidFill>
              </a:endParaRPr>
            </a:p>
          </p:txBody>
        </p:sp>
      </p:grpSp>
      <p:cxnSp>
        <p:nvCxnSpPr>
          <p:cNvPr id="19" name="Straight Arrow Connector 18">
            <a:extLst>
              <a:ext uri="{FF2B5EF4-FFF2-40B4-BE49-F238E27FC236}">
                <a16:creationId xmlns:a16="http://schemas.microsoft.com/office/drawing/2014/main" id="{F05FA30B-6FAE-DF74-7BE4-0768867CB538}"/>
              </a:ext>
            </a:extLst>
          </p:cNvPr>
          <p:cNvCxnSpPr>
            <a:cxnSpLocks/>
          </p:cNvCxnSpPr>
          <p:nvPr/>
        </p:nvCxnSpPr>
        <p:spPr>
          <a:xfrm flipV="1">
            <a:off x="6496421" y="3557985"/>
            <a:ext cx="987962" cy="73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76B909-0D0F-0FB1-2F1B-7DC3C8781E39}"/>
              </a:ext>
            </a:extLst>
          </p:cNvPr>
          <p:cNvCxnSpPr>
            <a:cxnSpLocks/>
          </p:cNvCxnSpPr>
          <p:nvPr/>
        </p:nvCxnSpPr>
        <p:spPr>
          <a:xfrm>
            <a:off x="5889453" y="3429000"/>
            <a:ext cx="0" cy="716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538D736-5F38-3C62-3A09-431095C6015C}"/>
              </a:ext>
            </a:extLst>
          </p:cNvPr>
          <p:cNvSpPr txBox="1"/>
          <p:nvPr/>
        </p:nvSpPr>
        <p:spPr>
          <a:xfrm>
            <a:off x="4683760" y="5762058"/>
            <a:ext cx="3505200" cy="369332"/>
          </a:xfrm>
          <a:prstGeom prst="rect">
            <a:avLst/>
          </a:prstGeom>
          <a:noFill/>
        </p:spPr>
        <p:txBody>
          <a:bodyPr wrap="square">
            <a:spAutoFit/>
          </a:bodyPr>
          <a:lstStyle/>
          <a:p>
            <a:r>
              <a:rPr lang="en-US" b="1" dirty="0">
                <a:solidFill>
                  <a:schemeClr val="accent1"/>
                </a:solidFill>
              </a:rPr>
              <a:t>Time Complexity O(n)</a:t>
            </a:r>
            <a:endParaRPr lang="en-PK" b="1" dirty="0">
              <a:solidFill>
                <a:schemeClr val="accent1"/>
              </a:solidFill>
            </a:endParaRPr>
          </a:p>
        </p:txBody>
      </p:sp>
    </p:spTree>
    <p:extLst>
      <p:ext uri="{BB962C8B-B14F-4D97-AF65-F5344CB8AC3E}">
        <p14:creationId xmlns:p14="http://schemas.microsoft.com/office/powerpoint/2010/main" val="1550744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down)">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xit" presetSubtype="0" fill="hold" nodeType="clickEffect">
                                  <p:stCondLst>
                                    <p:cond delay="0"/>
                                  </p:stCondLst>
                                  <p:childTnLst>
                                    <p:anim calcmode="lin" valueType="num">
                                      <p:cBhvr>
                                        <p:cTn id="22" dur="1000"/>
                                        <p:tgtEl>
                                          <p:spTgt spid="22"/>
                                        </p:tgtEl>
                                        <p:attrNameLst>
                                          <p:attrName>ppt_w</p:attrName>
                                        </p:attrNameLst>
                                      </p:cBhvr>
                                      <p:tavLst>
                                        <p:tav tm="0">
                                          <p:val>
                                            <p:strVal val="ppt_w"/>
                                          </p:val>
                                        </p:tav>
                                        <p:tav tm="100000">
                                          <p:val>
                                            <p:fltVal val="0"/>
                                          </p:val>
                                        </p:tav>
                                      </p:tavLst>
                                    </p:anim>
                                    <p:anim calcmode="lin" valueType="num">
                                      <p:cBhvr>
                                        <p:cTn id="23" dur="1000"/>
                                        <p:tgtEl>
                                          <p:spTgt spid="22"/>
                                        </p:tgtEl>
                                        <p:attrNameLst>
                                          <p:attrName>ppt_h</p:attrName>
                                        </p:attrNameLst>
                                      </p:cBhvr>
                                      <p:tavLst>
                                        <p:tav tm="0">
                                          <p:val>
                                            <p:strVal val="ppt_h"/>
                                          </p:val>
                                        </p:tav>
                                        <p:tav tm="100000">
                                          <p:val>
                                            <p:fltVal val="0"/>
                                          </p:val>
                                        </p:tav>
                                      </p:tavLst>
                                    </p:anim>
                                    <p:anim calcmode="lin" valueType="num">
                                      <p:cBhvr>
                                        <p:cTn id="24" dur="1000"/>
                                        <p:tgtEl>
                                          <p:spTgt spid="22"/>
                                        </p:tgtEl>
                                        <p:attrNameLst>
                                          <p:attrName>style.rotation</p:attrName>
                                        </p:attrNameLst>
                                      </p:cBhvr>
                                      <p:tavLst>
                                        <p:tav tm="0">
                                          <p:val>
                                            <p:fltVal val="0"/>
                                          </p:val>
                                        </p:tav>
                                        <p:tav tm="100000">
                                          <p:val>
                                            <p:fltVal val="90"/>
                                          </p:val>
                                        </p:tav>
                                      </p:tavLst>
                                    </p:anim>
                                    <p:animEffect transition="out" filter="fade">
                                      <p:cBhvr>
                                        <p:cTn id="25" dur="1000"/>
                                        <p:tgtEl>
                                          <p:spTgt spid="22"/>
                                        </p:tgtEl>
                                      </p:cBhvr>
                                    </p:animEffect>
                                    <p:set>
                                      <p:cBhvr>
                                        <p:cTn id="26" dur="1" fill="hold">
                                          <p:stCondLst>
                                            <p:cond delay="999"/>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1000"/>
                                        <p:tgtEl>
                                          <p:spTgt spid="27"/>
                                        </p:tgtEl>
                                      </p:cBhvr>
                                    </p:animEffect>
                                    <p:anim calcmode="lin" valueType="num">
                                      <p:cBhvr>
                                        <p:cTn id="32" dur="1000" fill="hold"/>
                                        <p:tgtEl>
                                          <p:spTgt spid="27"/>
                                        </p:tgtEl>
                                        <p:attrNameLst>
                                          <p:attrName>ppt_x</p:attrName>
                                        </p:attrNameLst>
                                      </p:cBhvr>
                                      <p:tavLst>
                                        <p:tav tm="0">
                                          <p:val>
                                            <p:strVal val="#ppt_x"/>
                                          </p:val>
                                        </p:tav>
                                        <p:tav tm="100000">
                                          <p:val>
                                            <p:strVal val="#ppt_x"/>
                                          </p:val>
                                        </p:tav>
                                      </p:tavLst>
                                    </p:anim>
                                    <p:anim calcmode="lin" valueType="num">
                                      <p:cBhvr>
                                        <p:cTn id="3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480AC-AD9C-E2B1-97F7-B61F6C41121C}"/>
              </a:ext>
            </a:extLst>
          </p:cNvPr>
          <p:cNvSpPr>
            <a:spLocks noGrp="1"/>
          </p:cNvSpPr>
          <p:nvPr>
            <p:ph type="title"/>
          </p:nvPr>
        </p:nvSpPr>
        <p:spPr/>
        <p:txBody>
          <a:bodyPr/>
          <a:lstStyle/>
          <a:p>
            <a:r>
              <a:rPr lang="en-US" dirty="0"/>
              <a:t>Deletion operation</a:t>
            </a:r>
            <a:endParaRPr lang="en-PK" dirty="0"/>
          </a:p>
        </p:txBody>
      </p:sp>
      <p:sp>
        <p:nvSpPr>
          <p:cNvPr id="4" name="Date Placeholder 3">
            <a:extLst>
              <a:ext uri="{FF2B5EF4-FFF2-40B4-BE49-F238E27FC236}">
                <a16:creationId xmlns:a16="http://schemas.microsoft.com/office/drawing/2014/main" id="{2C4BE4D7-C487-F9C0-AA9C-AB3FC0755EDD}"/>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7FCF7B77-94D6-9E29-38DB-ABA608F0A11C}"/>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3BFCFA3F-C3F8-840F-7635-57391D17EF3D}"/>
              </a:ext>
            </a:extLst>
          </p:cNvPr>
          <p:cNvSpPr>
            <a:spLocks noGrp="1"/>
          </p:cNvSpPr>
          <p:nvPr>
            <p:ph type="sldNum" sz="quarter" idx="12"/>
          </p:nvPr>
        </p:nvSpPr>
        <p:spPr/>
        <p:txBody>
          <a:bodyPr/>
          <a:lstStyle/>
          <a:p>
            <a:fld id="{D57F1E4F-1CFF-5643-939E-217C01CDF565}" type="slidenum">
              <a:rPr lang="en-US" smtClean="0"/>
              <a:pPr/>
              <a:t>18</a:t>
            </a:fld>
            <a:endParaRPr lang="en-US" dirty="0"/>
          </a:p>
        </p:txBody>
      </p:sp>
      <p:graphicFrame>
        <p:nvGraphicFramePr>
          <p:cNvPr id="7" name="Diagram 6">
            <a:extLst>
              <a:ext uri="{FF2B5EF4-FFF2-40B4-BE49-F238E27FC236}">
                <a16:creationId xmlns:a16="http://schemas.microsoft.com/office/drawing/2014/main" id="{68C0FDF8-65A2-26C0-7C05-5021C5524EF1}"/>
              </a:ext>
            </a:extLst>
          </p:cNvPr>
          <p:cNvGraphicFramePr/>
          <p:nvPr>
            <p:extLst>
              <p:ext uri="{D42A27DB-BD31-4B8C-83A1-F6EECF244321}">
                <p14:modId xmlns:p14="http://schemas.microsoft.com/office/powerpoint/2010/main" val="2494388336"/>
              </p:ext>
            </p:extLst>
          </p:nvPr>
        </p:nvGraphicFramePr>
        <p:xfrm>
          <a:off x="2448560" y="2477347"/>
          <a:ext cx="6096000" cy="3384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7118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DB83-1108-B938-ECB2-456108CA0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F0256-14CA-3DC5-466F-49F97916A054}"/>
              </a:ext>
            </a:extLst>
          </p:cNvPr>
          <p:cNvSpPr>
            <a:spLocks noGrp="1"/>
          </p:cNvSpPr>
          <p:nvPr>
            <p:ph type="title"/>
          </p:nvPr>
        </p:nvSpPr>
        <p:spPr/>
        <p:txBody>
          <a:bodyPr/>
          <a:lstStyle/>
          <a:p>
            <a:r>
              <a:rPr lang="en-US" dirty="0"/>
              <a:t>Deleting from the end of the list</a:t>
            </a:r>
            <a:endParaRPr lang="en-PK" dirty="0"/>
          </a:p>
        </p:txBody>
      </p:sp>
      <p:sp>
        <p:nvSpPr>
          <p:cNvPr id="4" name="Date Placeholder 3">
            <a:extLst>
              <a:ext uri="{FF2B5EF4-FFF2-40B4-BE49-F238E27FC236}">
                <a16:creationId xmlns:a16="http://schemas.microsoft.com/office/drawing/2014/main" id="{3CE81CA9-B55F-5D88-C15B-F80C9CCBE997}"/>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1C4B2AFB-3B1F-735F-0F82-73D6B907C1A7}"/>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650F8C73-2D81-F511-D7F6-DD4EFA6C8D37}"/>
              </a:ext>
            </a:extLst>
          </p:cNvPr>
          <p:cNvSpPr>
            <a:spLocks noGrp="1"/>
          </p:cNvSpPr>
          <p:nvPr>
            <p:ph type="sldNum" sz="quarter" idx="12"/>
          </p:nvPr>
        </p:nvSpPr>
        <p:spPr/>
        <p:txBody>
          <a:bodyPr/>
          <a:lstStyle/>
          <a:p>
            <a:fld id="{D57F1E4F-1CFF-5643-939E-217C01CDF565}" type="slidenum">
              <a:rPr lang="en-US" smtClean="0"/>
              <a:pPr/>
              <a:t>19</a:t>
            </a:fld>
            <a:endParaRPr lang="en-US" dirty="0"/>
          </a:p>
        </p:txBody>
      </p:sp>
      <p:grpSp>
        <p:nvGrpSpPr>
          <p:cNvPr id="9" name="Group 8">
            <a:extLst>
              <a:ext uri="{FF2B5EF4-FFF2-40B4-BE49-F238E27FC236}">
                <a16:creationId xmlns:a16="http://schemas.microsoft.com/office/drawing/2014/main" id="{263B2ED4-8CFA-50C9-CD2E-F0BC8762DB57}"/>
              </a:ext>
            </a:extLst>
          </p:cNvPr>
          <p:cNvGrpSpPr/>
          <p:nvPr/>
        </p:nvGrpSpPr>
        <p:grpSpPr>
          <a:xfrm>
            <a:off x="3188429" y="2864451"/>
            <a:ext cx="1464851" cy="365125"/>
            <a:chOff x="1493520" y="2702560"/>
            <a:chExt cx="2426168" cy="579120"/>
          </a:xfrm>
        </p:grpSpPr>
        <p:sp>
          <p:nvSpPr>
            <p:cNvPr id="7" name="Rectangle 6">
              <a:extLst>
                <a:ext uri="{FF2B5EF4-FFF2-40B4-BE49-F238E27FC236}">
                  <a16:creationId xmlns:a16="http://schemas.microsoft.com/office/drawing/2014/main" id="{4571D403-44A8-655F-ABBB-822AC9F8A855}"/>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8" name="Rectangle 7">
              <a:extLst>
                <a:ext uri="{FF2B5EF4-FFF2-40B4-BE49-F238E27FC236}">
                  <a16:creationId xmlns:a16="http://schemas.microsoft.com/office/drawing/2014/main" id="{AEE20FA9-4111-55DC-D5A6-9887D6518323}"/>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0" name="Group 9">
            <a:extLst>
              <a:ext uri="{FF2B5EF4-FFF2-40B4-BE49-F238E27FC236}">
                <a16:creationId xmlns:a16="http://schemas.microsoft.com/office/drawing/2014/main" id="{70069893-8820-1945-B4AC-611D1C199778}"/>
              </a:ext>
            </a:extLst>
          </p:cNvPr>
          <p:cNvGrpSpPr/>
          <p:nvPr/>
        </p:nvGrpSpPr>
        <p:grpSpPr>
          <a:xfrm>
            <a:off x="5159469" y="2864450"/>
            <a:ext cx="1464851" cy="365125"/>
            <a:chOff x="1493520" y="2702560"/>
            <a:chExt cx="2426168" cy="579120"/>
          </a:xfrm>
        </p:grpSpPr>
        <p:sp>
          <p:nvSpPr>
            <p:cNvPr id="11" name="Rectangle 10">
              <a:extLst>
                <a:ext uri="{FF2B5EF4-FFF2-40B4-BE49-F238E27FC236}">
                  <a16:creationId xmlns:a16="http://schemas.microsoft.com/office/drawing/2014/main" id="{5FBF0D97-6493-0503-59FE-CD01AA7A288A}"/>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2" name="Rectangle 11">
              <a:extLst>
                <a:ext uri="{FF2B5EF4-FFF2-40B4-BE49-F238E27FC236}">
                  <a16:creationId xmlns:a16="http://schemas.microsoft.com/office/drawing/2014/main" id="{6A81BCE1-D407-527D-E043-7C7C0800DBAE}"/>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grpSp>
        <p:nvGrpSpPr>
          <p:cNvPr id="13" name="Group 12">
            <a:extLst>
              <a:ext uri="{FF2B5EF4-FFF2-40B4-BE49-F238E27FC236}">
                <a16:creationId xmlns:a16="http://schemas.microsoft.com/office/drawing/2014/main" id="{1B6054AB-F861-F960-9572-1A21AC66741B}"/>
              </a:ext>
            </a:extLst>
          </p:cNvPr>
          <p:cNvGrpSpPr/>
          <p:nvPr/>
        </p:nvGrpSpPr>
        <p:grpSpPr>
          <a:xfrm>
            <a:off x="7257433" y="2864450"/>
            <a:ext cx="1464851" cy="365125"/>
            <a:chOff x="1493520" y="2702560"/>
            <a:chExt cx="2426168" cy="579120"/>
          </a:xfrm>
        </p:grpSpPr>
        <p:sp>
          <p:nvSpPr>
            <p:cNvPr id="14" name="Rectangle 13">
              <a:extLst>
                <a:ext uri="{FF2B5EF4-FFF2-40B4-BE49-F238E27FC236}">
                  <a16:creationId xmlns:a16="http://schemas.microsoft.com/office/drawing/2014/main" id="{6DB9A347-35E1-192C-C2A8-AC8E869BC51D}"/>
                </a:ext>
              </a:extLst>
            </p:cNvPr>
            <p:cNvSpPr/>
            <p:nvPr/>
          </p:nvSpPr>
          <p:spPr>
            <a:xfrm>
              <a:off x="1493520"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38236DBB-7C5A-1DDA-1E3E-43C74D4CE11C}"/>
                </a:ext>
              </a:extLst>
            </p:cNvPr>
            <p:cNvSpPr/>
            <p:nvPr/>
          </p:nvSpPr>
          <p:spPr>
            <a:xfrm>
              <a:off x="2710648" y="2702560"/>
              <a:ext cx="1209040" cy="5791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PK"/>
            </a:p>
          </p:txBody>
        </p:sp>
      </p:grpSp>
      <p:cxnSp>
        <p:nvCxnSpPr>
          <p:cNvPr id="20" name="Straight Arrow Connector 19">
            <a:extLst>
              <a:ext uri="{FF2B5EF4-FFF2-40B4-BE49-F238E27FC236}">
                <a16:creationId xmlns:a16="http://schemas.microsoft.com/office/drawing/2014/main" id="{095F12A2-476C-511D-B30F-71B5B79E6729}"/>
              </a:ext>
            </a:extLst>
          </p:cNvPr>
          <p:cNvCxnSpPr>
            <a:stCxn id="8" idx="3"/>
            <a:endCxn id="11" idx="1"/>
          </p:cNvCxnSpPr>
          <p:nvPr/>
        </p:nvCxnSpPr>
        <p:spPr>
          <a:xfrm flipV="1">
            <a:off x="4653280" y="3047013"/>
            <a:ext cx="50618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B5B6BDF-6600-B716-B545-1082A2B53333}"/>
              </a:ext>
            </a:extLst>
          </p:cNvPr>
          <p:cNvCxnSpPr>
            <a:stCxn id="12" idx="3"/>
            <a:endCxn id="14" idx="1"/>
          </p:cNvCxnSpPr>
          <p:nvPr/>
        </p:nvCxnSpPr>
        <p:spPr>
          <a:xfrm>
            <a:off x="6624320" y="3047013"/>
            <a:ext cx="633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89B94EA-0D5C-762A-A027-59FF3D4C6CAD}"/>
              </a:ext>
            </a:extLst>
          </p:cNvPr>
          <p:cNvSpPr/>
          <p:nvPr/>
        </p:nvSpPr>
        <p:spPr>
          <a:xfrm>
            <a:off x="1981200" y="4413035"/>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Head</a:t>
            </a:r>
            <a:endParaRPr lang="en-PK" dirty="0"/>
          </a:p>
        </p:txBody>
      </p:sp>
      <p:cxnSp>
        <p:nvCxnSpPr>
          <p:cNvPr id="25" name="Connector: Elbow 24">
            <a:extLst>
              <a:ext uri="{FF2B5EF4-FFF2-40B4-BE49-F238E27FC236}">
                <a16:creationId xmlns:a16="http://schemas.microsoft.com/office/drawing/2014/main" id="{5591345E-4A46-C51D-D4B0-2E4D3A7BEDDD}"/>
              </a:ext>
            </a:extLst>
          </p:cNvPr>
          <p:cNvCxnSpPr>
            <a:stCxn id="23" idx="0"/>
            <a:endCxn id="7" idx="1"/>
          </p:cNvCxnSpPr>
          <p:nvPr/>
        </p:nvCxnSpPr>
        <p:spPr>
          <a:xfrm rot="5400000" flipH="1" flipV="1">
            <a:off x="2084300" y="3308907"/>
            <a:ext cx="1366021" cy="84223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545521B-26EC-24DB-851B-B5D0CEF5925E}"/>
              </a:ext>
            </a:extLst>
          </p:cNvPr>
          <p:cNvSpPr/>
          <p:nvPr/>
        </p:nvSpPr>
        <p:spPr>
          <a:xfrm>
            <a:off x="9479280" y="4184832"/>
            <a:ext cx="729984" cy="45640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Tail</a:t>
            </a:r>
            <a:endParaRPr lang="en-PK" dirty="0"/>
          </a:p>
        </p:txBody>
      </p:sp>
      <p:cxnSp>
        <p:nvCxnSpPr>
          <p:cNvPr id="32" name="Connector: Elbow 31">
            <a:extLst>
              <a:ext uri="{FF2B5EF4-FFF2-40B4-BE49-F238E27FC236}">
                <a16:creationId xmlns:a16="http://schemas.microsoft.com/office/drawing/2014/main" id="{3DF628E8-3564-4749-40F9-9CB4A9ED2D7B}"/>
              </a:ext>
            </a:extLst>
          </p:cNvPr>
          <p:cNvCxnSpPr>
            <a:stCxn id="15" idx="3"/>
            <a:endCxn id="30" idx="0"/>
          </p:cNvCxnSpPr>
          <p:nvPr/>
        </p:nvCxnSpPr>
        <p:spPr>
          <a:xfrm>
            <a:off x="8722284" y="3047013"/>
            <a:ext cx="1121988" cy="11378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894E049-9F8C-92EB-9BFD-B3DE8EFA0A57}"/>
              </a:ext>
            </a:extLst>
          </p:cNvPr>
          <p:cNvCxnSpPr>
            <a:cxnSpLocks/>
            <a:endCxn id="30" idx="1"/>
          </p:cNvCxnSpPr>
          <p:nvPr/>
        </p:nvCxnSpPr>
        <p:spPr>
          <a:xfrm>
            <a:off x="6372760" y="3258972"/>
            <a:ext cx="3106520" cy="1154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7E5B0A1-EE71-5E58-7BF8-E6F2FCB3451A}"/>
              </a:ext>
            </a:extLst>
          </p:cNvPr>
          <p:cNvSpPr txBox="1"/>
          <p:nvPr/>
        </p:nvSpPr>
        <p:spPr>
          <a:xfrm>
            <a:off x="4683760" y="5762058"/>
            <a:ext cx="3505200" cy="369332"/>
          </a:xfrm>
          <a:prstGeom prst="rect">
            <a:avLst/>
          </a:prstGeom>
          <a:noFill/>
        </p:spPr>
        <p:txBody>
          <a:bodyPr wrap="square">
            <a:spAutoFit/>
          </a:bodyPr>
          <a:lstStyle/>
          <a:p>
            <a:r>
              <a:rPr lang="en-US" b="1" dirty="0">
                <a:solidFill>
                  <a:schemeClr val="accent1"/>
                </a:solidFill>
              </a:rPr>
              <a:t>Time Complexity O(n)</a:t>
            </a:r>
            <a:endParaRPr lang="en-PK" b="1" dirty="0">
              <a:solidFill>
                <a:schemeClr val="accent1"/>
              </a:solidFill>
            </a:endParaRPr>
          </a:p>
        </p:txBody>
      </p:sp>
    </p:spTree>
    <p:extLst>
      <p:ext uri="{BB962C8B-B14F-4D97-AF65-F5344CB8AC3E}">
        <p14:creationId xmlns:p14="http://schemas.microsoft.com/office/powerpoint/2010/main" val="4202832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ppt_x"/>
                                          </p:val>
                                        </p:tav>
                                        <p:tav tm="100000">
                                          <p:val>
                                            <p:strVal val="#ppt_x"/>
                                          </p:val>
                                        </p:tav>
                                      </p:tavLst>
                                    </p:anim>
                                    <p:anim calcmode="lin" valueType="num">
                                      <p:cBhvr additive="base">
                                        <p:cTn id="1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xit" presetSubtype="1" fill="hold" nodeType="clickEffect">
                                  <p:stCondLst>
                                    <p:cond delay="0"/>
                                  </p:stCondLst>
                                  <p:childTnLst>
                                    <p:animEffect transition="out" filter="wheel(1)">
                                      <p:cBhvr>
                                        <p:cTn id="17" dur="2000"/>
                                        <p:tgtEl>
                                          <p:spTgt spid="13"/>
                                        </p:tgtEl>
                                      </p:cBhvr>
                                    </p:animEffect>
                                    <p:set>
                                      <p:cBhvr>
                                        <p:cTn id="18" dur="1" fill="hold">
                                          <p:stCondLst>
                                            <p:cond delay="1999"/>
                                          </p:stCondLst>
                                        </p:cTn>
                                        <p:tgtEl>
                                          <p:spTgt spid="13"/>
                                        </p:tgtEl>
                                        <p:attrNameLst>
                                          <p:attrName>style.visibility</p:attrName>
                                        </p:attrNameLst>
                                      </p:cBhvr>
                                      <p:to>
                                        <p:strVal val="hidden"/>
                                      </p:to>
                                    </p:set>
                                  </p:childTnLst>
                                </p:cTn>
                              </p:par>
                              <p:par>
                                <p:cTn id="19" presetID="21" presetClass="exit" presetSubtype="1" fill="hold" nodeType="withEffect">
                                  <p:stCondLst>
                                    <p:cond delay="0"/>
                                  </p:stCondLst>
                                  <p:childTnLst>
                                    <p:animEffect transition="out" filter="wheel(1)">
                                      <p:cBhvr>
                                        <p:cTn id="20" dur="2000"/>
                                        <p:tgtEl>
                                          <p:spTgt spid="32"/>
                                        </p:tgtEl>
                                      </p:cBhvr>
                                    </p:animEffect>
                                    <p:set>
                                      <p:cBhvr>
                                        <p:cTn id="21" dur="1" fill="hold">
                                          <p:stCondLst>
                                            <p:cond delay="1999"/>
                                          </p:stCondLst>
                                        </p:cTn>
                                        <p:tgtEl>
                                          <p:spTgt spid="32"/>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circle(in)">
                                      <p:cBhvr>
                                        <p:cTn id="26"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20EC6-B1DA-CD86-0EDA-557C42477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2ED37-B64B-77C9-BD71-81D437042EE1}"/>
              </a:ext>
            </a:extLst>
          </p:cNvPr>
          <p:cNvSpPr>
            <a:spLocks noGrp="1"/>
          </p:cNvSpPr>
          <p:nvPr>
            <p:ph type="title"/>
          </p:nvPr>
        </p:nvSpPr>
        <p:spPr/>
        <p:txBody>
          <a:bodyPr/>
          <a:lstStyle/>
          <a:p>
            <a:r>
              <a:rPr lang="en-US" dirty="0"/>
              <a:t>Doubly linked list</a:t>
            </a:r>
            <a:endParaRPr lang="en-PK" dirty="0"/>
          </a:p>
        </p:txBody>
      </p:sp>
      <p:sp>
        <p:nvSpPr>
          <p:cNvPr id="3" name="Content Placeholder 2">
            <a:extLst>
              <a:ext uri="{FF2B5EF4-FFF2-40B4-BE49-F238E27FC236}">
                <a16:creationId xmlns:a16="http://schemas.microsoft.com/office/drawing/2014/main" id="{8006E858-6A24-B840-C2FB-D33BF9B73615}"/>
              </a:ext>
            </a:extLst>
          </p:cNvPr>
          <p:cNvSpPr>
            <a:spLocks noGrp="1"/>
          </p:cNvSpPr>
          <p:nvPr>
            <p:ph idx="1"/>
          </p:nvPr>
        </p:nvSpPr>
        <p:spPr>
          <a:xfrm>
            <a:off x="581192" y="2180496"/>
            <a:ext cx="11029615" cy="2210529"/>
          </a:xfrm>
        </p:spPr>
        <p:txBody>
          <a:bodyPr/>
          <a:lstStyle/>
          <a:p>
            <a:r>
              <a:rPr lang="en-US" b="0" i="0" dirty="0">
                <a:solidFill>
                  <a:srgbClr val="000000"/>
                </a:solidFill>
                <a:effectLst/>
                <a:latin typeface="Verdana" panose="020B0604030504040204" pitchFamily="34" charset="0"/>
              </a:rPr>
              <a:t>A </a:t>
            </a:r>
            <a:r>
              <a:rPr lang="en-US" b="1" i="0" dirty="0">
                <a:solidFill>
                  <a:srgbClr val="000000"/>
                </a:solidFill>
                <a:effectLst/>
                <a:latin typeface="Verdana" panose="020B0604030504040204" pitchFamily="34" charset="0"/>
              </a:rPr>
              <a:t>doubly linked list</a:t>
            </a:r>
            <a:r>
              <a:rPr lang="en-US" b="0" i="0" dirty="0">
                <a:solidFill>
                  <a:srgbClr val="000000"/>
                </a:solidFill>
                <a:effectLst/>
                <a:latin typeface="Verdana" panose="020B0604030504040204" pitchFamily="34" charset="0"/>
              </a:rPr>
              <a:t> has nodes with addresses to both the previous and the next node, like in the image below, and therefore takes up more memory. </a:t>
            </a:r>
          </a:p>
          <a:p>
            <a:r>
              <a:rPr lang="en-US" b="0" i="0" dirty="0">
                <a:solidFill>
                  <a:srgbClr val="000000"/>
                </a:solidFill>
                <a:effectLst/>
                <a:latin typeface="Verdana" panose="020B0604030504040204" pitchFamily="34" charset="0"/>
              </a:rPr>
              <a:t>But doubly linked lists are good if you want to be able to move both up and down in the list.</a:t>
            </a:r>
            <a:endParaRPr lang="en-PK" dirty="0"/>
          </a:p>
        </p:txBody>
      </p:sp>
      <p:sp>
        <p:nvSpPr>
          <p:cNvPr id="4" name="Date Placeholder 3">
            <a:extLst>
              <a:ext uri="{FF2B5EF4-FFF2-40B4-BE49-F238E27FC236}">
                <a16:creationId xmlns:a16="http://schemas.microsoft.com/office/drawing/2014/main" id="{E1898E18-7217-9EFF-D434-477300C9CDED}"/>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3B5F2594-591C-7E0D-A1F4-FFDF8930D577}"/>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37D46AC0-E2C7-FEA2-D958-23CFE096D559}"/>
              </a:ext>
            </a:extLst>
          </p:cNvPr>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5122" name="Picture 2" descr="Doubly linked list">
            <a:extLst>
              <a:ext uri="{FF2B5EF4-FFF2-40B4-BE49-F238E27FC236}">
                <a16:creationId xmlns:a16="http://schemas.microsoft.com/office/drawing/2014/main" id="{EA0D87E8-B2E9-74D4-EF97-CA14AF65D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961" y="4207230"/>
            <a:ext cx="6696075"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994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291BD-D7A1-A423-AE55-B66126E5E736}"/>
              </a:ext>
            </a:extLst>
          </p:cNvPr>
          <p:cNvSpPr>
            <a:spLocks noGrp="1"/>
          </p:cNvSpPr>
          <p:nvPr>
            <p:ph type="title"/>
          </p:nvPr>
        </p:nvSpPr>
        <p:spPr/>
        <p:txBody>
          <a:bodyPr/>
          <a:lstStyle/>
          <a:p>
            <a:r>
              <a:rPr lang="en-US" dirty="0"/>
              <a:t>Doubly linked list</a:t>
            </a:r>
            <a:endParaRPr lang="en-PK" dirty="0"/>
          </a:p>
        </p:txBody>
      </p:sp>
      <p:sp>
        <p:nvSpPr>
          <p:cNvPr id="3" name="Content Placeholder 2">
            <a:extLst>
              <a:ext uri="{FF2B5EF4-FFF2-40B4-BE49-F238E27FC236}">
                <a16:creationId xmlns:a16="http://schemas.microsoft.com/office/drawing/2014/main" id="{05E7AEF2-2B8F-08F2-4F9E-C2FC765DE63D}"/>
              </a:ext>
            </a:extLst>
          </p:cNvPr>
          <p:cNvSpPr>
            <a:spLocks noGrp="1"/>
          </p:cNvSpPr>
          <p:nvPr>
            <p:ph idx="1"/>
          </p:nvPr>
        </p:nvSpPr>
        <p:spPr/>
        <p:txBody>
          <a:bodyPr/>
          <a:lstStyle/>
          <a:p>
            <a:pPr algn="just"/>
            <a:r>
              <a:rPr lang="en-US" b="0" i="0" dirty="0">
                <a:solidFill>
                  <a:srgbClr val="2B2A29"/>
                </a:solidFill>
                <a:effectLst/>
                <a:latin typeface="montserrat" panose="00000500000000000000" pitchFamily="2" charset="0"/>
              </a:rPr>
              <a:t>In a singly linked list, we could traverse only in one direction, because each node contains address of the next node and it doesn't have any record of its previous nodes. </a:t>
            </a:r>
          </a:p>
          <a:p>
            <a:pPr algn="just"/>
            <a:r>
              <a:rPr lang="en-US" b="0" i="0" dirty="0">
                <a:solidFill>
                  <a:srgbClr val="2B2A29"/>
                </a:solidFill>
                <a:effectLst/>
                <a:latin typeface="montserrat" panose="00000500000000000000" pitchFamily="2" charset="0"/>
              </a:rPr>
              <a:t>However, doubly linked list overcome this limitation of singly linked list. </a:t>
            </a:r>
          </a:p>
          <a:p>
            <a:pPr algn="just"/>
            <a:r>
              <a:rPr lang="en-US" b="0" i="0" dirty="0">
                <a:solidFill>
                  <a:srgbClr val="2B2A29"/>
                </a:solidFill>
                <a:effectLst/>
                <a:latin typeface="montserrat" panose="00000500000000000000" pitchFamily="2" charset="0"/>
              </a:rPr>
              <a:t>Due to the fact that, each node of the list contains the address of its previous node, we can find all the details about the previous node as well by using the previous address stored inside the previous part of each node.</a:t>
            </a:r>
            <a:endParaRPr lang="en-PK" dirty="0"/>
          </a:p>
        </p:txBody>
      </p:sp>
      <p:sp>
        <p:nvSpPr>
          <p:cNvPr id="4" name="Date Placeholder 3">
            <a:extLst>
              <a:ext uri="{FF2B5EF4-FFF2-40B4-BE49-F238E27FC236}">
                <a16:creationId xmlns:a16="http://schemas.microsoft.com/office/drawing/2014/main" id="{3E338E06-7EF3-3E26-5C3E-9856F57D7300}"/>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90B69C5A-5F29-3F29-6A49-D08D538B4394}"/>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3B008B7B-AEC1-560C-6F6F-C29ABD0C6DAA}"/>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209806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44BA-7C54-039D-D1A7-6F3336183F5A}"/>
              </a:ext>
            </a:extLst>
          </p:cNvPr>
          <p:cNvSpPr>
            <a:spLocks noGrp="1"/>
          </p:cNvSpPr>
          <p:nvPr>
            <p:ph type="title"/>
          </p:nvPr>
        </p:nvSpPr>
        <p:spPr/>
        <p:txBody>
          <a:bodyPr>
            <a:normAutofit/>
          </a:bodyPr>
          <a:lstStyle/>
          <a:p>
            <a:r>
              <a:rPr lang="en-US" sz="2400" i="0" dirty="0">
                <a:solidFill>
                  <a:srgbClr val="1D1D27"/>
                </a:solidFill>
                <a:effectLst/>
                <a:latin typeface="montserrat" panose="00000500000000000000" pitchFamily="2" charset="0"/>
              </a:rPr>
              <a:t>Memory Representation of a doubly linked list</a:t>
            </a:r>
            <a:endParaRPr lang="en-PK" sz="2400" dirty="0"/>
          </a:p>
        </p:txBody>
      </p:sp>
      <p:sp>
        <p:nvSpPr>
          <p:cNvPr id="3" name="Content Placeholder 2">
            <a:extLst>
              <a:ext uri="{FF2B5EF4-FFF2-40B4-BE49-F238E27FC236}">
                <a16:creationId xmlns:a16="http://schemas.microsoft.com/office/drawing/2014/main" id="{10F7E1F9-73D5-9171-8430-03446BA2CF9C}"/>
              </a:ext>
            </a:extLst>
          </p:cNvPr>
          <p:cNvSpPr>
            <a:spLocks noGrp="1"/>
          </p:cNvSpPr>
          <p:nvPr>
            <p:ph idx="1"/>
          </p:nvPr>
        </p:nvSpPr>
        <p:spPr/>
        <p:txBody>
          <a:bodyPr>
            <a:normAutofit/>
          </a:bodyPr>
          <a:lstStyle/>
          <a:p>
            <a:pPr algn="just"/>
            <a:r>
              <a:rPr lang="en-US" b="0" i="0" dirty="0">
                <a:solidFill>
                  <a:srgbClr val="2B2A29"/>
                </a:solidFill>
                <a:effectLst/>
                <a:latin typeface="montserrat" panose="00000500000000000000" pitchFamily="2" charset="0"/>
              </a:rPr>
              <a:t>Memory Representation of a doubly linked list is shown in the following image. Generally, doubly linked list consumes more space for every node and therefore, causes more expansive basic operations such as insertion and deletion. However, we can easily manipulate the elements of the list since the list maintains pointers in both the directions (forward and backward).</a:t>
            </a:r>
          </a:p>
          <a:p>
            <a:pPr algn="just"/>
            <a:r>
              <a:rPr lang="en-US" b="0" i="0" dirty="0">
                <a:solidFill>
                  <a:srgbClr val="2B2A29"/>
                </a:solidFill>
                <a:effectLst/>
                <a:latin typeface="montserrat" panose="00000500000000000000" pitchFamily="2" charset="0"/>
              </a:rPr>
              <a:t>In the following image, the first element of the list that is i.e. 13 stored at address 1. The head pointer points to the starting address 1. Since this is the first element being added to the list therefore the </a:t>
            </a:r>
            <a:r>
              <a:rPr lang="en-US" b="1" i="0" dirty="0" err="1">
                <a:solidFill>
                  <a:srgbClr val="2B2A29"/>
                </a:solidFill>
                <a:effectLst/>
                <a:latin typeface="montserrat" panose="00000500000000000000" pitchFamily="2" charset="0"/>
              </a:rPr>
              <a:t>prev</a:t>
            </a:r>
            <a:r>
              <a:rPr lang="en-US" b="0" i="0" dirty="0">
                <a:solidFill>
                  <a:srgbClr val="2B2A29"/>
                </a:solidFill>
                <a:effectLst/>
                <a:latin typeface="montserrat" panose="00000500000000000000" pitchFamily="2" charset="0"/>
              </a:rPr>
              <a:t> of the list </a:t>
            </a:r>
            <a:r>
              <a:rPr lang="en-US" b="1" i="0" dirty="0">
                <a:solidFill>
                  <a:srgbClr val="2B2A29"/>
                </a:solidFill>
                <a:effectLst/>
                <a:latin typeface="montserrat" panose="00000500000000000000" pitchFamily="2" charset="0"/>
              </a:rPr>
              <a:t>contains</a:t>
            </a:r>
            <a:r>
              <a:rPr lang="en-US" b="0" i="0" dirty="0">
                <a:solidFill>
                  <a:srgbClr val="2B2A29"/>
                </a:solidFill>
                <a:effectLst/>
                <a:latin typeface="montserrat" panose="00000500000000000000" pitchFamily="2" charset="0"/>
              </a:rPr>
              <a:t> null. The next node of the list resides at address 4 therefore the first node contains 4 in its next pointer.</a:t>
            </a:r>
          </a:p>
          <a:p>
            <a:pPr algn="just"/>
            <a:r>
              <a:rPr lang="en-US" b="0" i="0" dirty="0">
                <a:solidFill>
                  <a:srgbClr val="2B2A29"/>
                </a:solidFill>
                <a:effectLst/>
                <a:latin typeface="montserrat" panose="00000500000000000000" pitchFamily="2" charset="0"/>
              </a:rPr>
              <a:t>We can traverse the list in this way until we find any node containing null or -1 in its next part.</a:t>
            </a:r>
          </a:p>
          <a:p>
            <a:endParaRPr lang="en-PK" dirty="0"/>
          </a:p>
        </p:txBody>
      </p:sp>
      <p:sp>
        <p:nvSpPr>
          <p:cNvPr id="4" name="Date Placeholder 3">
            <a:extLst>
              <a:ext uri="{FF2B5EF4-FFF2-40B4-BE49-F238E27FC236}">
                <a16:creationId xmlns:a16="http://schemas.microsoft.com/office/drawing/2014/main" id="{31EFC7BB-85CF-03A5-3DD5-7CD5721C297D}"/>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0EECA21E-A51A-9062-B94B-AEBC6B5CE76B}"/>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E2606361-E055-DE56-AF1D-E8EA29BC3155}"/>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1245837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5F5CD-1498-2286-3F79-CE6EE92F3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4A39E-3164-9EFE-0D0C-8BB75D70A04E}"/>
              </a:ext>
            </a:extLst>
          </p:cNvPr>
          <p:cNvSpPr>
            <a:spLocks noGrp="1"/>
          </p:cNvSpPr>
          <p:nvPr>
            <p:ph type="title"/>
          </p:nvPr>
        </p:nvSpPr>
        <p:spPr/>
        <p:txBody>
          <a:bodyPr/>
          <a:lstStyle/>
          <a:p>
            <a:r>
              <a:rPr lang="en-US" dirty="0"/>
              <a:t>Circular linked list</a:t>
            </a:r>
            <a:endParaRPr lang="en-PK" dirty="0"/>
          </a:p>
        </p:txBody>
      </p:sp>
      <p:sp>
        <p:nvSpPr>
          <p:cNvPr id="3" name="Content Placeholder 2">
            <a:extLst>
              <a:ext uri="{FF2B5EF4-FFF2-40B4-BE49-F238E27FC236}">
                <a16:creationId xmlns:a16="http://schemas.microsoft.com/office/drawing/2014/main" id="{474C8133-61B4-10B3-84D7-F7E9F92CBF82}"/>
              </a:ext>
            </a:extLst>
          </p:cNvPr>
          <p:cNvSpPr>
            <a:spLocks noGrp="1"/>
          </p:cNvSpPr>
          <p:nvPr>
            <p:ph idx="1"/>
          </p:nvPr>
        </p:nvSpPr>
        <p:spPr/>
        <p:txBody>
          <a:bodyPr/>
          <a:lstStyle/>
          <a:p>
            <a:pPr algn="l"/>
            <a:r>
              <a:rPr lang="en-US" b="0" i="0" dirty="0">
                <a:solidFill>
                  <a:srgbClr val="000000"/>
                </a:solidFill>
                <a:effectLst/>
                <a:latin typeface="Verdana" panose="020B0604030504040204" pitchFamily="34" charset="0"/>
              </a:rPr>
              <a:t>A </a:t>
            </a:r>
            <a:r>
              <a:rPr lang="en-US" b="1" i="0" dirty="0">
                <a:solidFill>
                  <a:srgbClr val="000000"/>
                </a:solidFill>
                <a:effectLst/>
                <a:latin typeface="Verdana" panose="020B0604030504040204" pitchFamily="34" charset="0"/>
              </a:rPr>
              <a:t>circular linked list</a:t>
            </a:r>
            <a:r>
              <a:rPr lang="en-US" b="0" i="0" dirty="0">
                <a:solidFill>
                  <a:srgbClr val="000000"/>
                </a:solidFill>
                <a:effectLst/>
                <a:latin typeface="Verdana" panose="020B0604030504040204" pitchFamily="34" charset="0"/>
              </a:rPr>
              <a:t> is like a singly or doubly linked list with the first node, the "head", and the last node, the "tail", connected.</a:t>
            </a:r>
          </a:p>
          <a:p>
            <a:pPr algn="l"/>
            <a:r>
              <a:rPr lang="en-US" b="0" i="0" dirty="0">
                <a:solidFill>
                  <a:srgbClr val="000000"/>
                </a:solidFill>
                <a:effectLst/>
                <a:latin typeface="Verdana" panose="020B0604030504040204" pitchFamily="34" charset="0"/>
              </a:rPr>
              <a:t>In singly or doubly linked lists, we can find the start and end of a list by just checking if the links are </a:t>
            </a:r>
            <a:r>
              <a:rPr lang="en-US" b="0" i="0" dirty="0">
                <a:solidFill>
                  <a:srgbClr val="DC143C"/>
                </a:solidFill>
                <a:effectLst/>
                <a:latin typeface="Consolas" panose="020B0609020204030204" pitchFamily="49" charset="0"/>
              </a:rPr>
              <a:t>null</a:t>
            </a:r>
            <a:r>
              <a:rPr lang="en-US" b="0" i="0" dirty="0">
                <a:solidFill>
                  <a:srgbClr val="000000"/>
                </a:solidFill>
                <a:effectLst/>
                <a:latin typeface="Verdana" panose="020B0604030504040204" pitchFamily="34" charset="0"/>
              </a:rPr>
              <a:t>. But for circular linked lists, more complex code is needed to explicitly check for start and end nodes in certain applications.</a:t>
            </a:r>
          </a:p>
          <a:p>
            <a:pPr algn="l"/>
            <a:r>
              <a:rPr lang="en-US" b="0" i="0" dirty="0">
                <a:solidFill>
                  <a:srgbClr val="000000"/>
                </a:solidFill>
                <a:effectLst/>
                <a:latin typeface="Verdana" panose="020B0604030504040204" pitchFamily="34" charset="0"/>
              </a:rPr>
              <a:t>Circular linked lists are good for lists you need to cycle through continuously.</a:t>
            </a:r>
          </a:p>
          <a:p>
            <a:pPr algn="l"/>
            <a:r>
              <a:rPr lang="en-US" b="0" i="0" dirty="0">
                <a:solidFill>
                  <a:srgbClr val="000000"/>
                </a:solidFill>
                <a:effectLst/>
                <a:latin typeface="Verdana" panose="020B0604030504040204" pitchFamily="34" charset="0"/>
              </a:rPr>
              <a:t>The image below is an example of a singly circular linked list:</a:t>
            </a:r>
          </a:p>
          <a:p>
            <a:endParaRPr lang="en-PK" dirty="0"/>
          </a:p>
        </p:txBody>
      </p:sp>
      <p:sp>
        <p:nvSpPr>
          <p:cNvPr id="4" name="Date Placeholder 3">
            <a:extLst>
              <a:ext uri="{FF2B5EF4-FFF2-40B4-BE49-F238E27FC236}">
                <a16:creationId xmlns:a16="http://schemas.microsoft.com/office/drawing/2014/main" id="{D1EA027C-9F22-4605-378B-125AD0C940B6}"/>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4C7B7FDE-76C1-DBEE-C62B-0390E0692C98}"/>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70BFD05D-3C9B-33D6-D592-2493047E9B65}"/>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932552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B8F7E-1C60-1DE0-0BAD-4F36049E2F27}"/>
            </a:ext>
          </a:extLst>
        </p:cNvPr>
        <p:cNvGrpSpPr/>
        <p:nvPr/>
      </p:nvGrpSpPr>
      <p:grpSpPr>
        <a:xfrm>
          <a:off x="0" y="0"/>
          <a:ext cx="0" cy="0"/>
          <a:chOff x="0" y="0"/>
          <a:chExt cx="0" cy="0"/>
        </a:xfrm>
      </p:grpSpPr>
      <p:pic>
        <p:nvPicPr>
          <p:cNvPr id="6146" name="Picture 2" descr="Doubly linked list">
            <a:extLst>
              <a:ext uri="{FF2B5EF4-FFF2-40B4-BE49-F238E27FC236}">
                <a16:creationId xmlns:a16="http://schemas.microsoft.com/office/drawing/2014/main" id="{603FF54B-5853-FE2A-94A3-E6D9C432F7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92487" y="620713"/>
            <a:ext cx="7207025" cy="6169025"/>
          </a:xfrm>
          <a:prstGeom prst="rect">
            <a:avLst/>
          </a:prstGeom>
          <a:solidFill>
            <a:srgbClr val="FFFFFF"/>
          </a:solidFill>
        </p:spPr>
      </p:pic>
      <p:sp>
        <p:nvSpPr>
          <p:cNvPr id="4" name="Date Placeholder 3" hidden="1">
            <a:extLst>
              <a:ext uri="{FF2B5EF4-FFF2-40B4-BE49-F238E27FC236}">
                <a16:creationId xmlns:a16="http://schemas.microsoft.com/office/drawing/2014/main" id="{20FD6151-3A0B-2A46-F580-753BDC54E86E}"/>
              </a:ext>
            </a:extLst>
          </p:cNvPr>
          <p:cNvSpPr>
            <a:spLocks noGrp="1"/>
          </p:cNvSpPr>
          <p:nvPr>
            <p:ph type="dt" sz="half" idx="10"/>
          </p:nvPr>
        </p:nvSpPr>
        <p:spPr/>
        <p:txBody>
          <a:bodyPr/>
          <a:lstStyle/>
          <a:p>
            <a:pPr>
              <a:spcAft>
                <a:spcPts val="600"/>
              </a:spcAft>
            </a:pPr>
            <a:fld id="{E99B68EB-34CE-40AD-9008-FF96287658FF}" type="datetime1">
              <a:rPr lang="en-US" smtClean="0"/>
              <a:pPr>
                <a:spcAft>
                  <a:spcPts val="600"/>
                </a:spcAft>
              </a:pPr>
              <a:t>7/21/2025</a:t>
            </a:fld>
            <a:endParaRPr lang="en-US"/>
          </a:p>
        </p:txBody>
      </p:sp>
      <p:sp>
        <p:nvSpPr>
          <p:cNvPr id="5" name="Footer Placeholder 4">
            <a:extLst>
              <a:ext uri="{FF2B5EF4-FFF2-40B4-BE49-F238E27FC236}">
                <a16:creationId xmlns:a16="http://schemas.microsoft.com/office/drawing/2014/main" id="{4202F1C3-01C3-6411-B09E-7B2728832C21}"/>
              </a:ext>
            </a:extLst>
          </p:cNvPr>
          <p:cNvSpPr>
            <a:spLocks noGrp="1"/>
          </p:cNvSpPr>
          <p:nvPr>
            <p:ph type="ftr" sz="quarter" idx="11"/>
          </p:nvPr>
        </p:nvSpPr>
        <p:spPr/>
        <p:txBody>
          <a:bodyPr/>
          <a:lstStyle/>
          <a:p>
            <a:pPr>
              <a:spcAft>
                <a:spcPts val="600"/>
              </a:spcAft>
            </a:pPr>
            <a:r>
              <a:rPr lang="en-US"/>
              <a:t>m.saleem@duet.edu.pk</a:t>
            </a:r>
          </a:p>
        </p:txBody>
      </p:sp>
      <p:sp>
        <p:nvSpPr>
          <p:cNvPr id="6" name="Slide Number Placeholder 5" hidden="1">
            <a:extLst>
              <a:ext uri="{FF2B5EF4-FFF2-40B4-BE49-F238E27FC236}">
                <a16:creationId xmlns:a16="http://schemas.microsoft.com/office/drawing/2014/main" id="{6CB4B39F-425C-72E3-EB72-C021F8F9584B}"/>
              </a:ext>
            </a:extLst>
          </p:cNvPr>
          <p:cNvSpPr>
            <a:spLocks noGrp="1"/>
          </p:cNvSpPr>
          <p:nvPr>
            <p:ph type="sldNum" sz="quarter" idx="12"/>
          </p:nvPr>
        </p:nvSpPr>
        <p:spPr/>
        <p:txBody>
          <a:bodyPr/>
          <a:lstStyle/>
          <a:p>
            <a:pPr>
              <a:spcAft>
                <a:spcPts val="600"/>
              </a:spcAft>
            </a:pPr>
            <a:fld id="{D57F1E4F-1CFF-5643-939E-217C01CDF565}" type="slidenum">
              <a:rPr lang="en-US" smtClean="0"/>
              <a:pPr>
                <a:spcAft>
                  <a:spcPts val="600"/>
                </a:spcAft>
              </a:pPr>
              <a:t>24</a:t>
            </a:fld>
            <a:endParaRPr lang="en-US"/>
          </a:p>
        </p:txBody>
      </p:sp>
    </p:spTree>
    <p:extLst>
      <p:ext uri="{BB962C8B-B14F-4D97-AF65-F5344CB8AC3E}">
        <p14:creationId xmlns:p14="http://schemas.microsoft.com/office/powerpoint/2010/main" val="1421078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8CF4-7DD8-EC58-A592-594C41ADAE59}"/>
              </a:ext>
            </a:extLst>
          </p:cNvPr>
          <p:cNvSpPr>
            <a:spLocks noGrp="1"/>
          </p:cNvSpPr>
          <p:nvPr>
            <p:ph type="title"/>
          </p:nvPr>
        </p:nvSpPr>
        <p:spPr>
          <a:xfrm>
            <a:off x="581193" y="729658"/>
            <a:ext cx="11029616" cy="988332"/>
          </a:xfrm>
        </p:spPr>
        <p:txBody>
          <a:bodyPr anchor="b">
            <a:normAutofit/>
          </a:bodyPr>
          <a:lstStyle/>
          <a:p>
            <a:r>
              <a:rPr lang="en-US" dirty="0"/>
              <a:t>Circular linked list</a:t>
            </a:r>
            <a:endParaRPr lang="en-PK" dirty="0"/>
          </a:p>
        </p:txBody>
      </p:sp>
      <p:pic>
        <p:nvPicPr>
          <p:cNvPr id="7170" name="Picture 2" descr="Circular Singly Linked List">
            <a:extLst>
              <a:ext uri="{FF2B5EF4-FFF2-40B4-BE49-F238E27FC236}">
                <a16:creationId xmlns:a16="http://schemas.microsoft.com/office/drawing/2014/main" id="{1325A022-7C9F-95B9-9D7E-3BAEF3E0A2D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1193" y="3069178"/>
            <a:ext cx="5422390" cy="1950696"/>
          </a:xfrm>
          <a:prstGeom prst="rect">
            <a:avLst/>
          </a:prstGeom>
          <a:solidFill>
            <a:srgbClr val="FFFFFF"/>
          </a:solidFill>
        </p:spPr>
      </p:pic>
      <p:sp>
        <p:nvSpPr>
          <p:cNvPr id="3" name="Content Placeholder 2">
            <a:extLst>
              <a:ext uri="{FF2B5EF4-FFF2-40B4-BE49-F238E27FC236}">
                <a16:creationId xmlns:a16="http://schemas.microsoft.com/office/drawing/2014/main" id="{E3A68F86-3F53-C94C-5705-9F17EDD76386}"/>
              </a:ext>
            </a:extLst>
          </p:cNvPr>
          <p:cNvSpPr>
            <a:spLocks noGrp="1"/>
          </p:cNvSpPr>
          <p:nvPr>
            <p:ph sz="half" idx="2"/>
          </p:nvPr>
        </p:nvSpPr>
        <p:spPr>
          <a:xfrm>
            <a:off x="6188417" y="2228003"/>
            <a:ext cx="5422392" cy="3633047"/>
          </a:xfrm>
        </p:spPr>
        <p:txBody>
          <a:bodyPr anchor="ctr">
            <a:normAutofit/>
          </a:bodyPr>
          <a:lstStyle/>
          <a:p>
            <a:pPr algn="just">
              <a:lnSpc>
                <a:spcPct val="90000"/>
              </a:lnSpc>
            </a:pPr>
            <a:r>
              <a:rPr lang="en-US" b="0" i="0" dirty="0">
                <a:effectLst/>
              </a:rPr>
              <a:t>A </a:t>
            </a:r>
            <a:r>
              <a:rPr lang="en-US" b="1" i="0" dirty="0">
                <a:effectLst/>
              </a:rPr>
              <a:t>circular linked list</a:t>
            </a:r>
            <a:r>
              <a:rPr lang="en-US" b="0" i="0" dirty="0">
                <a:effectLst/>
              </a:rPr>
              <a:t> is like a singly or doubly linked list with the first node, the "head", and the last node, the "tail", connected.</a:t>
            </a:r>
          </a:p>
          <a:p>
            <a:pPr algn="just">
              <a:lnSpc>
                <a:spcPct val="90000"/>
              </a:lnSpc>
            </a:pPr>
            <a:r>
              <a:rPr lang="en-US" b="0" i="0" dirty="0">
                <a:effectLst/>
              </a:rPr>
              <a:t>In singly or doubly linked lists, we can find the start and end of a list by just checking if the links are null. But for circular linked lists, more complex code is needed to explicitly check for start and end nodes in certain applications.</a:t>
            </a:r>
          </a:p>
          <a:p>
            <a:pPr algn="just">
              <a:lnSpc>
                <a:spcPct val="90000"/>
              </a:lnSpc>
            </a:pPr>
            <a:r>
              <a:rPr lang="en-US" b="0" i="0" dirty="0">
                <a:effectLst/>
              </a:rPr>
              <a:t>Circular linked lists are good for lists you need to cycle through continuously.</a:t>
            </a:r>
          </a:p>
          <a:p>
            <a:pPr algn="just">
              <a:lnSpc>
                <a:spcPct val="90000"/>
              </a:lnSpc>
            </a:pPr>
            <a:r>
              <a:rPr lang="en-US" b="0" i="0" dirty="0">
                <a:effectLst/>
              </a:rPr>
              <a:t>The image below is an example of a singly circular linked list:</a:t>
            </a:r>
          </a:p>
        </p:txBody>
      </p:sp>
      <p:sp>
        <p:nvSpPr>
          <p:cNvPr id="4" name="Date Placeholder 3">
            <a:extLst>
              <a:ext uri="{FF2B5EF4-FFF2-40B4-BE49-F238E27FC236}">
                <a16:creationId xmlns:a16="http://schemas.microsoft.com/office/drawing/2014/main" id="{352D361F-7227-E6C0-3424-7B58EE5A8326}"/>
              </a:ext>
            </a:extLst>
          </p:cNvPr>
          <p:cNvSpPr>
            <a:spLocks noGrp="1"/>
          </p:cNvSpPr>
          <p:nvPr>
            <p:ph type="dt" sz="half" idx="10"/>
          </p:nvPr>
        </p:nvSpPr>
        <p:spPr>
          <a:xfrm>
            <a:off x="7605951" y="5956137"/>
            <a:ext cx="2844799" cy="365125"/>
          </a:xfrm>
        </p:spPr>
        <p:txBody>
          <a:bodyPr anchor="ctr">
            <a:normAutofit/>
          </a:bodyPr>
          <a:lstStyle/>
          <a:p>
            <a:pPr>
              <a:spcAft>
                <a:spcPts val="600"/>
              </a:spcAft>
            </a:pPr>
            <a:fld id="{E99B68EB-34CE-40AD-9008-FF96287658FF}" type="datetime1">
              <a:rPr lang="en-US" smtClean="0"/>
              <a:pPr>
                <a:spcAft>
                  <a:spcPts val="600"/>
                </a:spcAft>
              </a:pPr>
              <a:t>7/21/2025</a:t>
            </a:fld>
            <a:endParaRPr lang="en-US"/>
          </a:p>
        </p:txBody>
      </p:sp>
      <p:sp>
        <p:nvSpPr>
          <p:cNvPr id="5" name="Footer Placeholder 4">
            <a:extLst>
              <a:ext uri="{FF2B5EF4-FFF2-40B4-BE49-F238E27FC236}">
                <a16:creationId xmlns:a16="http://schemas.microsoft.com/office/drawing/2014/main" id="{274E3806-BEDE-22AC-F74A-B3D82EBF8D7B}"/>
              </a:ext>
            </a:extLst>
          </p:cNvPr>
          <p:cNvSpPr>
            <a:spLocks noGrp="1"/>
          </p:cNvSpPr>
          <p:nvPr>
            <p:ph type="ftr" sz="quarter" idx="11"/>
          </p:nvPr>
        </p:nvSpPr>
        <p:spPr>
          <a:xfrm>
            <a:off x="581192" y="5951811"/>
            <a:ext cx="6917210" cy="365125"/>
          </a:xfrm>
        </p:spPr>
        <p:txBody>
          <a:bodyPr anchor="ctr">
            <a:normAutofit/>
          </a:bodyPr>
          <a:lstStyle/>
          <a:p>
            <a:pPr>
              <a:spcAft>
                <a:spcPts val="600"/>
              </a:spcAft>
            </a:pPr>
            <a:r>
              <a:rPr lang="en-US"/>
              <a:t>m.saleem@duet.edu.pk</a:t>
            </a:r>
          </a:p>
        </p:txBody>
      </p:sp>
      <p:sp>
        <p:nvSpPr>
          <p:cNvPr id="6" name="Slide Number Placeholder 5">
            <a:extLst>
              <a:ext uri="{FF2B5EF4-FFF2-40B4-BE49-F238E27FC236}">
                <a16:creationId xmlns:a16="http://schemas.microsoft.com/office/drawing/2014/main" id="{2EF768FF-B813-7824-DEFC-79BC73B8C829}"/>
              </a:ext>
            </a:extLst>
          </p:cNvPr>
          <p:cNvSpPr>
            <a:spLocks noGrp="1"/>
          </p:cNvSpPr>
          <p:nvPr>
            <p:ph type="sldNum" sz="quarter" idx="12"/>
          </p:nvPr>
        </p:nvSpPr>
        <p:spPr>
          <a:xfrm>
            <a:off x="10558300" y="5956137"/>
            <a:ext cx="1052510" cy="365125"/>
          </a:xfrm>
        </p:spPr>
        <p:txBody>
          <a:bodyPr anchor="ctr">
            <a:normAutofit/>
          </a:bodyPr>
          <a:lstStyle/>
          <a:p>
            <a:pPr>
              <a:spcAft>
                <a:spcPts val="600"/>
              </a:spcAft>
            </a:pPr>
            <a:fld id="{D57F1E4F-1CFF-5643-939E-217C01CDF565}" type="slidenum">
              <a:rPr lang="en-US" smtClean="0"/>
              <a:pPr>
                <a:spcAft>
                  <a:spcPts val="600"/>
                </a:spcAft>
              </a:pPr>
              <a:t>25</a:t>
            </a:fld>
            <a:endParaRPr lang="en-US"/>
          </a:p>
        </p:txBody>
      </p:sp>
    </p:spTree>
    <p:extLst>
      <p:ext uri="{BB962C8B-B14F-4D97-AF65-F5344CB8AC3E}">
        <p14:creationId xmlns:p14="http://schemas.microsoft.com/office/powerpoint/2010/main" val="76791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79409-F746-297D-D550-E3B83388C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428BC-9D87-B55E-A515-5685C4E05FF0}"/>
              </a:ext>
            </a:extLst>
          </p:cNvPr>
          <p:cNvSpPr>
            <a:spLocks noGrp="1"/>
          </p:cNvSpPr>
          <p:nvPr>
            <p:ph type="title"/>
          </p:nvPr>
        </p:nvSpPr>
        <p:spPr/>
        <p:txBody>
          <a:bodyPr/>
          <a:lstStyle/>
          <a:p>
            <a:r>
              <a:rPr lang="en-US" dirty="0"/>
              <a:t>Circular linked list uses</a:t>
            </a:r>
            <a:endParaRPr lang="en-PK" dirty="0"/>
          </a:p>
        </p:txBody>
      </p:sp>
      <p:sp>
        <p:nvSpPr>
          <p:cNvPr id="3" name="Content Placeholder 2">
            <a:extLst>
              <a:ext uri="{FF2B5EF4-FFF2-40B4-BE49-F238E27FC236}">
                <a16:creationId xmlns:a16="http://schemas.microsoft.com/office/drawing/2014/main" id="{B0D2DF50-49F9-C4C4-2C72-C21990F49413}"/>
              </a:ext>
            </a:extLst>
          </p:cNvPr>
          <p:cNvSpPr>
            <a:spLocks noGrp="1"/>
          </p:cNvSpPr>
          <p:nvPr>
            <p:ph idx="1"/>
          </p:nvPr>
        </p:nvSpPr>
        <p:spPr/>
        <p:txBody>
          <a:bodyPr/>
          <a:lstStyle/>
          <a:p>
            <a:r>
              <a:rPr lang="en-US" b="0" i="0" dirty="0">
                <a:solidFill>
                  <a:srgbClr val="2B2A29"/>
                </a:solidFill>
                <a:effectLst/>
                <a:latin typeface="montserrat" panose="00000500000000000000" pitchFamily="2" charset="0"/>
              </a:rPr>
              <a:t>Circular linked list are mostly used in task maintenance in operating systems. There are many examples where circular linked list are being used in computer science including browser surfing where a record of pages visited in the past by the user, is maintained in the form of circular linked lists and can be accessed again on clicking the previous button.</a:t>
            </a:r>
            <a:endParaRPr lang="en-PK" dirty="0"/>
          </a:p>
        </p:txBody>
      </p:sp>
      <p:sp>
        <p:nvSpPr>
          <p:cNvPr id="4" name="Date Placeholder 3">
            <a:extLst>
              <a:ext uri="{FF2B5EF4-FFF2-40B4-BE49-F238E27FC236}">
                <a16:creationId xmlns:a16="http://schemas.microsoft.com/office/drawing/2014/main" id="{37C84CBA-5BCA-B34C-DE9E-11C8973DA6F5}"/>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9CA69B81-890D-5962-E123-F9075B24FEF0}"/>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7E36750E-8637-269C-9AE1-AA1E40E4A6FB}"/>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3204953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39E9-45C1-F025-0A10-DF2E48A24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B05C4-AD61-A201-BF88-054EFEC83996}"/>
              </a:ext>
            </a:extLst>
          </p:cNvPr>
          <p:cNvSpPr>
            <a:spLocks noGrp="1"/>
          </p:cNvSpPr>
          <p:nvPr>
            <p:ph type="title"/>
          </p:nvPr>
        </p:nvSpPr>
        <p:spPr/>
        <p:txBody>
          <a:bodyPr>
            <a:normAutofit/>
          </a:bodyPr>
          <a:lstStyle/>
          <a:p>
            <a:r>
              <a:rPr lang="en-US" sz="2400" i="0" dirty="0">
                <a:solidFill>
                  <a:srgbClr val="1D1D27"/>
                </a:solidFill>
                <a:effectLst/>
                <a:latin typeface="montserrat" panose="00000500000000000000" pitchFamily="2" charset="0"/>
              </a:rPr>
              <a:t>Memory Representation of circular linked list</a:t>
            </a:r>
            <a:endParaRPr lang="en-PK" sz="2400" dirty="0"/>
          </a:p>
        </p:txBody>
      </p:sp>
      <p:sp>
        <p:nvSpPr>
          <p:cNvPr id="3" name="Content Placeholder 2">
            <a:extLst>
              <a:ext uri="{FF2B5EF4-FFF2-40B4-BE49-F238E27FC236}">
                <a16:creationId xmlns:a16="http://schemas.microsoft.com/office/drawing/2014/main" id="{F3820980-63BC-BA0D-3CBA-DC35E4784801}"/>
              </a:ext>
            </a:extLst>
          </p:cNvPr>
          <p:cNvSpPr>
            <a:spLocks noGrp="1"/>
          </p:cNvSpPr>
          <p:nvPr>
            <p:ph idx="1"/>
          </p:nvPr>
        </p:nvSpPr>
        <p:spPr/>
        <p:txBody>
          <a:bodyPr/>
          <a:lstStyle/>
          <a:p>
            <a:pPr algn="just"/>
            <a:r>
              <a:rPr lang="en-US" b="0" i="0" dirty="0">
                <a:solidFill>
                  <a:srgbClr val="2B2A29"/>
                </a:solidFill>
                <a:effectLst/>
                <a:latin typeface="montserrat" panose="00000500000000000000" pitchFamily="2" charset="0"/>
              </a:rPr>
              <a:t>In the image on the next slide, memory representation of a circular linked list containing marks of a student in 4 subjects. However, the image shows a glimpse of how the circular list is being stored in the memory. </a:t>
            </a:r>
          </a:p>
          <a:p>
            <a:pPr algn="just"/>
            <a:r>
              <a:rPr lang="en-US" b="0" i="0" dirty="0">
                <a:solidFill>
                  <a:srgbClr val="2B2A29"/>
                </a:solidFill>
                <a:effectLst/>
                <a:latin typeface="montserrat" panose="00000500000000000000" pitchFamily="2" charset="0"/>
              </a:rPr>
              <a:t>The start or head of the list is pointing to the element with the index 1 and containing 13 marks in the data part and 4 in the next part. Which means that it is linked with the node that is being stored at 4th index of the list.</a:t>
            </a:r>
          </a:p>
          <a:p>
            <a:pPr algn="just"/>
            <a:r>
              <a:rPr lang="en-US" b="0" i="0" dirty="0">
                <a:solidFill>
                  <a:srgbClr val="2B2A29"/>
                </a:solidFill>
                <a:effectLst/>
                <a:latin typeface="montserrat" panose="00000500000000000000" pitchFamily="2" charset="0"/>
              </a:rPr>
              <a:t>However, due to the fact that we are considering circular linked list in the memory therefore the last node of the list contains the address of the first node of the list.</a:t>
            </a:r>
          </a:p>
          <a:p>
            <a:endParaRPr lang="en-PK" dirty="0"/>
          </a:p>
        </p:txBody>
      </p:sp>
      <p:sp>
        <p:nvSpPr>
          <p:cNvPr id="4" name="Date Placeholder 3">
            <a:extLst>
              <a:ext uri="{FF2B5EF4-FFF2-40B4-BE49-F238E27FC236}">
                <a16:creationId xmlns:a16="http://schemas.microsoft.com/office/drawing/2014/main" id="{D91C7BB6-F9E9-2148-9661-F1E9BAB69FEF}"/>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301C0396-F804-2BC4-3D82-D28DE75D777F}"/>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DC7DB42B-C396-91A1-D4C4-C534D615F1A8}"/>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1662642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20DD3-C64F-D768-B382-DF463CE380E6}"/>
            </a:ext>
          </a:extLst>
        </p:cNvPr>
        <p:cNvGrpSpPr/>
        <p:nvPr/>
      </p:nvGrpSpPr>
      <p:grpSpPr>
        <a:xfrm>
          <a:off x="0" y="0"/>
          <a:ext cx="0" cy="0"/>
          <a:chOff x="0" y="0"/>
          <a:chExt cx="0" cy="0"/>
        </a:xfrm>
      </p:grpSpPr>
      <p:pic>
        <p:nvPicPr>
          <p:cNvPr id="8194" name="Picture 2" descr="Circular Singly Linked List">
            <a:extLst>
              <a:ext uri="{FF2B5EF4-FFF2-40B4-BE49-F238E27FC236}">
                <a16:creationId xmlns:a16="http://schemas.microsoft.com/office/drawing/2014/main" id="{90CB6BDD-E91F-8860-DDD0-76E4439FC9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78654" y="620713"/>
            <a:ext cx="7234691" cy="6169025"/>
          </a:xfrm>
          <a:prstGeom prst="rect">
            <a:avLst/>
          </a:prstGeom>
          <a:solidFill>
            <a:srgbClr val="FFFFFF"/>
          </a:solidFill>
        </p:spPr>
      </p:pic>
      <p:sp>
        <p:nvSpPr>
          <p:cNvPr id="4" name="Date Placeholder 3" hidden="1">
            <a:extLst>
              <a:ext uri="{FF2B5EF4-FFF2-40B4-BE49-F238E27FC236}">
                <a16:creationId xmlns:a16="http://schemas.microsoft.com/office/drawing/2014/main" id="{9475A060-E388-B970-E689-607EFEDB448A}"/>
              </a:ext>
            </a:extLst>
          </p:cNvPr>
          <p:cNvSpPr>
            <a:spLocks noGrp="1"/>
          </p:cNvSpPr>
          <p:nvPr>
            <p:ph type="dt" sz="half" idx="10"/>
          </p:nvPr>
        </p:nvSpPr>
        <p:spPr/>
        <p:txBody>
          <a:bodyPr/>
          <a:lstStyle/>
          <a:p>
            <a:pPr>
              <a:spcAft>
                <a:spcPts val="600"/>
              </a:spcAft>
            </a:pPr>
            <a:fld id="{E99B68EB-34CE-40AD-9008-FF96287658FF}" type="datetime1">
              <a:rPr lang="en-US" smtClean="0"/>
              <a:pPr>
                <a:spcAft>
                  <a:spcPts val="600"/>
                </a:spcAft>
              </a:pPr>
              <a:t>7/21/2025</a:t>
            </a:fld>
            <a:endParaRPr lang="en-US"/>
          </a:p>
        </p:txBody>
      </p:sp>
      <p:sp>
        <p:nvSpPr>
          <p:cNvPr id="5" name="Footer Placeholder 4">
            <a:extLst>
              <a:ext uri="{FF2B5EF4-FFF2-40B4-BE49-F238E27FC236}">
                <a16:creationId xmlns:a16="http://schemas.microsoft.com/office/drawing/2014/main" id="{606F83FC-AF63-EDBE-0910-07DECFCDC7DF}"/>
              </a:ext>
            </a:extLst>
          </p:cNvPr>
          <p:cNvSpPr>
            <a:spLocks noGrp="1"/>
          </p:cNvSpPr>
          <p:nvPr>
            <p:ph type="ftr" sz="quarter" idx="11"/>
          </p:nvPr>
        </p:nvSpPr>
        <p:spPr/>
        <p:txBody>
          <a:bodyPr/>
          <a:lstStyle/>
          <a:p>
            <a:pPr>
              <a:spcAft>
                <a:spcPts val="600"/>
              </a:spcAft>
            </a:pPr>
            <a:r>
              <a:rPr lang="en-US"/>
              <a:t>m.saleem@duet.edu.pk</a:t>
            </a:r>
          </a:p>
        </p:txBody>
      </p:sp>
      <p:sp>
        <p:nvSpPr>
          <p:cNvPr id="6" name="Slide Number Placeholder 5" hidden="1">
            <a:extLst>
              <a:ext uri="{FF2B5EF4-FFF2-40B4-BE49-F238E27FC236}">
                <a16:creationId xmlns:a16="http://schemas.microsoft.com/office/drawing/2014/main" id="{C4115B8C-EE04-8140-47DF-2B5BDB51A410}"/>
              </a:ext>
            </a:extLst>
          </p:cNvPr>
          <p:cNvSpPr>
            <a:spLocks noGrp="1"/>
          </p:cNvSpPr>
          <p:nvPr>
            <p:ph type="sldNum" sz="quarter" idx="12"/>
          </p:nvPr>
        </p:nvSpPr>
        <p:spPr/>
        <p:txBody>
          <a:bodyPr/>
          <a:lstStyle/>
          <a:p>
            <a:pPr>
              <a:spcAft>
                <a:spcPts val="600"/>
              </a:spcAft>
            </a:pPr>
            <a:fld id="{D57F1E4F-1CFF-5643-939E-217C01CDF565}" type="slidenum">
              <a:rPr lang="en-US" smtClean="0"/>
              <a:pPr>
                <a:spcAft>
                  <a:spcPts val="600"/>
                </a:spcAft>
              </a:pPr>
              <a:t>28</a:t>
            </a:fld>
            <a:endParaRPr lang="en-US"/>
          </a:p>
        </p:txBody>
      </p:sp>
    </p:spTree>
    <p:extLst>
      <p:ext uri="{BB962C8B-B14F-4D97-AF65-F5344CB8AC3E}">
        <p14:creationId xmlns:p14="http://schemas.microsoft.com/office/powerpoint/2010/main" val="665508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D5B48-E17E-4088-2C32-DAC22DFFF16B}"/>
              </a:ext>
            </a:extLst>
          </p:cNvPr>
          <p:cNvSpPr>
            <a:spLocks noGrp="1"/>
          </p:cNvSpPr>
          <p:nvPr>
            <p:ph type="title"/>
          </p:nvPr>
        </p:nvSpPr>
        <p:spPr/>
        <p:txBody>
          <a:bodyPr/>
          <a:lstStyle/>
          <a:p>
            <a:r>
              <a:rPr lang="en-US" dirty="0"/>
              <a:t>Building a linked list</a:t>
            </a:r>
            <a:endParaRPr lang="en-PK" dirty="0"/>
          </a:p>
        </p:txBody>
      </p:sp>
      <p:sp>
        <p:nvSpPr>
          <p:cNvPr id="3" name="Content Placeholder 2">
            <a:extLst>
              <a:ext uri="{FF2B5EF4-FFF2-40B4-BE49-F238E27FC236}">
                <a16:creationId xmlns:a16="http://schemas.microsoft.com/office/drawing/2014/main" id="{69E94CC4-6FAD-3FD9-F426-EA3BE14FD337}"/>
              </a:ext>
            </a:extLst>
          </p:cNvPr>
          <p:cNvSpPr>
            <a:spLocks noGrp="1"/>
          </p:cNvSpPr>
          <p:nvPr>
            <p:ph idx="1"/>
          </p:nvPr>
        </p:nvSpPr>
        <p:spPr/>
        <p:txBody>
          <a:bodyPr/>
          <a:lstStyle/>
          <a:p>
            <a:r>
              <a:rPr lang="en-US" dirty="0" err="1"/>
              <a:t>addFirst</a:t>
            </a:r>
            <a:r>
              <a:rPr lang="en-US" dirty="0"/>
              <a:t>()</a:t>
            </a:r>
          </a:p>
          <a:p>
            <a:r>
              <a:rPr lang="en-US" dirty="0" err="1"/>
              <a:t>addLast</a:t>
            </a:r>
            <a:r>
              <a:rPr lang="en-US" dirty="0"/>
              <a:t>()</a:t>
            </a:r>
          </a:p>
          <a:p>
            <a:r>
              <a:rPr lang="en-US" dirty="0" err="1"/>
              <a:t>deleteFirst</a:t>
            </a:r>
            <a:r>
              <a:rPr lang="en-US" dirty="0"/>
              <a:t>()</a:t>
            </a:r>
          </a:p>
          <a:p>
            <a:r>
              <a:rPr lang="en-US" dirty="0" err="1"/>
              <a:t>deleteLast</a:t>
            </a:r>
            <a:r>
              <a:rPr lang="en-US" dirty="0"/>
              <a:t>()</a:t>
            </a:r>
          </a:p>
          <a:p>
            <a:r>
              <a:rPr lang="en-US" dirty="0"/>
              <a:t>contains()</a:t>
            </a:r>
          </a:p>
          <a:p>
            <a:r>
              <a:rPr lang="en-US" dirty="0" err="1"/>
              <a:t>indexOf</a:t>
            </a:r>
            <a:r>
              <a:rPr lang="en-US" dirty="0"/>
              <a:t>()</a:t>
            </a:r>
          </a:p>
        </p:txBody>
      </p:sp>
      <p:sp>
        <p:nvSpPr>
          <p:cNvPr id="4" name="Date Placeholder 3">
            <a:extLst>
              <a:ext uri="{FF2B5EF4-FFF2-40B4-BE49-F238E27FC236}">
                <a16:creationId xmlns:a16="http://schemas.microsoft.com/office/drawing/2014/main" id="{28D0117A-B51E-B2BC-D7AB-367371191679}"/>
              </a:ext>
            </a:extLst>
          </p:cNvPr>
          <p:cNvSpPr>
            <a:spLocks noGrp="1"/>
          </p:cNvSpPr>
          <p:nvPr>
            <p:ph type="dt" sz="half" idx="10"/>
          </p:nvPr>
        </p:nvSpPr>
        <p:spPr/>
        <p:txBody>
          <a:bodyPr/>
          <a:lstStyle/>
          <a:p>
            <a:fld id="{E99B68EB-34CE-40AD-9008-FF96287658FF}" type="datetime1">
              <a:rPr lang="en-US" smtClean="0"/>
              <a:t>7/21/2025</a:t>
            </a:fld>
            <a:endParaRPr lang="en-US" dirty="0"/>
          </a:p>
        </p:txBody>
      </p:sp>
      <p:sp>
        <p:nvSpPr>
          <p:cNvPr id="5" name="Footer Placeholder 4">
            <a:extLst>
              <a:ext uri="{FF2B5EF4-FFF2-40B4-BE49-F238E27FC236}">
                <a16:creationId xmlns:a16="http://schemas.microsoft.com/office/drawing/2014/main" id="{779138D7-6693-1485-CB09-D117506CE8DF}"/>
              </a:ext>
            </a:extLst>
          </p:cNvPr>
          <p:cNvSpPr>
            <a:spLocks noGrp="1"/>
          </p:cNvSpPr>
          <p:nvPr>
            <p:ph type="ftr" sz="quarter" idx="11"/>
          </p:nvPr>
        </p:nvSpPr>
        <p:spPr/>
        <p:txBody>
          <a:bodyPr/>
          <a:lstStyle/>
          <a:p>
            <a:r>
              <a:rPr lang="en-US"/>
              <a:t>m.saleem@duet.edu.pk</a:t>
            </a:r>
            <a:endParaRPr lang="en-US" dirty="0"/>
          </a:p>
        </p:txBody>
      </p:sp>
      <p:sp>
        <p:nvSpPr>
          <p:cNvPr id="6" name="Slide Number Placeholder 5">
            <a:extLst>
              <a:ext uri="{FF2B5EF4-FFF2-40B4-BE49-F238E27FC236}">
                <a16:creationId xmlns:a16="http://schemas.microsoft.com/office/drawing/2014/main" id="{C8B04E70-1BD5-E27A-DEC1-94963AA3425C}"/>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3733006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5E0342-667E-70BB-E168-351951D8A922}"/>
              </a:ext>
            </a:extLst>
          </p:cNvPr>
          <p:cNvSpPr txBox="1"/>
          <p:nvPr/>
        </p:nvSpPr>
        <p:spPr>
          <a:xfrm>
            <a:off x="2342904" y="1407319"/>
            <a:ext cx="7827463" cy="4308872"/>
          </a:xfrm>
          <a:prstGeom prst="rect">
            <a:avLst/>
          </a:prstGeom>
          <a:noFill/>
        </p:spPr>
        <p:txBody>
          <a:bodyPr wrap="square" rtlCol="0">
            <a:spAutoFit/>
          </a:bodyPr>
          <a:lstStyle/>
          <a:p>
            <a:pPr algn="ctr"/>
            <a:r>
              <a:rPr lang="en-US" sz="5400" b="1" dirty="0">
                <a:solidFill>
                  <a:schemeClr val="accent3">
                    <a:lumMod val="75000"/>
                  </a:schemeClr>
                </a:solidFill>
              </a:rPr>
              <a:t>Thanks</a:t>
            </a:r>
            <a:r>
              <a:rPr lang="en-US" sz="5400" dirty="0">
                <a:solidFill>
                  <a:schemeClr val="accent3">
                    <a:lumMod val="75000"/>
                  </a:schemeClr>
                </a:solidFill>
              </a:rPr>
              <a:t>!</a:t>
            </a:r>
          </a:p>
          <a:p>
            <a:pPr algn="ctr"/>
            <a:r>
              <a:rPr lang="en-US" sz="3200" dirty="0"/>
              <a:t>For The Time &amp; Attention</a:t>
            </a:r>
          </a:p>
          <a:p>
            <a:pPr algn="ctr"/>
            <a:endParaRPr lang="en-US" sz="3200" dirty="0"/>
          </a:p>
          <a:p>
            <a:pPr algn="ctr"/>
            <a:r>
              <a:rPr lang="en-US" sz="3200" dirty="0"/>
              <a:t>Do You Have Any Question?</a:t>
            </a:r>
          </a:p>
          <a:p>
            <a:pPr algn="ctr"/>
            <a:endParaRPr lang="en-US" sz="3200" dirty="0"/>
          </a:p>
          <a:p>
            <a:pPr algn="ctr"/>
            <a:r>
              <a:rPr lang="en-US" sz="2400" dirty="0">
                <a:hlinkClick r:id="rId2"/>
              </a:rPr>
              <a:t>Msaleem.jcb@gmail.com</a:t>
            </a:r>
            <a:endParaRPr lang="en-US" sz="2400" dirty="0"/>
          </a:p>
          <a:p>
            <a:pPr algn="ctr"/>
            <a:r>
              <a:rPr lang="en-US" sz="2400" dirty="0"/>
              <a:t>+923333217216</a:t>
            </a:r>
          </a:p>
          <a:p>
            <a:pPr algn="ctr"/>
            <a:endParaRPr lang="en-US" sz="2400" dirty="0"/>
          </a:p>
          <a:p>
            <a:r>
              <a:rPr lang="en-US" sz="2000" u="sng" dirty="0"/>
              <a:t>For more information: https://www.javatpoint.com/data-structure-tutorial</a:t>
            </a:r>
          </a:p>
        </p:txBody>
      </p:sp>
      <p:pic>
        <p:nvPicPr>
          <p:cNvPr id="1030" name="Picture 6" descr="Data Structures and Algorithms ...">
            <a:extLst>
              <a:ext uri="{FF2B5EF4-FFF2-40B4-BE49-F238E27FC236}">
                <a16:creationId xmlns:a16="http://schemas.microsoft.com/office/drawing/2014/main" id="{F9EECBC0-1EF0-57AC-6675-201578D6C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0367" y="649937"/>
            <a:ext cx="1926868" cy="19268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logo for a university&#10;&#10;Description automatically generated">
            <a:extLst>
              <a:ext uri="{FF2B5EF4-FFF2-40B4-BE49-F238E27FC236}">
                <a16:creationId xmlns:a16="http://schemas.microsoft.com/office/drawing/2014/main" id="{BCE8750B-8CD8-76B6-A86F-0400D61AC40D}"/>
              </a:ext>
            </a:extLst>
          </p:cNvPr>
          <p:cNvPicPr>
            <a:picLocks noChangeAspect="1"/>
          </p:cNvPicPr>
          <p:nvPr/>
        </p:nvPicPr>
        <p:blipFill>
          <a:blip r:embed="rId4"/>
          <a:stretch>
            <a:fillRect/>
          </a:stretch>
        </p:blipFill>
        <p:spPr>
          <a:xfrm>
            <a:off x="192833" y="789896"/>
            <a:ext cx="1631956" cy="1234847"/>
          </a:xfrm>
          <a:prstGeom prst="rect">
            <a:avLst/>
          </a:prstGeom>
        </p:spPr>
      </p:pic>
    </p:spTree>
    <p:extLst>
      <p:ext uri="{BB962C8B-B14F-4D97-AF65-F5344CB8AC3E}">
        <p14:creationId xmlns:p14="http://schemas.microsoft.com/office/powerpoint/2010/main" val="405222575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{33F22CAA-EB29-4984-9FD0-F582F14C4951}tf56390039_win32</Template>
  <TotalTime>2676</TotalTime>
  <Words>1899</Words>
  <Application>Microsoft Office PowerPoint</Application>
  <PresentationFormat>Widescreen</PresentationFormat>
  <Paragraphs>218</Paragraphs>
  <Slides>30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Cambria</vt:lpstr>
      <vt:lpstr>Consolas</vt:lpstr>
      <vt:lpstr>Gill Sans MT</vt:lpstr>
      <vt:lpstr>montserrat</vt:lpstr>
      <vt:lpstr>Tahoma</vt:lpstr>
      <vt:lpstr>Verdana</vt:lpstr>
      <vt:lpstr>Wingdings 2</vt:lpstr>
      <vt:lpstr>Dividend</vt:lpstr>
      <vt:lpstr>Lecture – linked list data structure &amp; algorithms</vt:lpstr>
      <vt:lpstr>Contents</vt:lpstr>
      <vt:lpstr>Linked list</vt:lpstr>
      <vt:lpstr>Uses of Linked List</vt:lpstr>
      <vt:lpstr>Array contains following limitations:</vt:lpstr>
      <vt:lpstr>Linked list overcomes the limitations of array</vt:lpstr>
      <vt:lpstr>Simple variable memory representation</vt:lpstr>
      <vt:lpstr>Array memory representation</vt:lpstr>
      <vt:lpstr>Array memory representation</vt:lpstr>
      <vt:lpstr>Linked list in memory</vt:lpstr>
      <vt:lpstr>PowerPoint Presentation</vt:lpstr>
      <vt:lpstr>Singly linked list</vt:lpstr>
      <vt:lpstr>Singly linked list operations</vt:lpstr>
      <vt:lpstr>Insertion into the beginning of the list</vt:lpstr>
      <vt:lpstr>Insertion into the beginning of the list</vt:lpstr>
      <vt:lpstr>inserting at the end of the list</vt:lpstr>
      <vt:lpstr>inserting at the middle of the list</vt:lpstr>
      <vt:lpstr>Deletion operation</vt:lpstr>
      <vt:lpstr>Deleting from the end of the list</vt:lpstr>
      <vt:lpstr>Doubly linked list</vt:lpstr>
      <vt:lpstr>Doubly linked list</vt:lpstr>
      <vt:lpstr>Memory Representation of a doubly linked list</vt:lpstr>
      <vt:lpstr>Circular linked list</vt:lpstr>
      <vt:lpstr>PowerPoint Presentation</vt:lpstr>
      <vt:lpstr>Circular linked list</vt:lpstr>
      <vt:lpstr>Circular linked list uses</vt:lpstr>
      <vt:lpstr>Memory Representation of circular linked list</vt:lpstr>
      <vt:lpstr>PowerPoint Presentation</vt:lpstr>
      <vt:lpstr>Building a linked list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&amp; algorithm</dc:title>
  <dc:creator>muhammad saleem</dc:creator>
  <cp:lastModifiedBy>Muhammad Saleem</cp:lastModifiedBy>
  <cp:revision>145</cp:revision>
  <dcterms:created xsi:type="dcterms:W3CDTF">2023-01-26T06:31:32Z</dcterms:created>
  <dcterms:modified xsi:type="dcterms:W3CDTF">2025-07-21T10:33:31Z</dcterms:modified>
</cp:coreProperties>
</file>