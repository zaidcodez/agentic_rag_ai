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19"/>
  </p:notesMasterIdLst>
  <p:sldIdLst>
    <p:sldId id="269" r:id="rId2"/>
    <p:sldId id="274" r:id="rId3"/>
    <p:sldId id="257" r:id="rId4"/>
    <p:sldId id="258" r:id="rId5"/>
    <p:sldId id="262" r:id="rId6"/>
    <p:sldId id="259" r:id="rId7"/>
    <p:sldId id="275" r:id="rId8"/>
    <p:sldId id="260" r:id="rId9"/>
    <p:sldId id="276" r:id="rId10"/>
    <p:sldId id="277" r:id="rId11"/>
    <p:sldId id="279" r:id="rId12"/>
    <p:sldId id="280" r:id="rId13"/>
    <p:sldId id="273" r:id="rId14"/>
    <p:sldId id="272" r:id="rId15"/>
    <p:sldId id="278" r:id="rId16"/>
    <p:sldId id="270" r:id="rId17"/>
    <p:sldId id="271" r:id="rId18"/>
  </p:sldIdLst>
  <p:sldSz cx="12192000" cy="6858000"/>
  <p:notesSz cx="6858000" cy="9144000"/>
  <p:embeddedFontLst>
    <p:embeddedFont>
      <p:font typeface="Abadi" panose="020B0604020104020204" pitchFamily="34" charset="0"/>
      <p:regular r:id="rId20"/>
      <p:bold r:id="rId21"/>
      <p:italic r:id="rId22"/>
      <p:boldItalic r:id="rId23"/>
    </p:embeddedFont>
    <p:embeddedFont>
      <p:font typeface="Aptos Black" panose="020B0004020202020204" pitchFamily="34" charset="0"/>
      <p:bold r:id="rId24"/>
      <p:boldItalic r:id="rId25"/>
    </p:embeddedFont>
    <p:embeddedFont>
      <p:font typeface="Arial Nova" panose="020B0504020202020204" pitchFamily="34" charset="0"/>
      <p:regular r:id="rId26"/>
      <p:bold r:id="rId27"/>
      <p:italic r:id="rId28"/>
      <p:boldItalic r:id="rId29"/>
    </p:embeddedFont>
    <p:embeddedFont>
      <p:font typeface="Bebas Neue" panose="020B0606020202050201" pitchFamily="34" charset="0"/>
      <p:regular r:id="rId30"/>
    </p:embeddedFont>
    <p:embeddedFont>
      <p:font typeface="Century Gothic" panose="020B0502020202020204" pitchFamily="34" charset="0"/>
      <p:regular r:id="rId31"/>
      <p:bold r:id="rId32"/>
      <p:italic r:id="rId33"/>
      <p:boldItalic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9E0B"/>
    <a:srgbClr val="7C3AED"/>
    <a:srgbClr val="EF4444"/>
    <a:srgbClr val="06B6D4"/>
    <a:srgbClr val="45474B"/>
    <a:srgbClr val="161B22"/>
    <a:srgbClr val="10B981"/>
    <a:srgbClr val="CBD5E1"/>
    <a:srgbClr val="8E9398"/>
    <a:srgbClr val="777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78" autoAdjust="0"/>
    <p:restoredTop sz="94660"/>
  </p:normalViewPr>
  <p:slideViewPr>
    <p:cSldViewPr snapToGrid="0">
      <p:cViewPr>
        <p:scale>
          <a:sx n="62" d="100"/>
          <a:sy n="62" d="100"/>
        </p:scale>
        <p:origin x="8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A20445-AC4A-4995-8482-AFF76ED8DA26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2C1AD5-8E30-47EA-97CE-E311004A3C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234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288BA-3FB7-4A5C-68CB-A6359845E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2A9CDE-AD9C-FBFE-FE1F-E5B0D7DF41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9ED88B-CF47-8856-ACD4-F9E23B2445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3A7376-2211-F09F-FAA0-7F4CF9D7C4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822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29E43-C3A7-1967-23BF-6CCFD2F9F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622EAA-0034-C63A-17A5-B289F81B0C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C4329D-E9C7-DA85-CC4E-7659A19993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D6F724-35D9-F4FB-87B2-35095A3346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9651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827A2-E8A1-6B3D-ADE1-608D21D21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999028-2A11-1DD2-C43E-F759139AB2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BC7E8B-AC7A-1967-384E-99C9F96C01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1D063E-4981-44E9-EB49-0C3001E62E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31246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FC598-D5A7-2E6D-229A-8EAF5004A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C8115F-D4BC-4283-A10E-414A9CEBE3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2508DB-4676-F32B-4AA0-27C7D864EF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43A736-66C3-5B0A-12C7-89DD000D30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94257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465F0-0D2D-0643-BC5D-F4FE8B3C6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138B8C-FE3F-3CB2-F5ED-C81F080027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CA36BB-A3A8-E274-AB5C-7F2DDE7B33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6FB20-8A42-AFB3-3DB4-8D2A891567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60487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A366B-B9E2-4090-0D8B-FDCCED1D7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CF41FD-0F2D-5730-07C6-6ACEC47AE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6DDFE1-0DC9-D53E-C060-8B5FF3A658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CF4ED1-E6AB-E081-BA6A-D4A4E725A6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39766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E93A0-FC77-7A1C-04CF-01C1DC305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244747-0DF2-4A86-6164-B1DC531C4F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D22371-D17F-A23D-730D-6B2889ABC6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52F1CD-E281-D920-A56F-C4496F90B4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31169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0C630-2E93-3291-2330-2F6DA7E3C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FB5F6E-926B-3B01-B940-9D68811935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0ACF97-D6BF-ACCA-CCC2-E89013FF5D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E1011E-573A-C2E0-CB34-CCC26DCA89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04390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E84E8-5B0C-8DC3-197E-EF06E6FFD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CECC61-4167-D29A-4E4D-A7BD11AAD1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7E422D-9268-4644-941A-AF30AA3CAB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83C1CB-512A-524E-CDB2-28EFD03101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6206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2A6A3-8DF2-3B09-8220-4B4E20EF0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41F003-7B41-E6A9-F95A-D45E7B39F5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9A5847-96EE-3279-D6AB-C930834855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00D60F-04AC-4E42-3779-70B60E71CE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04671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9A196-0FBD-8A65-4CC4-997D84973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37FA19-825D-35D1-D65B-511273902C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990627-B157-C725-352D-F60370318A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BB38EB-537E-2634-8380-92FE7921CF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31753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7CA86-DDBE-4093-D7DF-DF5ED5B5C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D865E8-35AA-5A14-33D4-66DE31F38F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AC0E99-0DEC-E8A7-A749-2460E4F604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9108DE-91F5-8173-7D30-2250680C01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8615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05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6457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5.svg"/><Relationship Id="rId5" Type="http://schemas.openxmlformats.org/officeDocument/2006/relationships/image" Target="../media/image10.png"/><Relationship Id="rId10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8829FA-5FF2-8F48-1079-329C5F3D6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25F9288-CAC6-9647-CD70-7FA527E629A7}"/>
              </a:ext>
            </a:extLst>
          </p:cNvPr>
          <p:cNvSpPr/>
          <p:nvPr/>
        </p:nvSpPr>
        <p:spPr>
          <a:xfrm>
            <a:off x="13092238" y="-1828800"/>
            <a:ext cx="6705600" cy="6705600"/>
          </a:xfrm>
          <a:prstGeom prst="ellipse">
            <a:avLst/>
          </a:prstGeom>
          <a:solidFill>
            <a:srgbClr val="7774FF">
              <a:alpha val="20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  <p:txBody>
          <a:bodyPr/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D5CF7A2-934A-770C-C10A-96DF183F228F}"/>
              </a:ext>
            </a:extLst>
          </p:cNvPr>
          <p:cNvSpPr/>
          <p:nvPr/>
        </p:nvSpPr>
        <p:spPr>
          <a:xfrm>
            <a:off x="-5397808" y="3657600"/>
            <a:ext cx="4876800" cy="487680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  <p:txBody>
          <a:bodyPr/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1CA9E5B-4F65-62F9-3CE9-66DC9D8B4BE2}"/>
              </a:ext>
            </a:extLst>
          </p:cNvPr>
          <p:cNvSpPr/>
          <p:nvPr/>
        </p:nvSpPr>
        <p:spPr>
          <a:xfrm>
            <a:off x="4267200" y="707136"/>
            <a:ext cx="3657600" cy="512064"/>
          </a:xfrm>
          <a:prstGeom prst="roundRect">
            <a:avLst>
              <a:gd name="adj" fmla="val 11905"/>
            </a:avLst>
          </a:prstGeom>
          <a:solidFill>
            <a:srgbClr val="7C3AED">
              <a:alpha val="5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28D404A-1124-4CEC-F9ED-1D1EB50DA6A0}"/>
              </a:ext>
            </a:extLst>
          </p:cNvPr>
          <p:cNvSpPr/>
          <p:nvPr/>
        </p:nvSpPr>
        <p:spPr>
          <a:xfrm>
            <a:off x="4267200" y="707136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00" b="1" kern="0" spc="267" dirty="0">
                <a:solidFill>
                  <a:srgbClr val="A78BFA"/>
                </a:solidFill>
                <a:latin typeface="Arial Nova" panose="020B0504020202020204" pitchFamily="34" charset="0"/>
              </a:rPr>
              <a:t>Artificial Intelligence </a:t>
            </a:r>
            <a:r>
              <a:rPr lang="en-US" sz="1600" b="1" kern="0" spc="267" dirty="0">
                <a:solidFill>
                  <a:srgbClr val="A78BFA"/>
                </a:solidFill>
                <a:latin typeface="Arial Nova" panose="020B0504020202020204" pitchFamily="34" charset="0"/>
              </a:rPr>
              <a:t>Project</a:t>
            </a:r>
            <a:endParaRPr lang="en-US" sz="1600" dirty="0">
              <a:solidFill>
                <a:prstClr val="black"/>
              </a:solidFill>
              <a:latin typeface="Arial Nova" panose="020B0504020202020204" pitchFamily="34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658CA07-12AB-0413-B2DF-EF612022EBA7}"/>
              </a:ext>
            </a:extLst>
          </p:cNvPr>
          <p:cNvSpPr/>
          <p:nvPr/>
        </p:nvSpPr>
        <p:spPr>
          <a:xfrm>
            <a:off x="1219200" y="3108960"/>
            <a:ext cx="9753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2667" kern="0" spc="400" dirty="0">
                <a:solidFill>
                  <a:schemeClr val="bg1"/>
                </a:solidFill>
                <a:latin typeface="Century Gothic" panose="020B0502020202020204" pitchFamily="34" charset="0"/>
              </a:rPr>
              <a:t>Virtual Study AI Assistant</a:t>
            </a:r>
            <a:endParaRPr lang="en-US" sz="2667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FFE9691-E0D8-8430-F149-DD9BE1CDD82D}"/>
              </a:ext>
            </a:extLst>
          </p:cNvPr>
          <p:cNvSpPr/>
          <p:nvPr/>
        </p:nvSpPr>
        <p:spPr>
          <a:xfrm>
            <a:off x="4267200" y="3840480"/>
            <a:ext cx="3657600" cy="36576"/>
          </a:xfrm>
          <a:prstGeom prst="rect">
            <a:avLst/>
          </a:prstGeom>
          <a:solidFill>
            <a:srgbClr val="7774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32D1FC2-478F-9312-7BFB-A8987AC25647}"/>
              </a:ext>
            </a:extLst>
          </p:cNvPr>
          <p:cNvGrpSpPr/>
          <p:nvPr/>
        </p:nvGrpSpPr>
        <p:grpSpPr>
          <a:xfrm>
            <a:off x="1687039" y="1311570"/>
            <a:ext cx="9753600" cy="1828800"/>
            <a:chOff x="1219200" y="1341120"/>
            <a:chExt cx="9753600" cy="1828800"/>
          </a:xfrm>
        </p:grpSpPr>
        <p:sp>
          <p:nvSpPr>
            <p:cNvPr id="23" name="Text 4">
              <a:extLst>
                <a:ext uri="{FF2B5EF4-FFF2-40B4-BE49-F238E27FC236}">
                  <a16:creationId xmlns:a16="http://schemas.microsoft.com/office/drawing/2014/main" id="{3B853D6F-C946-CA69-DDC2-8AB60101CEED}"/>
                </a:ext>
              </a:extLst>
            </p:cNvPr>
            <p:cNvSpPr/>
            <p:nvPr/>
          </p:nvSpPr>
          <p:spPr>
            <a:xfrm>
              <a:off x="1219200" y="1341120"/>
              <a:ext cx="9753600" cy="1828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9600" b="1" dirty="0" err="1">
                  <a:solidFill>
                    <a:srgbClr val="F8FAFC"/>
                  </a:solidFill>
                  <a:latin typeface="Aptos Black" panose="020B0004020202020204" pitchFamily="34" charset="0"/>
                </a:rPr>
                <a:t>Intel</a:t>
              </a:r>
              <a:r>
                <a:rPr lang="en-US" sz="9600" b="1" dirty="0" err="1">
                  <a:solidFill>
                    <a:srgbClr val="7774FF"/>
                  </a:solidFill>
                  <a:latin typeface="Aptos Black" panose="020B0004020202020204" pitchFamily="34" charset="0"/>
                </a:rPr>
                <a:t>lectra</a:t>
              </a:r>
              <a:endParaRPr lang="en-US" sz="9600" dirty="0">
                <a:solidFill>
                  <a:srgbClr val="7774FF"/>
                </a:solidFill>
                <a:latin typeface="Aptos Black" panose="020B0004020202020204" pitchFamily="34" charset="0"/>
              </a:endParaRP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4940A5F2-C5A2-B853-79CA-71320093069B}"/>
                </a:ext>
              </a:extLst>
            </p:cNvPr>
            <p:cNvGrpSpPr/>
            <p:nvPr/>
          </p:nvGrpSpPr>
          <p:grpSpPr>
            <a:xfrm>
              <a:off x="1790212" y="1606817"/>
              <a:ext cx="1297405" cy="1297405"/>
              <a:chOff x="1734553" y="1621113"/>
              <a:chExt cx="1297405" cy="1297405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E748D98-35EA-1B83-1C16-5194C84A1E20}"/>
                  </a:ext>
                </a:extLst>
              </p:cNvPr>
              <p:cNvSpPr/>
              <p:nvPr/>
            </p:nvSpPr>
            <p:spPr>
              <a:xfrm>
                <a:off x="2136765" y="1934176"/>
                <a:ext cx="492980" cy="5625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5A230688-FB2B-136B-7B04-833E1F41CE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34553" y="1621113"/>
                <a:ext cx="1297405" cy="129740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8106676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55A35A-C5DC-42E7-4C7D-F8BCDD2CE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95FE9BD-6AC7-A705-F63D-817B6DE964A5}"/>
              </a:ext>
            </a:extLst>
          </p:cNvPr>
          <p:cNvSpPr/>
          <p:nvPr/>
        </p:nvSpPr>
        <p:spPr>
          <a:xfrm>
            <a:off x="7924800" y="-1828800"/>
            <a:ext cx="6705600" cy="6705600"/>
          </a:xfrm>
          <a:prstGeom prst="ellipse">
            <a:avLst/>
          </a:prstGeom>
          <a:solidFill>
            <a:srgbClr val="7774FF">
              <a:alpha val="20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9323104-E5B9-C3B9-EA13-9504587ED372}"/>
              </a:ext>
            </a:extLst>
          </p:cNvPr>
          <p:cNvSpPr/>
          <p:nvPr/>
        </p:nvSpPr>
        <p:spPr>
          <a:xfrm>
            <a:off x="-1219200" y="3657600"/>
            <a:ext cx="4876800" cy="487680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8D4ED60-945F-FB0D-9161-B656167A6BE9}"/>
              </a:ext>
            </a:extLst>
          </p:cNvPr>
          <p:cNvSpPr/>
          <p:nvPr/>
        </p:nvSpPr>
        <p:spPr>
          <a:xfrm>
            <a:off x="4267200" y="707136"/>
            <a:ext cx="3657600" cy="512064"/>
          </a:xfrm>
          <a:prstGeom prst="roundRect">
            <a:avLst>
              <a:gd name="adj" fmla="val 11905"/>
            </a:avLst>
          </a:prstGeom>
          <a:solidFill>
            <a:srgbClr val="7C3AED">
              <a:alpha val="5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EFCC13B-37F8-C14E-D172-94DF752E6E0C}"/>
              </a:ext>
            </a:extLst>
          </p:cNvPr>
          <p:cNvSpPr/>
          <p:nvPr/>
        </p:nvSpPr>
        <p:spPr>
          <a:xfrm>
            <a:off x="4267200" y="707136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00" b="1" kern="0" spc="267" dirty="0">
                <a:solidFill>
                  <a:srgbClr val="A78BFA"/>
                </a:solidFill>
                <a:latin typeface="Arial Nova" panose="020B0504020202020204" pitchFamily="34" charset="0"/>
              </a:rPr>
              <a:t>Artificial Intelligence </a:t>
            </a:r>
            <a:r>
              <a:rPr lang="en-US" sz="1600" b="1" kern="0" spc="267" dirty="0">
                <a:solidFill>
                  <a:srgbClr val="A78BFA"/>
                </a:solidFill>
                <a:latin typeface="Arial Nova" panose="020B0504020202020204" pitchFamily="34" charset="0"/>
              </a:rPr>
              <a:t>Project</a:t>
            </a:r>
            <a:endParaRPr lang="en-US" sz="1600" dirty="0">
              <a:solidFill>
                <a:prstClr val="black"/>
              </a:solidFill>
              <a:latin typeface="Arial Nova" panose="020B0504020202020204" pitchFamily="34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D2DBE92-8F75-2732-EC7E-D637FC34FA6B}"/>
              </a:ext>
            </a:extLst>
          </p:cNvPr>
          <p:cNvSpPr/>
          <p:nvPr/>
        </p:nvSpPr>
        <p:spPr>
          <a:xfrm>
            <a:off x="1219200" y="3108960"/>
            <a:ext cx="9753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2667" kern="0" spc="400" dirty="0">
                <a:solidFill>
                  <a:schemeClr val="bg1"/>
                </a:solidFill>
                <a:latin typeface="Century Gothic" panose="020B0502020202020204" pitchFamily="34" charset="0"/>
              </a:rPr>
              <a:t>Virtual Study AI Assistant</a:t>
            </a:r>
            <a:endParaRPr lang="en-US" sz="2667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521FD94-A4DD-15CD-6C04-D00A4ACD8F22}"/>
              </a:ext>
            </a:extLst>
          </p:cNvPr>
          <p:cNvSpPr/>
          <p:nvPr/>
        </p:nvSpPr>
        <p:spPr>
          <a:xfrm>
            <a:off x="4267200" y="3840480"/>
            <a:ext cx="3657600" cy="36576"/>
          </a:xfrm>
          <a:prstGeom prst="rect">
            <a:avLst/>
          </a:prstGeom>
          <a:solidFill>
            <a:srgbClr val="7774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99C605A-1FC6-90BA-74C0-F041CB014D22}"/>
              </a:ext>
            </a:extLst>
          </p:cNvPr>
          <p:cNvSpPr/>
          <p:nvPr/>
        </p:nvSpPr>
        <p:spPr>
          <a:xfrm>
            <a:off x="1219200" y="4084320"/>
            <a:ext cx="975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2800" dirty="0">
                <a:solidFill>
                  <a:srgbClr val="CBD5E1"/>
                </a:solidFill>
                <a:latin typeface="Bebas Neue" panose="020B0606020202050201" pitchFamily="34" charset="0"/>
              </a:rPr>
              <a:t>Presented by:</a:t>
            </a:r>
            <a:endParaRPr lang="en-US" sz="2800" dirty="0">
              <a:solidFill>
                <a:prstClr val="black"/>
              </a:solidFill>
              <a:latin typeface="Bebas Neue" panose="020B0606020202050201" pitchFamily="34" charset="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C7A212B-8B0B-CA17-450D-603FC8BC4FBE}"/>
              </a:ext>
            </a:extLst>
          </p:cNvPr>
          <p:cNvSpPr/>
          <p:nvPr/>
        </p:nvSpPr>
        <p:spPr>
          <a:xfrm>
            <a:off x="609600" y="4805507"/>
            <a:ext cx="1097280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2400" dirty="0">
                <a:solidFill>
                  <a:srgbClr val="F8FAFC"/>
                </a:solidFill>
                <a:latin typeface="Bebas Neue" panose="020B0606020202050201" pitchFamily="34" charset="0"/>
              </a:rPr>
              <a:t>Muhammad Umar (137)    Zaid Ahmed (111)   Abdullah (103)  </a:t>
            </a:r>
          </a:p>
          <a:p>
            <a:pPr algn="ctr" defTabSz="1219170"/>
            <a:endParaRPr lang="en-US" sz="2400" dirty="0">
              <a:solidFill>
                <a:srgbClr val="F8FAFC"/>
              </a:solidFill>
              <a:latin typeface="Bebas Neue" panose="020B0606020202050201" pitchFamily="34" charset="0"/>
            </a:endParaRPr>
          </a:p>
          <a:p>
            <a:pPr algn="ctr" defTabSz="1219170"/>
            <a:r>
              <a:rPr lang="en-US" sz="2400" dirty="0">
                <a:solidFill>
                  <a:srgbClr val="F8FAFC"/>
                </a:solidFill>
                <a:latin typeface="Bebas Neue" panose="020B0606020202050201" pitchFamily="34" charset="0"/>
              </a:rPr>
              <a:t>Asad Rasheed (114)     Muhammad Meeran (120)</a:t>
            </a:r>
            <a:endParaRPr lang="en-US" sz="2400" dirty="0">
              <a:solidFill>
                <a:prstClr val="black"/>
              </a:solidFill>
              <a:latin typeface="Bebas Neue" panose="020B0606020202050201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53830D1-8951-70AC-5DEC-FBC3B469807C}"/>
              </a:ext>
            </a:extLst>
          </p:cNvPr>
          <p:cNvGrpSpPr/>
          <p:nvPr/>
        </p:nvGrpSpPr>
        <p:grpSpPr>
          <a:xfrm>
            <a:off x="1687039" y="1311570"/>
            <a:ext cx="9753600" cy="1828800"/>
            <a:chOff x="1219200" y="1341120"/>
            <a:chExt cx="9753600" cy="1828800"/>
          </a:xfrm>
        </p:grpSpPr>
        <p:sp>
          <p:nvSpPr>
            <p:cNvPr id="23" name="Text 4">
              <a:extLst>
                <a:ext uri="{FF2B5EF4-FFF2-40B4-BE49-F238E27FC236}">
                  <a16:creationId xmlns:a16="http://schemas.microsoft.com/office/drawing/2014/main" id="{D3A2F2D7-435E-1228-82E9-C5B088188389}"/>
                </a:ext>
              </a:extLst>
            </p:cNvPr>
            <p:cNvSpPr/>
            <p:nvPr/>
          </p:nvSpPr>
          <p:spPr>
            <a:xfrm>
              <a:off x="1219200" y="1341120"/>
              <a:ext cx="9753600" cy="1828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 defTabSz="1219170"/>
              <a:r>
                <a:rPr lang="en-US" sz="9600" b="1" dirty="0" err="1">
                  <a:solidFill>
                    <a:srgbClr val="F8FAFC"/>
                  </a:solidFill>
                  <a:latin typeface="Aptos Black" panose="020B0004020202020204" pitchFamily="34" charset="0"/>
                </a:rPr>
                <a:t>Intel</a:t>
              </a:r>
              <a:r>
                <a:rPr lang="en-US" sz="9600" b="1" dirty="0" err="1">
                  <a:solidFill>
                    <a:srgbClr val="7774FF"/>
                  </a:solidFill>
                  <a:latin typeface="Aptos Black" panose="020B0004020202020204" pitchFamily="34" charset="0"/>
                </a:rPr>
                <a:t>lectra</a:t>
              </a:r>
              <a:endParaRPr lang="en-US" sz="9600" dirty="0">
                <a:solidFill>
                  <a:srgbClr val="7774FF"/>
                </a:solidFill>
                <a:latin typeface="Aptos Black" panose="020B0004020202020204" pitchFamily="34" charset="0"/>
              </a:endParaRP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D9E6B57-A744-C250-C351-02F1922D287B}"/>
                </a:ext>
              </a:extLst>
            </p:cNvPr>
            <p:cNvGrpSpPr/>
            <p:nvPr/>
          </p:nvGrpSpPr>
          <p:grpSpPr>
            <a:xfrm>
              <a:off x="1790212" y="1606817"/>
              <a:ext cx="1297405" cy="1297405"/>
              <a:chOff x="1734553" y="1621113"/>
              <a:chExt cx="1297405" cy="1297405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0F119C65-BFCB-B5ED-427B-ACBBA4BC44E4}"/>
                  </a:ext>
                </a:extLst>
              </p:cNvPr>
              <p:cNvSpPr/>
              <p:nvPr/>
            </p:nvSpPr>
            <p:spPr>
              <a:xfrm>
                <a:off x="2136765" y="1934176"/>
                <a:ext cx="492980" cy="5625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41203801-2043-C317-0548-DD9E346587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34553" y="1621113"/>
                <a:ext cx="1297405" cy="129740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015546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43840"/>
            <a:ext cx="109728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4533" b="1" dirty="0">
                <a:solidFill>
                  <a:srgbClr val="F8FAFC"/>
                </a:solidFill>
                <a:latin typeface="Aptos Black" panose="020F0502020204030204" pitchFamily="34" charset="0"/>
              </a:rPr>
              <a:t>Introduction</a:t>
            </a:r>
            <a:endParaRPr lang="en-US" sz="4533" dirty="0">
              <a:solidFill>
                <a:prstClr val="black"/>
              </a:solidFill>
              <a:latin typeface="Aptos Black" panose="020F050202020403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953387" y="1158240"/>
            <a:ext cx="10629013" cy="4890020"/>
          </a:xfrm>
          <a:prstGeom prst="rect">
            <a:avLst/>
          </a:prstGeom>
          <a:solidFill>
            <a:srgbClr val="161B22"/>
          </a:solidFill>
          <a:ln w="17780">
            <a:solidFill>
              <a:srgbClr val="06B6D4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953387" y="1158240"/>
            <a:ext cx="10629012" cy="1828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14555" y="1696747"/>
            <a:ext cx="609600" cy="609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5873" y="1723481"/>
            <a:ext cx="5299835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3600" b="1" dirty="0">
                <a:solidFill>
                  <a:srgbClr val="F8FAFC"/>
                </a:solidFill>
                <a:latin typeface="Abadi" panose="020B0604020104020204" pitchFamily="34" charset="0"/>
              </a:rPr>
              <a:t>Introducing </a:t>
            </a:r>
            <a:r>
              <a:rPr lang="en-US" sz="3600" b="1" dirty="0" err="1">
                <a:solidFill>
                  <a:srgbClr val="F8FAFC"/>
                </a:solidFill>
                <a:latin typeface="Abadi" panose="020B0604020104020204" pitchFamily="34" charset="0"/>
              </a:rPr>
              <a:t>Intellectra</a:t>
            </a:r>
            <a:endParaRPr lang="en-US" sz="3600" dirty="0">
              <a:solidFill>
                <a:prstClr val="black"/>
              </a:solidFill>
              <a:latin typeface="Abadi" panose="020B0604020104020204" pitchFamily="3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1924155" y="2439358"/>
            <a:ext cx="9111673" cy="3502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400" dirty="0" err="1">
                <a:solidFill>
                  <a:srgbClr val="CBD5E1"/>
                </a:solidFill>
                <a:latin typeface="Century Gothic" panose="020B0502020202020204" pitchFamily="34" charset="0"/>
              </a:rPr>
              <a:t>Intellectra</a:t>
            </a:r>
            <a:r>
              <a:rPr lang="en-US" sz="2400" dirty="0">
                <a:solidFill>
                  <a:srgbClr val="CBD5E1"/>
                </a:solidFill>
                <a:latin typeface="Century Gothic" panose="020B0502020202020204" pitchFamily="34" charset="0"/>
              </a:rPr>
              <a:t>, a next-generation AI study assistant engineered to provide students with instant, intelligent, and personalized academic support. It functions as a virtual learning companion capable of understanding educational context and responding with precision. The system is curated using a RAG-based retrieval pipeline, NLP-driven query analysis, and real-time fallback search mechanisms. </a:t>
            </a:r>
            <a:r>
              <a:rPr lang="en-US" sz="2400" dirty="0" err="1">
                <a:solidFill>
                  <a:srgbClr val="CBD5E1"/>
                </a:solidFill>
                <a:latin typeface="Century Gothic" panose="020B0502020202020204" pitchFamily="34" charset="0"/>
              </a:rPr>
              <a:t>Intellectra</a:t>
            </a:r>
            <a:r>
              <a:rPr lang="en-US" sz="2400" dirty="0">
                <a:solidFill>
                  <a:srgbClr val="CBD5E1"/>
                </a:solidFill>
                <a:latin typeface="Century Gothic" panose="020B0502020202020204" pitchFamily="34" charset="0"/>
              </a:rPr>
              <a:t> bridges the gap between static notes and dynamic learning.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63296" y="1158240"/>
            <a:ext cx="5462016" cy="2682240"/>
          </a:xfrm>
          <a:prstGeom prst="rect">
            <a:avLst/>
          </a:prstGeom>
          <a:solidFill>
            <a:srgbClr val="161B22"/>
          </a:solidFill>
          <a:ln w="1524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1" name="Graphic 20" descr="Lecturer">
            <a:extLst>
              <a:ext uri="{FF2B5EF4-FFF2-40B4-BE49-F238E27FC236}">
                <a16:creationId xmlns:a16="http://schemas.microsoft.com/office/drawing/2014/main" id="{6373C628-E34B-4B2F-7654-9C0A5E5DF3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9205" y="1865376"/>
            <a:ext cx="914400" cy="9144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09600" y="243840"/>
            <a:ext cx="109728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4533" b="1" dirty="0">
                <a:solidFill>
                  <a:srgbClr val="F8FAFC"/>
                </a:solidFill>
                <a:latin typeface="Aptos Black" panose="020B0004020202020204" pitchFamily="34" charset="0"/>
              </a:rPr>
              <a:t>Problem Statement</a:t>
            </a:r>
            <a:endParaRPr lang="en-US" sz="4533" dirty="0">
              <a:solidFill>
                <a:prstClr val="black"/>
              </a:solidFill>
              <a:latin typeface="Aptos Black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09600" y="975360"/>
            <a:ext cx="10972800" cy="487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sysClr val="windowText" lastClr="000000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1499616" y="1280160"/>
            <a:ext cx="4267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dirty="0">
                <a:solidFill>
                  <a:srgbClr val="10B981"/>
                </a:solidFill>
                <a:latin typeface="Abadi" panose="020B0604020104020204" pitchFamily="34" charset="0"/>
              </a:rPr>
              <a:t>Limited Availability</a:t>
            </a:r>
            <a:endParaRPr lang="en-US" sz="2933" dirty="0">
              <a:solidFill>
                <a:srgbClr val="10B981"/>
              </a:solidFill>
              <a:latin typeface="Abadi" panose="020B0604020104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499616" y="1914144"/>
            <a:ext cx="4267200" cy="1767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400" dirty="0">
                <a:solidFill>
                  <a:srgbClr val="CBD5E1"/>
                </a:solidFill>
                <a:latin typeface="Century Gothic" panose="020B0502020202020204" pitchFamily="34" charset="0"/>
              </a:rPr>
              <a:t>Teachers are not always available. It helps take all documents from the teachers, and answer any query</a:t>
            </a:r>
            <a:endParaRPr lang="en-US" sz="2400" dirty="0">
              <a:solidFill>
                <a:prstClr val="black"/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266688" y="1158240"/>
            <a:ext cx="5462016" cy="2682240"/>
          </a:xfrm>
          <a:prstGeom prst="rect">
            <a:avLst/>
          </a:prstGeom>
          <a:solidFill>
            <a:srgbClr val="161B22"/>
          </a:solidFill>
          <a:ln w="1524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6"/>
          <p:cNvSpPr/>
          <p:nvPr/>
        </p:nvSpPr>
        <p:spPr>
          <a:xfrm>
            <a:off x="7303008" y="1280160"/>
            <a:ext cx="4267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dirty="0">
                <a:solidFill>
                  <a:srgbClr val="10B981"/>
                </a:solidFill>
                <a:latin typeface="Abadi" panose="020B0604020104020204" pitchFamily="34" charset="0"/>
              </a:rPr>
              <a:t>Inefficient Utilization</a:t>
            </a:r>
            <a:endParaRPr lang="en-US" sz="2933" dirty="0">
              <a:solidFill>
                <a:srgbClr val="10B981"/>
              </a:solidFill>
              <a:latin typeface="Abadi" panose="020B0604020104020204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7303008" y="1914144"/>
            <a:ext cx="4267200" cy="1767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400" dirty="0">
                <a:solidFill>
                  <a:srgbClr val="CBD5E1"/>
                </a:solidFill>
                <a:latin typeface="Century Gothic" panose="020B0502020202020204" pitchFamily="34" charset="0"/>
              </a:rPr>
              <a:t>Educational resources such as PDFs, notes, and presentations remain static and difficult to search manually</a:t>
            </a:r>
          </a:p>
        </p:txBody>
      </p:sp>
      <p:sp>
        <p:nvSpPr>
          <p:cNvPr id="12" name="Shape 8"/>
          <p:cNvSpPr/>
          <p:nvPr/>
        </p:nvSpPr>
        <p:spPr>
          <a:xfrm>
            <a:off x="463296" y="4059936"/>
            <a:ext cx="5462016" cy="2682240"/>
          </a:xfrm>
          <a:prstGeom prst="rect">
            <a:avLst/>
          </a:prstGeom>
          <a:solidFill>
            <a:srgbClr val="161B22"/>
          </a:solidFill>
          <a:ln w="1524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9"/>
          <p:cNvSpPr/>
          <p:nvPr/>
        </p:nvSpPr>
        <p:spPr>
          <a:xfrm>
            <a:off x="1481328" y="4303776"/>
            <a:ext cx="4267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dirty="0">
                <a:solidFill>
                  <a:srgbClr val="10B981"/>
                </a:solidFill>
                <a:latin typeface="Abadi" panose="020B0604020104020204" pitchFamily="34" charset="0"/>
              </a:rPr>
              <a:t>Context Awareness</a:t>
            </a:r>
            <a:endParaRPr lang="en-US" sz="2933" dirty="0">
              <a:solidFill>
                <a:srgbClr val="10B981"/>
              </a:solidFill>
              <a:latin typeface="Abadi" panose="020B0604020104020204" pitchFamily="34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1499616" y="4815840"/>
            <a:ext cx="4267200" cy="1767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400" dirty="0">
                <a:solidFill>
                  <a:srgbClr val="CBD5E1"/>
                </a:solidFill>
                <a:latin typeface="Century Gothic" panose="020B0502020202020204" pitchFamily="34" charset="0"/>
              </a:rPr>
              <a:t>Conventional chatbots are frequently restricted to poor contextual understanding</a:t>
            </a:r>
          </a:p>
        </p:txBody>
      </p:sp>
      <p:sp>
        <p:nvSpPr>
          <p:cNvPr id="16" name="Shape 11"/>
          <p:cNvSpPr/>
          <p:nvPr/>
        </p:nvSpPr>
        <p:spPr>
          <a:xfrm>
            <a:off x="6266688" y="4045868"/>
            <a:ext cx="5462016" cy="2682240"/>
          </a:xfrm>
          <a:prstGeom prst="rect">
            <a:avLst/>
          </a:prstGeom>
          <a:solidFill>
            <a:srgbClr val="161B22"/>
          </a:solidFill>
          <a:ln w="1524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7303008" y="4181856"/>
            <a:ext cx="4267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dirty="0">
                <a:solidFill>
                  <a:srgbClr val="10B981"/>
                </a:solidFill>
                <a:latin typeface="Abadi" panose="020B0604020104020204" pitchFamily="34" charset="0"/>
              </a:rPr>
              <a:t>Self Assessment</a:t>
            </a:r>
            <a:endParaRPr lang="en-US" sz="2933" dirty="0">
              <a:solidFill>
                <a:srgbClr val="10B981"/>
              </a:solidFill>
              <a:latin typeface="Abadi" panose="020B0604020104020204" pitchFamily="34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7303008" y="4793806"/>
            <a:ext cx="4267200" cy="1767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200" dirty="0">
                <a:solidFill>
                  <a:srgbClr val="CBD5E1"/>
                </a:solidFill>
                <a:latin typeface="Century Gothic" panose="020B0502020202020204" pitchFamily="34" charset="0"/>
              </a:rPr>
              <a:t>Most available learning systems focus only on information delivery and fail to provide revision mechanisms such as quizzes, flashcards.</a:t>
            </a:r>
          </a:p>
        </p:txBody>
      </p:sp>
      <p:pic>
        <p:nvPicPr>
          <p:cNvPr id="23" name="Graphic 22" descr="Document">
            <a:extLst>
              <a:ext uri="{FF2B5EF4-FFF2-40B4-BE49-F238E27FC236}">
                <a16:creationId xmlns:a16="http://schemas.microsoft.com/office/drawing/2014/main" id="{F8C382AA-4A62-F986-23F7-6BDCFF6464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88608" y="1865376"/>
            <a:ext cx="914400" cy="914400"/>
          </a:xfrm>
          <a:prstGeom prst="rect">
            <a:avLst/>
          </a:prstGeom>
        </p:spPr>
      </p:pic>
      <p:pic>
        <p:nvPicPr>
          <p:cNvPr id="25" name="Graphic 24" descr="Brain in head">
            <a:extLst>
              <a:ext uri="{FF2B5EF4-FFF2-40B4-BE49-F238E27FC236}">
                <a16:creationId xmlns:a16="http://schemas.microsoft.com/office/drawing/2014/main" id="{0E7E27AE-75BF-DF0F-D4F5-0855611216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4815580"/>
            <a:ext cx="914400" cy="914400"/>
          </a:xfrm>
          <a:prstGeom prst="rect">
            <a:avLst/>
          </a:prstGeom>
        </p:spPr>
      </p:pic>
      <p:pic>
        <p:nvPicPr>
          <p:cNvPr id="28" name="Graphic 27" descr="List RTL">
            <a:extLst>
              <a:ext uri="{FF2B5EF4-FFF2-40B4-BE49-F238E27FC236}">
                <a16:creationId xmlns:a16="http://schemas.microsoft.com/office/drawing/2014/main" id="{19101E24-F599-D4DC-5312-DC3F0E62AB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70320" y="4815580"/>
            <a:ext cx="914400" cy="9144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43840"/>
            <a:ext cx="109728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4533" b="1" dirty="0">
                <a:solidFill>
                  <a:srgbClr val="F8FAFC"/>
                </a:solidFill>
                <a:latin typeface="Aptos Black" panose="020B0004020202020204" pitchFamily="34" charset="0"/>
              </a:rPr>
              <a:t>Objectives</a:t>
            </a:r>
            <a:endParaRPr lang="en-US" sz="4533" dirty="0">
              <a:solidFill>
                <a:prstClr val="black"/>
              </a:solidFill>
              <a:latin typeface="Aptos Black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09600" y="975360"/>
            <a:ext cx="10972800" cy="487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63296" y="1373994"/>
            <a:ext cx="97536" cy="99974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755904" y="1398378"/>
            <a:ext cx="7984059" cy="926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200" dirty="0">
                <a:solidFill>
                  <a:srgbClr val="06B6D4"/>
                </a:solidFill>
                <a:latin typeface="Century Gothic" panose="020B0502020202020204" pitchFamily="34" charset="0"/>
              </a:rPr>
              <a:t>Provide contextual academic Q&amp;A from uploaded study materials</a:t>
            </a:r>
            <a:endParaRPr lang="en-US" sz="2933" dirty="0">
              <a:solidFill>
                <a:srgbClr val="06B6D4"/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63296" y="2690730"/>
            <a:ext cx="97536" cy="999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63296" y="4007466"/>
            <a:ext cx="97536" cy="999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63296" y="5324202"/>
            <a:ext cx="97536" cy="999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F7031E4C-75F8-BEE0-4FE3-A13BAA3BBAFD}"/>
              </a:ext>
            </a:extLst>
          </p:cNvPr>
          <p:cNvSpPr/>
          <p:nvPr/>
        </p:nvSpPr>
        <p:spPr>
          <a:xfrm>
            <a:off x="755904" y="2702922"/>
            <a:ext cx="7984059" cy="926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200" dirty="0">
                <a:solidFill>
                  <a:srgbClr val="7C3AED"/>
                </a:solidFill>
                <a:latin typeface="Century Gothic" panose="020B0502020202020204" pitchFamily="34" charset="0"/>
              </a:rPr>
              <a:t>Support all major document formats</a:t>
            </a:r>
            <a:endParaRPr lang="en-US" sz="2933" dirty="0">
              <a:solidFill>
                <a:srgbClr val="7C3AED"/>
              </a:solidFill>
              <a:latin typeface="Century Gothic" panose="020B0502020202020204" pitchFamily="34" charset="0"/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0EE7C1CE-5C61-4A54-4685-539F195CC422}"/>
              </a:ext>
            </a:extLst>
          </p:cNvPr>
          <p:cNvSpPr/>
          <p:nvPr/>
        </p:nvSpPr>
        <p:spPr>
          <a:xfrm>
            <a:off x="755903" y="4007466"/>
            <a:ext cx="7984059" cy="926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200" dirty="0">
                <a:solidFill>
                  <a:srgbClr val="10B981"/>
                </a:solidFill>
                <a:latin typeface="Century Gothic" panose="020B0502020202020204" pitchFamily="34" charset="0"/>
              </a:rPr>
              <a:t>Enable interactive revision via quizzes and flashcards</a:t>
            </a:r>
            <a:endParaRPr lang="en-US" sz="2933" dirty="0">
              <a:solidFill>
                <a:srgbClr val="10B981"/>
              </a:solidFill>
              <a:latin typeface="Century Gothic" panose="020B0502020202020204" pitchFamily="34" charset="0"/>
            </a:endParaRPr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2D75A1D1-60E0-2BA5-7711-4ED8B369AB80}"/>
              </a:ext>
            </a:extLst>
          </p:cNvPr>
          <p:cNvSpPr/>
          <p:nvPr/>
        </p:nvSpPr>
        <p:spPr>
          <a:xfrm>
            <a:off x="755902" y="5312010"/>
            <a:ext cx="7984059" cy="926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200" dirty="0">
                <a:solidFill>
                  <a:srgbClr val="F59E0B"/>
                </a:solidFill>
                <a:latin typeface="Century Gothic" panose="020B0502020202020204" pitchFamily="34" charset="0"/>
              </a:rPr>
              <a:t>Handle out-of-context queries through live web fallback</a:t>
            </a:r>
            <a:endParaRPr lang="en-US" sz="2933" dirty="0">
              <a:solidFill>
                <a:srgbClr val="F59E0B"/>
              </a:solidFill>
              <a:latin typeface="Century Gothic" panose="020B0502020202020204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3742"/>
            <a:ext cx="109728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4533" b="1" dirty="0">
                <a:solidFill>
                  <a:srgbClr val="F8FAFC"/>
                </a:solidFill>
                <a:latin typeface="Aptos Black" panose="020B0004020202020204" pitchFamily="34" charset="0"/>
              </a:rPr>
              <a:t>Flow Diagram</a:t>
            </a:r>
            <a:endParaRPr lang="en-US" sz="4533" dirty="0">
              <a:solidFill>
                <a:prstClr val="black"/>
              </a:solidFill>
              <a:latin typeface="Aptos Black" panose="020B0004020202020204" pitchFamily="34" charset="0"/>
            </a:endParaRPr>
          </a:p>
        </p:txBody>
      </p:sp>
      <p:sp>
        <p:nvSpPr>
          <p:cNvPr id="39" name="Shape 1">
            <a:extLst>
              <a:ext uri="{FF2B5EF4-FFF2-40B4-BE49-F238E27FC236}">
                <a16:creationId xmlns:a16="http://schemas.microsoft.com/office/drawing/2014/main" id="{9EB08568-5461-93B0-F931-E6B64B03E4F1}"/>
              </a:ext>
            </a:extLst>
          </p:cNvPr>
          <p:cNvSpPr/>
          <p:nvPr/>
        </p:nvSpPr>
        <p:spPr>
          <a:xfrm>
            <a:off x="609600" y="975360"/>
            <a:ext cx="10972800" cy="487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BE548D34-94BC-7F24-A6E3-5FEDC55226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3" t="4195" r="2735" b="4270"/>
          <a:stretch>
            <a:fillRect/>
          </a:stretch>
        </p:blipFill>
        <p:spPr>
          <a:xfrm>
            <a:off x="1698660" y="1440648"/>
            <a:ext cx="8794679" cy="4907351"/>
          </a:xfrm>
          <a:prstGeom prst="roundRect">
            <a:avLst>
              <a:gd name="adj" fmla="val 11433"/>
            </a:avLst>
          </a:prstGeom>
          <a:effectLst>
            <a:glow rad="101600">
              <a:srgbClr val="7C3AED">
                <a:alpha val="60000"/>
              </a:srgbClr>
            </a:glow>
          </a:effectLst>
        </p:spPr>
      </p:pic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A33B55-D817-E8D2-BFA4-0609F763B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AA3BB48-0289-A066-38D7-3ED3F816CF48}"/>
              </a:ext>
            </a:extLst>
          </p:cNvPr>
          <p:cNvSpPr/>
          <p:nvPr/>
        </p:nvSpPr>
        <p:spPr>
          <a:xfrm>
            <a:off x="609600" y="243840"/>
            <a:ext cx="109728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4533" b="1" dirty="0">
                <a:solidFill>
                  <a:srgbClr val="F8FAFC"/>
                </a:solidFill>
                <a:latin typeface="Aptos Black" panose="020B0004020202020204" pitchFamily="34" charset="0"/>
              </a:rPr>
              <a:t>Tech Stack</a:t>
            </a:r>
            <a:endParaRPr lang="en-US" sz="4533" dirty="0">
              <a:solidFill>
                <a:prstClr val="black"/>
              </a:solidFill>
              <a:latin typeface="Aptos Black" panose="020B0004020202020204" pitchFamily="34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3A362D0-36A1-EA24-0029-A17B0444097C}"/>
              </a:ext>
            </a:extLst>
          </p:cNvPr>
          <p:cNvSpPr/>
          <p:nvPr/>
        </p:nvSpPr>
        <p:spPr>
          <a:xfrm>
            <a:off x="609600" y="975360"/>
            <a:ext cx="10972800" cy="48768"/>
          </a:xfrm>
          <a:prstGeom prst="rect">
            <a:avLst/>
          </a:prstGeom>
          <a:solidFill>
            <a:srgbClr val="45474B"/>
          </a:solidFill>
          <a:ln w="12700">
            <a:solidFill>
              <a:srgbClr val="45474B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D95D99E9-1580-C2FB-F089-AA16E9A30504}"/>
              </a:ext>
            </a:extLst>
          </p:cNvPr>
          <p:cNvGrpSpPr/>
          <p:nvPr/>
        </p:nvGrpSpPr>
        <p:grpSpPr>
          <a:xfrm>
            <a:off x="485983" y="1426885"/>
            <a:ext cx="2892056" cy="3109881"/>
            <a:chOff x="265814" y="1329070"/>
            <a:chExt cx="2892056" cy="3109881"/>
          </a:xfrm>
          <a:noFill/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2306821A-188C-BBBC-9818-43C896AE303C}"/>
                </a:ext>
              </a:extLst>
            </p:cNvPr>
            <p:cNvGrpSpPr/>
            <p:nvPr/>
          </p:nvGrpSpPr>
          <p:grpSpPr>
            <a:xfrm>
              <a:off x="609600" y="1992470"/>
              <a:ext cx="983104" cy="1096384"/>
              <a:chOff x="609600" y="1689868"/>
              <a:chExt cx="1559442" cy="1739132"/>
            </a:xfrm>
            <a:grpFill/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58C8860D-47AA-2FCF-64D7-C705BE830E57}"/>
                  </a:ext>
                </a:extLst>
              </p:cNvPr>
              <p:cNvGrpSpPr/>
              <p:nvPr/>
            </p:nvGrpSpPr>
            <p:grpSpPr>
              <a:xfrm>
                <a:off x="609600" y="1689868"/>
                <a:ext cx="1559442" cy="1739132"/>
                <a:chOff x="402336" y="1158240"/>
                <a:chExt cx="2234538" cy="2682240"/>
              </a:xfrm>
              <a:grpFill/>
            </p:grpSpPr>
            <p:sp>
              <p:nvSpPr>
                <p:cNvPr id="30" name="Shape 2">
                  <a:extLst>
                    <a:ext uri="{FF2B5EF4-FFF2-40B4-BE49-F238E27FC236}">
                      <a16:creationId xmlns:a16="http://schemas.microsoft.com/office/drawing/2014/main" id="{3700E8A8-DA17-DFB2-9918-7DCE5061FE45}"/>
                    </a:ext>
                  </a:extLst>
                </p:cNvPr>
                <p:cNvSpPr/>
                <p:nvPr/>
              </p:nvSpPr>
              <p:spPr>
                <a:xfrm>
                  <a:off x="402336" y="1158240"/>
                  <a:ext cx="2234538" cy="2682240"/>
                </a:xfrm>
                <a:prstGeom prst="rect">
                  <a:avLst/>
                </a:prstGeom>
                <a:grpFill/>
                <a:ln w="13970">
                  <a:solidFill>
                    <a:srgbClr val="7C3AED"/>
                  </a:solidFill>
                  <a:prstDash val="solid"/>
                </a:ln>
                <a:effectLst>
                  <a:outerShdw blurRad="101600" dist="25400" dir="8100000" algn="bl" rotWithShape="0">
                    <a:srgbClr val="000000">
                      <a:alpha val="30000"/>
                    </a:srgbClr>
                  </a:outerShdw>
                </a:effectLst>
              </p:spPr>
              <p:txBody>
                <a:bodyPr/>
                <a:lstStyle/>
                <a:p>
                  <a:pPr defTabSz="1219170"/>
                  <a:endParaRPr lang="en-US" sz="24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1" name="Text 3">
                  <a:extLst>
                    <a:ext uri="{FF2B5EF4-FFF2-40B4-BE49-F238E27FC236}">
                      <a16:creationId xmlns:a16="http://schemas.microsoft.com/office/drawing/2014/main" id="{BBAA40A8-8DB7-9352-6055-60EDF243D4EE}"/>
                    </a:ext>
                  </a:extLst>
                </p:cNvPr>
                <p:cNvSpPr/>
                <p:nvPr/>
              </p:nvSpPr>
              <p:spPr>
                <a:xfrm>
                  <a:off x="402336" y="1280160"/>
                  <a:ext cx="2234538" cy="585216"/>
                </a:xfrm>
                <a:prstGeom prst="rect">
                  <a:avLst/>
                </a:prstGeom>
                <a:grpFill/>
                <a:ln/>
              </p:spPr>
              <p:txBody>
                <a:bodyPr wrap="square" rtlCol="0" anchor="ctr"/>
                <a:lstStyle/>
                <a:p>
                  <a:pPr algn="ctr" defTabSz="1219170"/>
                  <a:r>
                    <a:rPr lang="en-US" dirty="0">
                      <a:solidFill>
                        <a:srgbClr val="7C3AED"/>
                      </a:solidFill>
                      <a:latin typeface="Aptos Black" panose="020B0004020202020204" pitchFamily="34" charset="0"/>
                    </a:rPr>
                    <a:t>HTML</a:t>
                  </a:r>
                  <a:endParaRPr lang="en-US" dirty="0">
                    <a:solidFill>
                      <a:prstClr val="black"/>
                    </a:solidFill>
                    <a:latin typeface="Aptos Black" panose="020B0004020202020204" pitchFamily="34" charset="0"/>
                  </a:endParaRPr>
                </a:p>
              </p:txBody>
            </p:sp>
          </p:grpSp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22677CA4-21AC-FFC2-32D1-031C481BDA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duotone>
                  <a:prstClr val="black"/>
                  <a:srgbClr val="7C3AED">
                    <a:tint val="45000"/>
                    <a:satMod val="400000"/>
                  </a:srgbClr>
                </a:duotone>
              </a:blip>
              <a:stretch>
                <a:fillRect/>
              </a:stretch>
            </p:blipFill>
            <p:spPr>
              <a:xfrm>
                <a:off x="862141" y="2227417"/>
                <a:ext cx="1054360" cy="1054360"/>
              </a:xfrm>
              <a:prstGeom prst="rect">
                <a:avLst/>
              </a:prstGeom>
              <a:grpFill/>
            </p:spPr>
          </p:pic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EA9E68C4-7F5F-AA68-7703-4BE089A2834B}"/>
                </a:ext>
              </a:extLst>
            </p:cNvPr>
            <p:cNvGrpSpPr/>
            <p:nvPr/>
          </p:nvGrpSpPr>
          <p:grpSpPr>
            <a:xfrm>
              <a:off x="1751911" y="1992470"/>
              <a:ext cx="983104" cy="1096384"/>
              <a:chOff x="2460073" y="1689868"/>
              <a:chExt cx="1559442" cy="1739132"/>
            </a:xfrm>
            <a:grpFill/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FE5625C1-205C-4768-9ED1-F9C92880F1C2}"/>
                  </a:ext>
                </a:extLst>
              </p:cNvPr>
              <p:cNvGrpSpPr/>
              <p:nvPr/>
            </p:nvGrpSpPr>
            <p:grpSpPr>
              <a:xfrm>
                <a:off x="2460073" y="1689868"/>
                <a:ext cx="1559442" cy="1739132"/>
                <a:chOff x="402336" y="1158240"/>
                <a:chExt cx="2234538" cy="2682240"/>
              </a:xfrm>
              <a:grpFill/>
            </p:grpSpPr>
            <p:sp>
              <p:nvSpPr>
                <p:cNvPr id="37" name="Shape 2">
                  <a:extLst>
                    <a:ext uri="{FF2B5EF4-FFF2-40B4-BE49-F238E27FC236}">
                      <a16:creationId xmlns:a16="http://schemas.microsoft.com/office/drawing/2014/main" id="{9C868373-95D7-4793-7E18-AFD81B3CF28A}"/>
                    </a:ext>
                  </a:extLst>
                </p:cNvPr>
                <p:cNvSpPr/>
                <p:nvPr/>
              </p:nvSpPr>
              <p:spPr>
                <a:xfrm>
                  <a:off x="402336" y="1158240"/>
                  <a:ext cx="2234538" cy="2682240"/>
                </a:xfrm>
                <a:prstGeom prst="rect">
                  <a:avLst/>
                </a:prstGeom>
                <a:grpFill/>
                <a:ln w="13970">
                  <a:solidFill>
                    <a:srgbClr val="7C3AED"/>
                  </a:solidFill>
                  <a:prstDash val="solid"/>
                </a:ln>
                <a:effectLst>
                  <a:outerShdw blurRad="101600" dist="25400" dir="8100000" algn="bl" rotWithShape="0">
                    <a:srgbClr val="000000">
                      <a:alpha val="30000"/>
                    </a:srgbClr>
                  </a:outerShdw>
                </a:effectLst>
              </p:spPr>
              <p:txBody>
                <a:bodyPr/>
                <a:lstStyle/>
                <a:p>
                  <a:pPr defTabSz="1219170"/>
                  <a:endParaRPr lang="en-US" sz="24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8" name="Text 3">
                  <a:extLst>
                    <a:ext uri="{FF2B5EF4-FFF2-40B4-BE49-F238E27FC236}">
                      <a16:creationId xmlns:a16="http://schemas.microsoft.com/office/drawing/2014/main" id="{79C797A7-D391-E8D9-6AF1-221984335A52}"/>
                    </a:ext>
                  </a:extLst>
                </p:cNvPr>
                <p:cNvSpPr/>
                <p:nvPr/>
              </p:nvSpPr>
              <p:spPr>
                <a:xfrm>
                  <a:off x="402336" y="1280160"/>
                  <a:ext cx="2234538" cy="585216"/>
                </a:xfrm>
                <a:prstGeom prst="rect">
                  <a:avLst/>
                </a:prstGeom>
                <a:grpFill/>
                <a:ln/>
              </p:spPr>
              <p:txBody>
                <a:bodyPr wrap="square" rtlCol="0" anchor="ctr"/>
                <a:lstStyle/>
                <a:p>
                  <a:pPr algn="ctr" defTabSz="1219170"/>
                  <a:r>
                    <a:rPr lang="en-US" dirty="0">
                      <a:solidFill>
                        <a:srgbClr val="7C3AED"/>
                      </a:solidFill>
                      <a:latin typeface="Aptos Black" panose="020B0004020202020204" pitchFamily="34" charset="0"/>
                    </a:rPr>
                    <a:t>CSS</a:t>
                  </a:r>
                  <a:endParaRPr lang="en-US" dirty="0">
                    <a:solidFill>
                      <a:prstClr val="black"/>
                    </a:solidFill>
                    <a:latin typeface="Aptos Black" panose="020B0004020202020204" pitchFamily="34" charset="0"/>
                  </a:endParaRPr>
                </a:p>
              </p:txBody>
            </p:sp>
          </p:grpSp>
          <p:pic>
            <p:nvPicPr>
              <p:cNvPr id="41" name="Picture 40">
                <a:extLst>
                  <a:ext uri="{FF2B5EF4-FFF2-40B4-BE49-F238E27FC236}">
                    <a16:creationId xmlns:a16="http://schemas.microsoft.com/office/drawing/2014/main" id="{18AAA0BD-DAAD-53BD-12B9-EB32D13462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duotone>
                  <a:prstClr val="black"/>
                  <a:srgbClr val="7C3AED">
                    <a:tint val="45000"/>
                    <a:satMod val="400000"/>
                  </a:srgbClr>
                </a:duotone>
              </a:blip>
              <a:stretch>
                <a:fillRect/>
              </a:stretch>
            </p:blipFill>
            <p:spPr>
              <a:xfrm>
                <a:off x="2697029" y="2193189"/>
                <a:ext cx="1088588" cy="1088588"/>
              </a:xfrm>
              <a:prstGeom prst="rect">
                <a:avLst/>
              </a:prstGeom>
              <a:grpFill/>
            </p:spPr>
          </p:pic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FA057DF6-F450-0781-A9E3-A3282E91CAFA}"/>
                </a:ext>
              </a:extLst>
            </p:cNvPr>
            <p:cNvGrpSpPr/>
            <p:nvPr/>
          </p:nvGrpSpPr>
          <p:grpSpPr>
            <a:xfrm>
              <a:off x="1260359" y="3220955"/>
              <a:ext cx="983104" cy="1096384"/>
              <a:chOff x="4087262" y="1992470"/>
              <a:chExt cx="1559442" cy="1739132"/>
            </a:xfrm>
            <a:grpFill/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AE78BFED-A32A-98B1-4BA7-171647F0051C}"/>
                  </a:ext>
                </a:extLst>
              </p:cNvPr>
              <p:cNvGrpSpPr/>
              <p:nvPr/>
            </p:nvGrpSpPr>
            <p:grpSpPr>
              <a:xfrm>
                <a:off x="4087262" y="1992470"/>
                <a:ext cx="1559442" cy="1739132"/>
                <a:chOff x="402336" y="1158240"/>
                <a:chExt cx="2234538" cy="2682240"/>
              </a:xfrm>
              <a:grpFill/>
            </p:grpSpPr>
            <p:sp>
              <p:nvSpPr>
                <p:cNvPr id="47" name="Shape 2">
                  <a:extLst>
                    <a:ext uri="{FF2B5EF4-FFF2-40B4-BE49-F238E27FC236}">
                      <a16:creationId xmlns:a16="http://schemas.microsoft.com/office/drawing/2014/main" id="{5DE21039-0E52-6301-6C96-C181E82FAEA3}"/>
                    </a:ext>
                  </a:extLst>
                </p:cNvPr>
                <p:cNvSpPr/>
                <p:nvPr/>
              </p:nvSpPr>
              <p:spPr>
                <a:xfrm>
                  <a:off x="402336" y="1158240"/>
                  <a:ext cx="2234538" cy="2682240"/>
                </a:xfrm>
                <a:prstGeom prst="rect">
                  <a:avLst/>
                </a:prstGeom>
                <a:grpFill/>
                <a:ln w="13970">
                  <a:solidFill>
                    <a:srgbClr val="7C3AED"/>
                  </a:solidFill>
                  <a:prstDash val="solid"/>
                </a:ln>
                <a:effectLst>
                  <a:outerShdw blurRad="101600" dist="25400" dir="8100000" algn="bl" rotWithShape="0">
                    <a:srgbClr val="000000">
                      <a:alpha val="30000"/>
                    </a:srgbClr>
                  </a:outerShdw>
                </a:effectLst>
              </p:spPr>
              <p:txBody>
                <a:bodyPr/>
                <a:lstStyle/>
                <a:p>
                  <a:pPr defTabSz="1219170"/>
                  <a:endParaRPr lang="en-US" sz="24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48" name="Text 3">
                  <a:extLst>
                    <a:ext uri="{FF2B5EF4-FFF2-40B4-BE49-F238E27FC236}">
                      <a16:creationId xmlns:a16="http://schemas.microsoft.com/office/drawing/2014/main" id="{0ECB0DA7-5BBA-EB05-4BC3-F7C53F716413}"/>
                    </a:ext>
                  </a:extLst>
                </p:cNvPr>
                <p:cNvSpPr/>
                <p:nvPr/>
              </p:nvSpPr>
              <p:spPr>
                <a:xfrm>
                  <a:off x="402336" y="1280160"/>
                  <a:ext cx="2234538" cy="585216"/>
                </a:xfrm>
                <a:prstGeom prst="rect">
                  <a:avLst/>
                </a:prstGeom>
                <a:grpFill/>
                <a:ln/>
              </p:spPr>
              <p:txBody>
                <a:bodyPr wrap="square" rtlCol="0" anchor="ctr"/>
                <a:lstStyle/>
                <a:p>
                  <a:pPr algn="ctr" defTabSz="1219170"/>
                  <a:r>
                    <a:rPr lang="en-US" dirty="0">
                      <a:solidFill>
                        <a:srgbClr val="7C3AED"/>
                      </a:solidFill>
                      <a:latin typeface="Aptos Black" panose="020B0004020202020204" pitchFamily="34" charset="0"/>
                    </a:rPr>
                    <a:t>JS</a:t>
                  </a:r>
                  <a:endParaRPr lang="en-US" sz="2400" dirty="0">
                    <a:solidFill>
                      <a:prstClr val="black"/>
                    </a:solidFill>
                    <a:latin typeface="Aptos Black" panose="020B0004020202020204" pitchFamily="34" charset="0"/>
                  </a:endParaRPr>
                </a:p>
              </p:txBody>
            </p:sp>
          </p:grpSp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270287A4-486D-C48A-EFE0-28F913435B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duotone>
                  <a:prstClr val="black"/>
                  <a:srgbClr val="7C3AED">
                    <a:tint val="45000"/>
                    <a:satMod val="400000"/>
                  </a:srgbClr>
                </a:duotone>
              </a:blip>
              <a:stretch>
                <a:fillRect/>
              </a:stretch>
            </p:blipFill>
            <p:spPr>
              <a:xfrm>
                <a:off x="4380639" y="2495791"/>
                <a:ext cx="972688" cy="972688"/>
              </a:xfrm>
              <a:prstGeom prst="rect">
                <a:avLst/>
              </a:prstGeom>
              <a:grpFill/>
            </p:spPr>
          </p:pic>
        </p:grp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4D455D71-D7FD-00E6-6630-E765F867F738}"/>
                </a:ext>
              </a:extLst>
            </p:cNvPr>
            <p:cNvSpPr/>
            <p:nvPr/>
          </p:nvSpPr>
          <p:spPr>
            <a:xfrm>
              <a:off x="265814" y="1329070"/>
              <a:ext cx="2892056" cy="3109881"/>
            </a:xfrm>
            <a:prstGeom prst="rect">
              <a:avLst/>
            </a:prstGeom>
            <a:grpFill/>
            <a:ln>
              <a:solidFill>
                <a:srgbClr val="7C3AE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D51774F-D92D-217C-A75D-4A39BD19CC6B}"/>
                </a:ext>
              </a:extLst>
            </p:cNvPr>
            <p:cNvSpPr txBox="1"/>
            <p:nvPr/>
          </p:nvSpPr>
          <p:spPr>
            <a:xfrm>
              <a:off x="265814" y="1409193"/>
              <a:ext cx="2892055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7C3AED"/>
                  </a:solidFill>
                  <a:latin typeface="Century Gothic" panose="020B0502020202020204" pitchFamily="34" charset="0"/>
                </a:rPr>
                <a:t>FRONTEND</a:t>
              </a:r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8B306283-4ADF-71EE-4816-F1B6F3501A54}"/>
              </a:ext>
            </a:extLst>
          </p:cNvPr>
          <p:cNvGrpSpPr/>
          <p:nvPr/>
        </p:nvGrpSpPr>
        <p:grpSpPr>
          <a:xfrm>
            <a:off x="8813961" y="1526058"/>
            <a:ext cx="2892056" cy="3135598"/>
            <a:chOff x="4649972" y="1525857"/>
            <a:chExt cx="2892056" cy="3135598"/>
          </a:xfrm>
          <a:noFill/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578F3C7-9390-18E3-D678-A0B3A27A692F}"/>
                </a:ext>
              </a:extLst>
            </p:cNvPr>
            <p:cNvSpPr/>
            <p:nvPr/>
          </p:nvSpPr>
          <p:spPr>
            <a:xfrm>
              <a:off x="4649972" y="1525857"/>
              <a:ext cx="2892056" cy="3135598"/>
            </a:xfrm>
            <a:prstGeom prst="rect">
              <a:avLst/>
            </a:prstGeom>
            <a:grpFill/>
            <a:ln>
              <a:solidFill>
                <a:srgbClr val="06B6D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7957817-7744-F63A-263F-238F81C3EB71}"/>
                </a:ext>
              </a:extLst>
            </p:cNvPr>
            <p:cNvSpPr txBox="1"/>
            <p:nvPr/>
          </p:nvSpPr>
          <p:spPr>
            <a:xfrm>
              <a:off x="4649972" y="1582784"/>
              <a:ext cx="2892056" cy="461665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6B6D4"/>
                  </a:solidFill>
                  <a:latin typeface="Century Gothic" panose="020B0502020202020204" pitchFamily="34" charset="0"/>
                </a:rPr>
                <a:t>BACKEND</a:t>
              </a:r>
            </a:p>
          </p:txBody>
        </p: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BB4A09DF-F4E5-8E3D-C182-4C31267DC0E3}"/>
                </a:ext>
              </a:extLst>
            </p:cNvPr>
            <p:cNvGrpSpPr/>
            <p:nvPr/>
          </p:nvGrpSpPr>
          <p:grpSpPr>
            <a:xfrm>
              <a:off x="6136069" y="2189257"/>
              <a:ext cx="983104" cy="1096384"/>
              <a:chOff x="6136069" y="2189257"/>
              <a:chExt cx="983104" cy="1096384"/>
            </a:xfrm>
            <a:grpFill/>
          </p:grpSpPr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6324EAF1-5024-088D-DD99-0DC7C893B612}"/>
                  </a:ext>
                </a:extLst>
              </p:cNvPr>
              <p:cNvGrpSpPr/>
              <p:nvPr/>
            </p:nvGrpSpPr>
            <p:grpSpPr>
              <a:xfrm>
                <a:off x="6136069" y="2189257"/>
                <a:ext cx="983104" cy="1096384"/>
                <a:chOff x="402336" y="1158240"/>
                <a:chExt cx="2234538" cy="2682240"/>
              </a:xfrm>
              <a:grpFill/>
            </p:grpSpPr>
            <p:sp>
              <p:nvSpPr>
                <p:cNvPr id="68" name="Shape 2">
                  <a:extLst>
                    <a:ext uri="{FF2B5EF4-FFF2-40B4-BE49-F238E27FC236}">
                      <a16:creationId xmlns:a16="http://schemas.microsoft.com/office/drawing/2014/main" id="{E65B453D-17EE-5FEE-0764-AAEF65C750FA}"/>
                    </a:ext>
                  </a:extLst>
                </p:cNvPr>
                <p:cNvSpPr/>
                <p:nvPr/>
              </p:nvSpPr>
              <p:spPr>
                <a:xfrm>
                  <a:off x="402336" y="1158240"/>
                  <a:ext cx="2234538" cy="2682240"/>
                </a:xfrm>
                <a:prstGeom prst="rect">
                  <a:avLst/>
                </a:prstGeom>
                <a:grpFill/>
                <a:ln w="13970">
                  <a:solidFill>
                    <a:srgbClr val="06B6D4"/>
                  </a:solidFill>
                  <a:prstDash val="solid"/>
                </a:ln>
                <a:effectLst>
                  <a:outerShdw blurRad="101600" dist="25400" dir="8100000" algn="bl" rotWithShape="0">
                    <a:srgbClr val="000000">
                      <a:alpha val="30000"/>
                    </a:srgbClr>
                  </a:outerShdw>
                </a:effectLst>
              </p:spPr>
              <p:txBody>
                <a:bodyPr/>
                <a:lstStyle/>
                <a:p>
                  <a:pPr defTabSz="1219170"/>
                  <a:endParaRPr lang="en-US" sz="24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69" name="Text 3">
                  <a:extLst>
                    <a:ext uri="{FF2B5EF4-FFF2-40B4-BE49-F238E27FC236}">
                      <a16:creationId xmlns:a16="http://schemas.microsoft.com/office/drawing/2014/main" id="{BA923C95-A6C1-E9EA-BA30-9B5035758F82}"/>
                    </a:ext>
                  </a:extLst>
                </p:cNvPr>
                <p:cNvSpPr/>
                <p:nvPr/>
              </p:nvSpPr>
              <p:spPr>
                <a:xfrm>
                  <a:off x="402336" y="1280160"/>
                  <a:ext cx="2234538" cy="585216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rtlCol="0" anchor="ctr"/>
                <a:lstStyle/>
                <a:p>
                  <a:pPr algn="ctr" defTabSz="1219170"/>
                  <a:r>
                    <a:rPr lang="en-US" dirty="0">
                      <a:solidFill>
                        <a:srgbClr val="06B6D4"/>
                      </a:solidFill>
                      <a:latin typeface="Aptos Black" panose="020B0004020202020204" pitchFamily="34" charset="0"/>
                    </a:rPr>
                    <a:t>Flask</a:t>
                  </a:r>
                </a:p>
              </p:txBody>
            </p:sp>
          </p:grpSp>
          <p:pic>
            <p:nvPicPr>
              <p:cNvPr id="78" name="Picture 77">
                <a:extLst>
                  <a:ext uri="{FF2B5EF4-FFF2-40B4-BE49-F238E27FC236}">
                    <a16:creationId xmlns:a16="http://schemas.microsoft.com/office/drawing/2014/main" id="{62DBBE84-4741-0214-7A92-F18A0F1CDE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duotone>
                  <a:prstClr val="black"/>
                  <a:srgbClr val="06B6D4">
                    <a:tint val="45000"/>
                    <a:satMod val="400000"/>
                  </a:srgbClr>
                </a:duotone>
              </a:blip>
              <a:stretch>
                <a:fillRect/>
              </a:stretch>
            </p:blipFill>
            <p:spPr>
              <a:xfrm>
                <a:off x="6327996" y="2522173"/>
                <a:ext cx="599249" cy="599249"/>
              </a:xfrm>
              <a:prstGeom prst="rect">
                <a:avLst/>
              </a:prstGeom>
              <a:grpFill/>
            </p:spPr>
          </p:pic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4611C037-5AFC-16B4-194F-389098F30079}"/>
                </a:ext>
              </a:extLst>
            </p:cNvPr>
            <p:cNvGrpSpPr/>
            <p:nvPr/>
          </p:nvGrpSpPr>
          <p:grpSpPr>
            <a:xfrm>
              <a:off x="4993758" y="2189257"/>
              <a:ext cx="983104" cy="1096384"/>
              <a:chOff x="4993758" y="2189257"/>
              <a:chExt cx="983104" cy="1096384"/>
            </a:xfrm>
            <a:grpFill/>
          </p:grpSpPr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3EADCD78-4C00-AEE1-C887-8356E4AD6330}"/>
                  </a:ext>
                </a:extLst>
              </p:cNvPr>
              <p:cNvGrpSpPr/>
              <p:nvPr/>
            </p:nvGrpSpPr>
            <p:grpSpPr>
              <a:xfrm>
                <a:off x="4993758" y="2189257"/>
                <a:ext cx="983104" cy="1096384"/>
                <a:chOff x="402336" y="1158240"/>
                <a:chExt cx="2234538" cy="2682240"/>
              </a:xfrm>
              <a:grpFill/>
            </p:grpSpPr>
            <p:sp>
              <p:nvSpPr>
                <p:cNvPr id="72" name="Shape 2">
                  <a:extLst>
                    <a:ext uri="{FF2B5EF4-FFF2-40B4-BE49-F238E27FC236}">
                      <a16:creationId xmlns:a16="http://schemas.microsoft.com/office/drawing/2014/main" id="{084459F1-D803-F9F6-2ACC-7D4C424D5E62}"/>
                    </a:ext>
                  </a:extLst>
                </p:cNvPr>
                <p:cNvSpPr/>
                <p:nvPr/>
              </p:nvSpPr>
              <p:spPr>
                <a:xfrm>
                  <a:off x="402336" y="1158240"/>
                  <a:ext cx="2234538" cy="2682240"/>
                </a:xfrm>
                <a:prstGeom prst="rect">
                  <a:avLst/>
                </a:prstGeom>
                <a:grpFill/>
                <a:ln w="13970">
                  <a:solidFill>
                    <a:srgbClr val="06B6D4"/>
                  </a:solidFill>
                  <a:prstDash val="solid"/>
                </a:ln>
                <a:effectLst>
                  <a:outerShdw blurRad="101600" dist="25400" dir="8100000" algn="bl" rotWithShape="0">
                    <a:srgbClr val="000000">
                      <a:alpha val="30000"/>
                    </a:srgbClr>
                  </a:outerShdw>
                </a:effectLst>
              </p:spPr>
              <p:txBody>
                <a:bodyPr/>
                <a:lstStyle/>
                <a:p>
                  <a:pPr defTabSz="1219170"/>
                  <a:endParaRPr lang="en-US" sz="240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73" name="Text 3">
                  <a:extLst>
                    <a:ext uri="{FF2B5EF4-FFF2-40B4-BE49-F238E27FC236}">
                      <a16:creationId xmlns:a16="http://schemas.microsoft.com/office/drawing/2014/main" id="{5E546352-25E8-A1A4-D99C-D26080C1A49F}"/>
                    </a:ext>
                  </a:extLst>
                </p:cNvPr>
                <p:cNvSpPr/>
                <p:nvPr/>
              </p:nvSpPr>
              <p:spPr>
                <a:xfrm>
                  <a:off x="402336" y="1280160"/>
                  <a:ext cx="2234538" cy="585216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rtlCol="0" anchor="ctr"/>
                <a:lstStyle/>
                <a:p>
                  <a:pPr algn="ctr" defTabSz="1219170"/>
                  <a:r>
                    <a:rPr lang="en-US" dirty="0">
                      <a:solidFill>
                        <a:srgbClr val="06B6D4"/>
                      </a:solidFill>
                      <a:latin typeface="Aptos Black" panose="020B0004020202020204" pitchFamily="34" charset="0"/>
                    </a:rPr>
                    <a:t>Python</a:t>
                  </a:r>
                </a:p>
              </p:txBody>
            </p:sp>
          </p:grpSp>
          <p:pic>
            <p:nvPicPr>
              <p:cNvPr id="75" name="Picture 74">
                <a:extLst>
                  <a:ext uri="{FF2B5EF4-FFF2-40B4-BE49-F238E27FC236}">
                    <a16:creationId xmlns:a16="http://schemas.microsoft.com/office/drawing/2014/main" id="{23A8B73C-BB2F-907E-DB39-BD7FF8443C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duotone>
                  <a:prstClr val="black"/>
                  <a:srgbClr val="06B6D4">
                    <a:tint val="45000"/>
                    <a:satMod val="400000"/>
                  </a:srgbClr>
                </a:duotone>
              </a:blip>
              <a:stretch>
                <a:fillRect/>
              </a:stretch>
            </p:blipFill>
            <p:spPr>
              <a:xfrm>
                <a:off x="5178481" y="2522173"/>
                <a:ext cx="613658" cy="613658"/>
              </a:xfrm>
              <a:prstGeom prst="rect">
                <a:avLst/>
              </a:prstGeom>
              <a:grpFill/>
            </p:spPr>
          </p:pic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6A7375ED-337A-AA5D-3564-0C2380895819}"/>
                </a:ext>
              </a:extLst>
            </p:cNvPr>
            <p:cNvGrpSpPr/>
            <p:nvPr/>
          </p:nvGrpSpPr>
          <p:grpSpPr>
            <a:xfrm>
              <a:off x="5358672" y="3299240"/>
              <a:ext cx="1474658" cy="1237526"/>
              <a:chOff x="5644517" y="3276600"/>
              <a:chExt cx="983105" cy="1237526"/>
            </a:xfrm>
            <a:grpFill/>
          </p:grpSpPr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BC69C840-26A1-DFF8-1C0C-3E5C0AB4F444}"/>
                  </a:ext>
                </a:extLst>
              </p:cNvPr>
              <p:cNvGrpSpPr/>
              <p:nvPr/>
            </p:nvGrpSpPr>
            <p:grpSpPr>
              <a:xfrm>
                <a:off x="5644517" y="3417742"/>
                <a:ext cx="983105" cy="1096384"/>
                <a:chOff x="402336" y="1158239"/>
                <a:chExt cx="2234540" cy="2682241"/>
              </a:xfrm>
              <a:grpFill/>
            </p:grpSpPr>
            <p:sp>
              <p:nvSpPr>
                <p:cNvPr id="90" name="Shape 2">
                  <a:extLst>
                    <a:ext uri="{FF2B5EF4-FFF2-40B4-BE49-F238E27FC236}">
                      <a16:creationId xmlns:a16="http://schemas.microsoft.com/office/drawing/2014/main" id="{5C575BAC-08F2-1E10-7901-643C2E841FF8}"/>
                    </a:ext>
                  </a:extLst>
                </p:cNvPr>
                <p:cNvSpPr/>
                <p:nvPr/>
              </p:nvSpPr>
              <p:spPr>
                <a:xfrm>
                  <a:off x="402338" y="1158239"/>
                  <a:ext cx="2234538" cy="2682241"/>
                </a:xfrm>
                <a:prstGeom prst="rect">
                  <a:avLst/>
                </a:prstGeom>
                <a:grpFill/>
                <a:ln w="13970">
                  <a:solidFill>
                    <a:srgbClr val="06B6D4"/>
                  </a:solidFill>
                  <a:prstDash val="solid"/>
                </a:ln>
                <a:effectLst>
                  <a:outerShdw blurRad="101600" dist="25400" dir="8100000" algn="bl" rotWithShape="0">
                    <a:srgbClr val="000000">
                      <a:alpha val="30000"/>
                    </a:srgbClr>
                  </a:outerShdw>
                </a:effectLst>
              </p:spPr>
              <p:txBody>
                <a:bodyPr/>
                <a:lstStyle/>
                <a:p>
                  <a:pPr defTabSz="1219170"/>
                  <a:endParaRPr lang="en-US" sz="24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91" name="Text 3">
                  <a:extLst>
                    <a:ext uri="{FF2B5EF4-FFF2-40B4-BE49-F238E27FC236}">
                      <a16:creationId xmlns:a16="http://schemas.microsoft.com/office/drawing/2014/main" id="{EDEC42AB-CDBF-008D-3611-17B1AB2542C5}"/>
                    </a:ext>
                  </a:extLst>
                </p:cNvPr>
                <p:cNvSpPr/>
                <p:nvPr/>
              </p:nvSpPr>
              <p:spPr>
                <a:xfrm>
                  <a:off x="402336" y="1280160"/>
                  <a:ext cx="2234538" cy="585216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square" rtlCol="0" anchor="ctr"/>
                <a:lstStyle/>
                <a:p>
                  <a:pPr algn="ctr" defTabSz="1219170"/>
                  <a:r>
                    <a:rPr lang="en-US" dirty="0" err="1">
                      <a:solidFill>
                        <a:srgbClr val="06B6D4"/>
                      </a:solidFill>
                      <a:latin typeface="Aptos Black" panose="020B0004020202020204" pitchFamily="34" charset="0"/>
                    </a:rPr>
                    <a:t>Langchain</a:t>
                  </a:r>
                  <a:endParaRPr lang="en-US" sz="2400" dirty="0">
                    <a:solidFill>
                      <a:srgbClr val="06B6D4"/>
                    </a:solidFill>
                    <a:latin typeface="Aptos Black" panose="020B0004020202020204" pitchFamily="34" charset="0"/>
                  </a:endParaRPr>
                </a:p>
              </p:txBody>
            </p:sp>
          </p:grpSp>
          <p:sp>
            <p:nvSpPr>
              <p:cNvPr id="88" name="AutoShape 2" descr="Flask SVG and transparent PNG icons | TechIcons">
                <a:extLst>
                  <a:ext uri="{FF2B5EF4-FFF2-40B4-BE49-F238E27FC236}">
                    <a16:creationId xmlns:a16="http://schemas.microsoft.com/office/drawing/2014/main" id="{49EDC4B5-D550-4096-59D6-17FAA4A4F8B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943600" y="3276600"/>
                <a:ext cx="304800" cy="304800"/>
              </a:xfrm>
              <a:prstGeom prst="rect">
                <a:avLst/>
              </a:prstGeom>
              <a:grp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pic>
            <p:nvPicPr>
              <p:cNvPr id="89" name="Picture 88">
                <a:extLst>
                  <a:ext uri="{FF2B5EF4-FFF2-40B4-BE49-F238E27FC236}">
                    <a16:creationId xmlns:a16="http://schemas.microsoft.com/office/drawing/2014/main" id="{028232D1-10CA-B4DB-8A5A-65FC9AB4DE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sharpenSoften amount="-100000"/>
                        </a14:imgEffect>
                        <a14:imgEffect>
                          <a14:colorTemperature colorTemp="11500"/>
                        </a14:imgEffect>
                        <a14:imgEffect>
                          <a14:saturation sat="400000"/>
                        </a14:imgEffect>
                        <a14:imgEffect>
                          <a14:brightnessContrast bright="-100000" contrast="-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07567" y="3756625"/>
                <a:ext cx="457003" cy="689344"/>
              </a:xfrm>
              <a:prstGeom prst="rect">
                <a:avLst/>
              </a:prstGeom>
              <a:grpFill/>
            </p:spPr>
          </p:pic>
        </p:grp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B40DF4CF-CC11-8488-0543-8E9ED027F22D}"/>
              </a:ext>
            </a:extLst>
          </p:cNvPr>
          <p:cNvGrpSpPr/>
          <p:nvPr/>
        </p:nvGrpSpPr>
        <p:grpSpPr>
          <a:xfrm>
            <a:off x="4221510" y="1526058"/>
            <a:ext cx="3748979" cy="3135598"/>
            <a:chOff x="7454044" y="1454651"/>
            <a:chExt cx="3748979" cy="3135598"/>
          </a:xfrm>
          <a:noFill/>
        </p:grpSpPr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67DADB2E-D8E9-7CE8-1675-FF26B60E8FF3}"/>
                </a:ext>
              </a:extLst>
            </p:cNvPr>
            <p:cNvSpPr/>
            <p:nvPr/>
          </p:nvSpPr>
          <p:spPr>
            <a:xfrm>
              <a:off x="7454044" y="1454651"/>
              <a:ext cx="3748979" cy="3135598"/>
            </a:xfrm>
            <a:prstGeom prst="rect">
              <a:avLst/>
            </a:prstGeom>
            <a:grpFill/>
            <a:ln>
              <a:solidFill>
                <a:srgbClr val="10B9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3B64732E-6E71-CC2F-4917-C5C45A91E748}"/>
                </a:ext>
              </a:extLst>
            </p:cNvPr>
            <p:cNvSpPr txBox="1"/>
            <p:nvPr/>
          </p:nvSpPr>
          <p:spPr>
            <a:xfrm>
              <a:off x="7454044" y="1511578"/>
              <a:ext cx="3748979" cy="461665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10B981"/>
                  </a:solidFill>
                  <a:latin typeface="Century Gothic" panose="020B0502020202020204" pitchFamily="34" charset="0"/>
                </a:rPr>
                <a:t>AI/NLP</a:t>
              </a:r>
            </a:p>
          </p:txBody>
        </p: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013D5251-522A-CD3B-7DB8-921F33C63D96}"/>
                </a:ext>
              </a:extLst>
            </p:cNvPr>
            <p:cNvGrpSpPr/>
            <p:nvPr/>
          </p:nvGrpSpPr>
          <p:grpSpPr>
            <a:xfrm>
              <a:off x="9696893" y="2103884"/>
              <a:ext cx="1353286" cy="1096384"/>
              <a:chOff x="8940142" y="2118051"/>
              <a:chExt cx="1660518" cy="1096384"/>
            </a:xfrm>
            <a:grpFill/>
          </p:grpSpPr>
          <p:sp>
            <p:nvSpPr>
              <p:cNvPr id="123" name="Shape 2">
                <a:extLst>
                  <a:ext uri="{FF2B5EF4-FFF2-40B4-BE49-F238E27FC236}">
                    <a16:creationId xmlns:a16="http://schemas.microsoft.com/office/drawing/2014/main" id="{A68399FF-9E88-88F3-ABDD-108B4727EE68}"/>
                  </a:ext>
                </a:extLst>
              </p:cNvPr>
              <p:cNvSpPr/>
              <p:nvPr/>
            </p:nvSpPr>
            <p:spPr>
              <a:xfrm>
                <a:off x="8940142" y="2118051"/>
                <a:ext cx="1660518" cy="1096384"/>
              </a:xfrm>
              <a:prstGeom prst="rect">
                <a:avLst/>
              </a:prstGeom>
              <a:grpFill/>
              <a:ln w="13970">
                <a:solidFill>
                  <a:srgbClr val="10B981"/>
                </a:solidFill>
                <a:prstDash val="solid"/>
              </a:ln>
              <a:effectLst>
                <a:outerShdw blurRad="101600" dist="25400" dir="8100000" algn="bl" rotWithShape="0">
                  <a:srgbClr val="000000">
                    <a:alpha val="30000"/>
                  </a:srgbClr>
                </a:outerShdw>
              </a:effectLst>
            </p:spPr>
            <p:txBody>
              <a:bodyPr/>
              <a:lstStyle/>
              <a:p>
                <a:pPr defTabSz="1219170"/>
                <a:endParaRPr lang="en-US" sz="240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24" name="Text 3">
                <a:extLst>
                  <a:ext uri="{FF2B5EF4-FFF2-40B4-BE49-F238E27FC236}">
                    <a16:creationId xmlns:a16="http://schemas.microsoft.com/office/drawing/2014/main" id="{6938B5AC-70B4-946E-0AF1-B647BFF2E31F}"/>
                  </a:ext>
                </a:extLst>
              </p:cNvPr>
              <p:cNvSpPr/>
              <p:nvPr/>
            </p:nvSpPr>
            <p:spPr>
              <a:xfrm>
                <a:off x="8940142" y="2379332"/>
                <a:ext cx="1660518" cy="512697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square" rtlCol="0" anchor="ctr"/>
              <a:lstStyle/>
              <a:p>
                <a:pPr algn="ctr" defTabSz="1219170"/>
                <a:r>
                  <a:rPr lang="en-US" dirty="0" err="1">
                    <a:solidFill>
                      <a:srgbClr val="10B981"/>
                    </a:solidFill>
                    <a:latin typeface="Aptos Black" panose="020B0004020202020204" pitchFamily="34" charset="0"/>
                  </a:rPr>
                  <a:t>ChromaDB</a:t>
                </a:r>
                <a:endParaRPr lang="en-US" dirty="0">
                  <a:solidFill>
                    <a:srgbClr val="10B981"/>
                  </a:solidFill>
                  <a:latin typeface="Aptos Black" panose="020B0004020202020204" pitchFamily="34" charset="0"/>
                </a:endParaRPr>
              </a:p>
            </p:txBody>
          </p:sp>
        </p:grpSp>
        <p:sp>
          <p:nvSpPr>
            <p:cNvPr id="118" name="Shape 2">
              <a:extLst>
                <a:ext uri="{FF2B5EF4-FFF2-40B4-BE49-F238E27FC236}">
                  <a16:creationId xmlns:a16="http://schemas.microsoft.com/office/drawing/2014/main" id="{8632A0B1-1565-E368-B8EE-CF0BBB19E123}"/>
                </a:ext>
              </a:extLst>
            </p:cNvPr>
            <p:cNvSpPr/>
            <p:nvPr/>
          </p:nvSpPr>
          <p:spPr>
            <a:xfrm>
              <a:off x="7797831" y="2118051"/>
              <a:ext cx="1729972" cy="1096384"/>
            </a:xfrm>
            <a:prstGeom prst="rect">
              <a:avLst/>
            </a:prstGeom>
            <a:grpFill/>
            <a:ln w="13970">
              <a:solidFill>
                <a:srgbClr val="10B981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30000"/>
                </a:srgbClr>
              </a:outerShdw>
            </a:effectLst>
          </p:spPr>
          <p:txBody>
            <a:bodyPr/>
            <a:lstStyle/>
            <a:p>
              <a:pPr defTabSz="1219170"/>
              <a:endParaRPr lang="en-US" sz="24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19" name="Text 3">
              <a:extLst>
                <a:ext uri="{FF2B5EF4-FFF2-40B4-BE49-F238E27FC236}">
                  <a16:creationId xmlns:a16="http://schemas.microsoft.com/office/drawing/2014/main" id="{CB168042-79F9-0969-9A9E-29296E7EFFCF}"/>
                </a:ext>
              </a:extLst>
            </p:cNvPr>
            <p:cNvSpPr/>
            <p:nvPr/>
          </p:nvSpPr>
          <p:spPr>
            <a:xfrm>
              <a:off x="7814077" y="2284709"/>
              <a:ext cx="1729972" cy="709975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 anchor="ctr"/>
            <a:lstStyle/>
            <a:p>
              <a:pPr algn="ctr" defTabSz="1219170"/>
              <a:r>
                <a:rPr lang="en-US" dirty="0">
                  <a:solidFill>
                    <a:srgbClr val="10B981"/>
                  </a:solidFill>
                  <a:latin typeface="Aptos Black" panose="020B0004020202020204" pitchFamily="34" charset="0"/>
                </a:rPr>
                <a:t>Sentence Transformers</a:t>
              </a:r>
            </a:p>
          </p:txBody>
        </p:sp>
        <p:sp>
          <p:nvSpPr>
            <p:cNvPr id="120" name="Shape 2">
              <a:extLst>
                <a:ext uri="{FF2B5EF4-FFF2-40B4-BE49-F238E27FC236}">
                  <a16:creationId xmlns:a16="http://schemas.microsoft.com/office/drawing/2014/main" id="{C02BF75B-81ED-3A71-9A1F-6C19B01D7AA4}"/>
                </a:ext>
              </a:extLst>
            </p:cNvPr>
            <p:cNvSpPr/>
            <p:nvPr/>
          </p:nvSpPr>
          <p:spPr>
            <a:xfrm>
              <a:off x="8162746" y="3369176"/>
              <a:ext cx="2703728" cy="1096384"/>
            </a:xfrm>
            <a:prstGeom prst="rect">
              <a:avLst/>
            </a:prstGeom>
            <a:grpFill/>
            <a:ln w="13970">
              <a:solidFill>
                <a:srgbClr val="10B981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30000"/>
                </a:srgbClr>
              </a:outerShdw>
            </a:effectLst>
          </p:spPr>
          <p:txBody>
            <a:bodyPr/>
            <a:lstStyle/>
            <a:p>
              <a:pPr defTabSz="1219170"/>
              <a:endParaRPr lang="en-US" sz="24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1" name="Text 3">
              <a:extLst>
                <a:ext uri="{FF2B5EF4-FFF2-40B4-BE49-F238E27FC236}">
                  <a16:creationId xmlns:a16="http://schemas.microsoft.com/office/drawing/2014/main" id="{6015654C-6DA3-2631-A9E3-943D610DF806}"/>
                </a:ext>
              </a:extLst>
            </p:cNvPr>
            <p:cNvSpPr/>
            <p:nvPr/>
          </p:nvSpPr>
          <p:spPr>
            <a:xfrm>
              <a:off x="8202813" y="3533953"/>
              <a:ext cx="2663661" cy="810099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 anchor="ctr"/>
            <a:lstStyle/>
            <a:p>
              <a:pPr algn="ctr" defTabSz="1219170"/>
              <a:r>
                <a:rPr lang="en-US" dirty="0" err="1">
                  <a:solidFill>
                    <a:srgbClr val="10B981"/>
                  </a:solidFill>
                  <a:latin typeface="Aptos Black" panose="020B0004020202020204" pitchFamily="34" charset="0"/>
                </a:rPr>
                <a:t>Langchain</a:t>
              </a:r>
              <a:r>
                <a:rPr lang="en-US" dirty="0">
                  <a:solidFill>
                    <a:srgbClr val="10B981"/>
                  </a:solidFill>
                  <a:latin typeface="Aptos Black" panose="020B0004020202020204" pitchFamily="34" charset="0"/>
                </a:rPr>
                <a:t> Libraries</a:t>
              </a:r>
              <a:endParaRPr lang="en-US" sz="2400" dirty="0">
                <a:solidFill>
                  <a:srgbClr val="10B981"/>
                </a:solidFill>
                <a:latin typeface="Aptos Black" panose="020B0004020202020204" pitchFamily="34" charset="0"/>
              </a:endParaRPr>
            </a:p>
          </p:txBody>
        </p:sp>
        <p:sp>
          <p:nvSpPr>
            <p:cNvPr id="122" name="AutoShape 2" descr="Flask SVG and transparent PNG icons | TechIcons">
              <a:extLst>
                <a:ext uri="{FF2B5EF4-FFF2-40B4-BE49-F238E27FC236}">
                  <a16:creationId xmlns:a16="http://schemas.microsoft.com/office/drawing/2014/main" id="{B0F09993-A2D4-F4E0-17AD-2064F9B9B28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611370" y="3228034"/>
              <a:ext cx="457200" cy="304800"/>
            </a:xfrm>
            <a:prstGeom prst="rect">
              <a:avLst/>
            </a:prstGeom>
            <a:grp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061" name="Group 2060">
            <a:extLst>
              <a:ext uri="{FF2B5EF4-FFF2-40B4-BE49-F238E27FC236}">
                <a16:creationId xmlns:a16="http://schemas.microsoft.com/office/drawing/2014/main" id="{6AF49774-15A1-393D-14BD-AEF37A77E18B}"/>
              </a:ext>
            </a:extLst>
          </p:cNvPr>
          <p:cNvGrpSpPr/>
          <p:nvPr/>
        </p:nvGrpSpPr>
        <p:grpSpPr>
          <a:xfrm>
            <a:off x="1824341" y="4939523"/>
            <a:ext cx="3554495" cy="1737540"/>
            <a:chOff x="1812873" y="4876620"/>
            <a:chExt cx="3554495" cy="1737540"/>
          </a:xfrm>
        </p:grpSpPr>
        <p:sp>
          <p:nvSpPr>
            <p:cNvPr id="126" name="Rectangle: Rounded Corners 125">
              <a:extLst>
                <a:ext uri="{FF2B5EF4-FFF2-40B4-BE49-F238E27FC236}">
                  <a16:creationId xmlns:a16="http://schemas.microsoft.com/office/drawing/2014/main" id="{A01F72EC-D3D4-0471-6432-97EC69211F7A}"/>
                </a:ext>
              </a:extLst>
            </p:cNvPr>
            <p:cNvSpPr/>
            <p:nvPr/>
          </p:nvSpPr>
          <p:spPr>
            <a:xfrm>
              <a:off x="1812873" y="4876620"/>
              <a:ext cx="3554495" cy="1737540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F59E0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48" name="Picture 2047">
              <a:extLst>
                <a:ext uri="{FF2B5EF4-FFF2-40B4-BE49-F238E27FC236}">
                  <a16:creationId xmlns:a16="http://schemas.microsoft.com/office/drawing/2014/main" id="{B48C147F-145C-AFCF-4836-FB569372FC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2768461" y="5585010"/>
              <a:ext cx="676503" cy="676503"/>
            </a:xfrm>
            <a:prstGeom prst="rect">
              <a:avLst/>
            </a:prstGeom>
          </p:spPr>
        </p:pic>
        <p:sp>
          <p:nvSpPr>
            <p:cNvPr id="2049" name="TextBox 2048">
              <a:extLst>
                <a:ext uri="{FF2B5EF4-FFF2-40B4-BE49-F238E27FC236}">
                  <a16:creationId xmlns:a16="http://schemas.microsoft.com/office/drawing/2014/main" id="{C558435E-2591-7801-5EC3-8D13C0CB7CE3}"/>
                </a:ext>
              </a:extLst>
            </p:cNvPr>
            <p:cNvSpPr txBox="1"/>
            <p:nvPr/>
          </p:nvSpPr>
          <p:spPr>
            <a:xfrm>
              <a:off x="2457688" y="4932145"/>
              <a:ext cx="22648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59E0B"/>
                  </a:solidFill>
                  <a:latin typeface="Century Gothic" panose="020B0502020202020204" pitchFamily="34" charset="0"/>
                </a:rPr>
                <a:t>Database</a:t>
              </a:r>
            </a:p>
          </p:txBody>
        </p:sp>
        <p:sp>
          <p:nvSpPr>
            <p:cNvPr id="2050" name="TextBox 2049">
              <a:extLst>
                <a:ext uri="{FF2B5EF4-FFF2-40B4-BE49-F238E27FC236}">
                  <a16:creationId xmlns:a16="http://schemas.microsoft.com/office/drawing/2014/main" id="{DD8D4021-3729-C152-F827-3785E13D064D}"/>
                </a:ext>
              </a:extLst>
            </p:cNvPr>
            <p:cNvSpPr txBox="1"/>
            <p:nvPr/>
          </p:nvSpPr>
          <p:spPr>
            <a:xfrm>
              <a:off x="3312560" y="5732124"/>
              <a:ext cx="13911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59E0B"/>
                  </a:solidFill>
                  <a:latin typeface="Century Gothic" panose="020B0502020202020204" pitchFamily="34" charset="0"/>
                </a:rPr>
                <a:t>SQLite</a:t>
              </a:r>
            </a:p>
          </p:txBody>
        </p:sp>
        <p:sp>
          <p:nvSpPr>
            <p:cNvPr id="2051" name="Rectangle: Rounded Corners 2050">
              <a:extLst>
                <a:ext uri="{FF2B5EF4-FFF2-40B4-BE49-F238E27FC236}">
                  <a16:creationId xmlns:a16="http://schemas.microsoft.com/office/drawing/2014/main" id="{CFFFDB32-1EC8-4613-775C-B318F8F63702}"/>
                </a:ext>
              </a:extLst>
            </p:cNvPr>
            <p:cNvSpPr/>
            <p:nvPr/>
          </p:nvSpPr>
          <p:spPr>
            <a:xfrm>
              <a:off x="2463632" y="5432344"/>
              <a:ext cx="2306472" cy="979586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F59E0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60" name="Group 2059">
            <a:extLst>
              <a:ext uri="{FF2B5EF4-FFF2-40B4-BE49-F238E27FC236}">
                <a16:creationId xmlns:a16="http://schemas.microsoft.com/office/drawing/2014/main" id="{C3B3EA43-0E87-BD21-75A0-1AF52FCFAF3B}"/>
              </a:ext>
            </a:extLst>
          </p:cNvPr>
          <p:cNvGrpSpPr/>
          <p:nvPr/>
        </p:nvGrpSpPr>
        <p:grpSpPr>
          <a:xfrm>
            <a:off x="6506015" y="4887253"/>
            <a:ext cx="4811125" cy="1737540"/>
            <a:chOff x="6472037" y="4867091"/>
            <a:chExt cx="4811125" cy="1737540"/>
          </a:xfrm>
        </p:grpSpPr>
        <p:sp>
          <p:nvSpPr>
            <p:cNvPr id="2053" name="Rectangle: Rounded Corners 2052">
              <a:extLst>
                <a:ext uri="{FF2B5EF4-FFF2-40B4-BE49-F238E27FC236}">
                  <a16:creationId xmlns:a16="http://schemas.microsoft.com/office/drawing/2014/main" id="{C1E2DD3D-2B4B-5103-9B0E-F66ACBC627E8}"/>
                </a:ext>
              </a:extLst>
            </p:cNvPr>
            <p:cNvSpPr/>
            <p:nvPr/>
          </p:nvSpPr>
          <p:spPr>
            <a:xfrm>
              <a:off x="6472037" y="4867091"/>
              <a:ext cx="4811125" cy="1737540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EF444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5" name="TextBox 2054">
              <a:extLst>
                <a:ext uri="{FF2B5EF4-FFF2-40B4-BE49-F238E27FC236}">
                  <a16:creationId xmlns:a16="http://schemas.microsoft.com/office/drawing/2014/main" id="{35669141-1B4A-E89C-A9D6-F91D8EFCED92}"/>
                </a:ext>
              </a:extLst>
            </p:cNvPr>
            <p:cNvSpPr txBox="1"/>
            <p:nvPr/>
          </p:nvSpPr>
          <p:spPr>
            <a:xfrm>
              <a:off x="7344816" y="4890717"/>
              <a:ext cx="30655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err="1">
                  <a:solidFill>
                    <a:srgbClr val="EF4444"/>
                  </a:solidFill>
                  <a:latin typeface="Century Gothic" panose="020B0502020202020204" pitchFamily="34" charset="0"/>
                </a:rPr>
                <a:t>FallBack</a:t>
              </a:r>
              <a:r>
                <a:rPr lang="en-US" sz="2400" b="1" dirty="0">
                  <a:solidFill>
                    <a:srgbClr val="EF4444"/>
                  </a:solidFill>
                  <a:latin typeface="Century Gothic" panose="020B0502020202020204" pitchFamily="34" charset="0"/>
                </a:rPr>
                <a:t> Strategy</a:t>
              </a:r>
            </a:p>
          </p:txBody>
        </p:sp>
        <p:sp>
          <p:nvSpPr>
            <p:cNvPr id="2056" name="TextBox 2055">
              <a:extLst>
                <a:ext uri="{FF2B5EF4-FFF2-40B4-BE49-F238E27FC236}">
                  <a16:creationId xmlns:a16="http://schemas.microsoft.com/office/drawing/2014/main" id="{6BCBFCA9-8337-EA52-2FD1-B1B3DFCAB5B1}"/>
                </a:ext>
              </a:extLst>
            </p:cNvPr>
            <p:cNvSpPr txBox="1"/>
            <p:nvPr/>
          </p:nvSpPr>
          <p:spPr>
            <a:xfrm>
              <a:off x="8257895" y="5732124"/>
              <a:ext cx="18829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EF4444"/>
                  </a:solidFill>
                  <a:latin typeface="Century Gothic" panose="020B0502020202020204" pitchFamily="34" charset="0"/>
                </a:rPr>
                <a:t>DDGS API</a:t>
              </a:r>
            </a:p>
          </p:txBody>
        </p:sp>
        <p:sp>
          <p:nvSpPr>
            <p:cNvPr id="2057" name="Rectangle: Rounded Corners 2056">
              <a:extLst>
                <a:ext uri="{FF2B5EF4-FFF2-40B4-BE49-F238E27FC236}">
                  <a16:creationId xmlns:a16="http://schemas.microsoft.com/office/drawing/2014/main" id="{7080FB15-40AA-A4CF-3092-16C448AB6C20}"/>
                </a:ext>
              </a:extLst>
            </p:cNvPr>
            <p:cNvSpPr/>
            <p:nvPr/>
          </p:nvSpPr>
          <p:spPr>
            <a:xfrm>
              <a:off x="7110116" y="5432344"/>
              <a:ext cx="3492625" cy="979586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EF444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59" name="Graphic 2058" descr="Duck">
              <a:extLst>
                <a:ext uri="{FF2B5EF4-FFF2-40B4-BE49-F238E27FC236}">
                  <a16:creationId xmlns:a16="http://schemas.microsoft.com/office/drawing/2014/main" id="{0372D571-42E7-5D4D-2074-7DECA757C3D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513289" y="5503887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21235754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43840"/>
            <a:ext cx="109728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4533" b="1" dirty="0">
                <a:solidFill>
                  <a:srgbClr val="F8FAFC"/>
                </a:solidFill>
                <a:latin typeface="Aptos Black" panose="020B0004020202020204" pitchFamily="34" charset="0"/>
              </a:rPr>
              <a:t>Document Processing Flow</a:t>
            </a:r>
            <a:endParaRPr lang="en-US" sz="4533" dirty="0">
              <a:solidFill>
                <a:prstClr val="black"/>
              </a:solidFill>
              <a:latin typeface="Aptos Black" panose="020B0004020202020204" pitchFamily="34" charset="0"/>
            </a:endParaRPr>
          </a:p>
        </p:txBody>
      </p:sp>
      <p:sp>
        <p:nvSpPr>
          <p:cNvPr id="22" name="Shape 1">
            <a:extLst>
              <a:ext uri="{FF2B5EF4-FFF2-40B4-BE49-F238E27FC236}">
                <a16:creationId xmlns:a16="http://schemas.microsoft.com/office/drawing/2014/main" id="{A286A1C2-DDE3-6353-3C26-EF348A4A5A8E}"/>
              </a:ext>
            </a:extLst>
          </p:cNvPr>
          <p:cNvSpPr/>
          <p:nvPr/>
        </p:nvSpPr>
        <p:spPr>
          <a:xfrm>
            <a:off x="609600" y="975360"/>
            <a:ext cx="10972800" cy="487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AutoShape 4">
            <a:extLst>
              <a:ext uri="{FF2B5EF4-FFF2-40B4-BE49-F238E27FC236}">
                <a16:creationId xmlns:a16="http://schemas.microsoft.com/office/drawing/2014/main" id="{6423DB07-53A8-78E3-FA9E-A3785CED5C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CA90553-DD2C-ADFF-330D-40D3085FB9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3232" y="1263720"/>
            <a:ext cx="3065536" cy="5266934"/>
          </a:xfrm>
          <a:prstGeom prst="roundRect">
            <a:avLst>
              <a:gd name="adj" fmla="val 12403"/>
            </a:avLst>
          </a:prstGeom>
          <a:effectLst>
            <a:glow rad="101600">
              <a:srgbClr val="F59E0B">
                <a:alpha val="60000"/>
              </a:srgbClr>
            </a:glow>
          </a:effectLst>
        </p:spPr>
      </p:pic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B250B5-2432-8DE4-CA98-68C9DD2B4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296E17D-3BFE-F202-8374-62F162F8D035}"/>
              </a:ext>
            </a:extLst>
          </p:cNvPr>
          <p:cNvSpPr/>
          <p:nvPr/>
        </p:nvSpPr>
        <p:spPr>
          <a:xfrm>
            <a:off x="609600" y="274662"/>
            <a:ext cx="109728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4533" b="1" dirty="0">
                <a:solidFill>
                  <a:srgbClr val="F8FAFC"/>
                </a:solidFill>
                <a:latin typeface="Aptos Black" panose="020F0502020204030204" pitchFamily="34" charset="0"/>
              </a:rPr>
              <a:t>Hybrid Knowledge Retrieval Strategy</a:t>
            </a:r>
            <a:endParaRPr lang="en-US" sz="4533" dirty="0">
              <a:solidFill>
                <a:prstClr val="black"/>
              </a:solidFill>
              <a:latin typeface="Aptos Black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782844-9B66-B468-1F1A-BA95C63DEE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777" r="6215"/>
          <a:stretch>
            <a:fillRect/>
          </a:stretch>
        </p:blipFill>
        <p:spPr>
          <a:xfrm>
            <a:off x="2370762" y="1641718"/>
            <a:ext cx="7450476" cy="4674494"/>
          </a:xfrm>
          <a:prstGeom prst="roundRect">
            <a:avLst>
              <a:gd name="adj" fmla="val 12615"/>
            </a:avLst>
          </a:prstGeom>
          <a:effectLst>
            <a:glow rad="228600">
              <a:srgbClr val="06B6D4">
                <a:alpha val="40000"/>
              </a:srgbClr>
            </a:glow>
          </a:effectLst>
        </p:spPr>
      </p:pic>
      <p:sp>
        <p:nvSpPr>
          <p:cNvPr id="5" name="Shape 1">
            <a:extLst>
              <a:ext uri="{FF2B5EF4-FFF2-40B4-BE49-F238E27FC236}">
                <a16:creationId xmlns:a16="http://schemas.microsoft.com/office/drawing/2014/main" id="{098D5E07-DDE1-93BF-E2B7-30A7A099001D}"/>
              </a:ext>
            </a:extLst>
          </p:cNvPr>
          <p:cNvSpPr/>
          <p:nvPr/>
        </p:nvSpPr>
        <p:spPr>
          <a:xfrm>
            <a:off x="609600" y="1006182"/>
            <a:ext cx="10972800" cy="487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23486725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AF43E6-CDD8-D6BE-CB1E-50D75D572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C2CDDA02-CECE-89AF-7ACF-B82EE14D89E5}"/>
              </a:ext>
            </a:extLst>
          </p:cNvPr>
          <p:cNvSpPr/>
          <p:nvPr/>
        </p:nvSpPr>
        <p:spPr>
          <a:xfrm>
            <a:off x="463296" y="1158240"/>
            <a:ext cx="5462016" cy="2682240"/>
          </a:xfrm>
          <a:prstGeom prst="rect">
            <a:avLst/>
          </a:prstGeom>
          <a:solidFill>
            <a:srgbClr val="161B22"/>
          </a:solidFill>
          <a:ln w="15240">
            <a:solidFill>
              <a:srgbClr val="EF4444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2A1007BD-DDF1-3F87-003E-69BC6117E177}"/>
              </a:ext>
            </a:extLst>
          </p:cNvPr>
          <p:cNvSpPr/>
          <p:nvPr/>
        </p:nvSpPr>
        <p:spPr>
          <a:xfrm>
            <a:off x="609600" y="243840"/>
            <a:ext cx="109728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4533" b="1" dirty="0">
                <a:solidFill>
                  <a:srgbClr val="F8FAFC"/>
                </a:solidFill>
                <a:latin typeface="Aptos Black" panose="020B0004020202020204" pitchFamily="34" charset="0"/>
              </a:rPr>
              <a:t>NLP Thinking Modes</a:t>
            </a:r>
            <a:endParaRPr lang="en-US" sz="4533" dirty="0">
              <a:solidFill>
                <a:prstClr val="black"/>
              </a:solidFill>
              <a:latin typeface="Aptos Black" panose="020B0004020202020204" pitchFamily="34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2A2FFE0-470D-B11D-0B98-5FA1C16AD59A}"/>
              </a:ext>
            </a:extLst>
          </p:cNvPr>
          <p:cNvSpPr/>
          <p:nvPr/>
        </p:nvSpPr>
        <p:spPr>
          <a:xfrm>
            <a:off x="609600" y="975360"/>
            <a:ext cx="10972800" cy="487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sysClr val="windowText" lastClr="000000"/>
              </a:solidFill>
              <a:latin typeface="Calibri" panose="020F0502020204030204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C6177CB-5E76-F9BA-42BF-10DA0A1344E0}"/>
              </a:ext>
            </a:extLst>
          </p:cNvPr>
          <p:cNvSpPr/>
          <p:nvPr/>
        </p:nvSpPr>
        <p:spPr>
          <a:xfrm>
            <a:off x="1499616" y="1280160"/>
            <a:ext cx="4267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dirty="0">
                <a:solidFill>
                  <a:srgbClr val="EF4444"/>
                </a:solidFill>
                <a:latin typeface="Abadi" panose="020B0604020104020204" pitchFamily="34" charset="0"/>
              </a:rPr>
              <a:t>Standard Mode</a:t>
            </a:r>
            <a:endParaRPr lang="en-US" sz="2933" dirty="0">
              <a:solidFill>
                <a:srgbClr val="EF4444"/>
              </a:solidFill>
              <a:latin typeface="Abadi" panose="020B0604020104020204" pitchFamily="34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8F45220-8D60-632F-5A42-076CB9BEBBD1}"/>
              </a:ext>
            </a:extLst>
          </p:cNvPr>
          <p:cNvSpPr/>
          <p:nvPr/>
        </p:nvSpPr>
        <p:spPr>
          <a:xfrm>
            <a:off x="1499616" y="1914144"/>
            <a:ext cx="4267200" cy="1767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400" dirty="0">
                <a:solidFill>
                  <a:srgbClr val="CBD5E1"/>
                </a:solidFill>
                <a:latin typeface="Century Gothic" panose="020B0502020202020204" pitchFamily="34" charset="0"/>
              </a:rPr>
              <a:t>template</a:t>
            </a:r>
            <a:endParaRPr lang="en-US" sz="2400" dirty="0">
              <a:solidFill>
                <a:prstClr val="black"/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5B8A5A77-3A6F-D748-58FA-0E6D4C455C02}"/>
              </a:ext>
            </a:extLst>
          </p:cNvPr>
          <p:cNvSpPr/>
          <p:nvPr/>
        </p:nvSpPr>
        <p:spPr>
          <a:xfrm>
            <a:off x="6266688" y="1158240"/>
            <a:ext cx="5462016" cy="2682240"/>
          </a:xfrm>
          <a:prstGeom prst="rect">
            <a:avLst/>
          </a:prstGeom>
          <a:solidFill>
            <a:srgbClr val="161B22"/>
          </a:solidFill>
          <a:ln w="15240">
            <a:solidFill>
              <a:srgbClr val="EF4444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C2D7C407-9A49-7C5F-B16D-CDD4F45B6A55}"/>
              </a:ext>
            </a:extLst>
          </p:cNvPr>
          <p:cNvSpPr/>
          <p:nvPr/>
        </p:nvSpPr>
        <p:spPr>
          <a:xfrm>
            <a:off x="7303008" y="1280160"/>
            <a:ext cx="4267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dirty="0">
                <a:solidFill>
                  <a:srgbClr val="EF4444"/>
                </a:solidFill>
                <a:latin typeface="Abadi" panose="020B0604020104020204" pitchFamily="34" charset="0"/>
              </a:rPr>
              <a:t>ELI-5 Mode</a:t>
            </a:r>
            <a:endParaRPr lang="en-US" sz="2933" dirty="0">
              <a:solidFill>
                <a:srgbClr val="EF4444"/>
              </a:solidFill>
              <a:latin typeface="Abadi" panose="020B0604020104020204" pitchFamily="34" charset="0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1CECB4A6-4BBF-368D-1841-9B45F139B326}"/>
              </a:ext>
            </a:extLst>
          </p:cNvPr>
          <p:cNvSpPr/>
          <p:nvPr/>
        </p:nvSpPr>
        <p:spPr>
          <a:xfrm>
            <a:off x="7303008" y="1914144"/>
            <a:ext cx="4267200" cy="1767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400" dirty="0">
                <a:solidFill>
                  <a:srgbClr val="CBD5E1"/>
                </a:solidFill>
                <a:latin typeface="Century Gothic" panose="020B0502020202020204" pitchFamily="34" charset="0"/>
              </a:rPr>
              <a:t>template</a:t>
            </a:r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527F752E-5981-841D-9A67-FE06A5784854}"/>
              </a:ext>
            </a:extLst>
          </p:cNvPr>
          <p:cNvSpPr/>
          <p:nvPr/>
        </p:nvSpPr>
        <p:spPr>
          <a:xfrm>
            <a:off x="463296" y="4059936"/>
            <a:ext cx="5462016" cy="2682240"/>
          </a:xfrm>
          <a:prstGeom prst="rect">
            <a:avLst/>
          </a:prstGeom>
          <a:solidFill>
            <a:srgbClr val="161B22"/>
          </a:solidFill>
          <a:ln w="15240">
            <a:solidFill>
              <a:srgbClr val="EF4444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7E14A400-6970-B2FD-280E-55B347547FD4}"/>
              </a:ext>
            </a:extLst>
          </p:cNvPr>
          <p:cNvSpPr/>
          <p:nvPr/>
        </p:nvSpPr>
        <p:spPr>
          <a:xfrm>
            <a:off x="1481328" y="4303776"/>
            <a:ext cx="4267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dirty="0">
                <a:solidFill>
                  <a:srgbClr val="EF4444"/>
                </a:solidFill>
                <a:latin typeface="Abadi" panose="020B0604020104020204" pitchFamily="34" charset="0"/>
              </a:rPr>
              <a:t>Advanced Mode</a:t>
            </a:r>
            <a:endParaRPr lang="en-US" sz="2933" dirty="0">
              <a:solidFill>
                <a:srgbClr val="EF4444"/>
              </a:solidFill>
              <a:latin typeface="Abadi" panose="020B0604020104020204" pitchFamily="34" charset="0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D13FB0EF-6AFF-77DD-9172-A62D33DC489D}"/>
              </a:ext>
            </a:extLst>
          </p:cNvPr>
          <p:cNvSpPr/>
          <p:nvPr/>
        </p:nvSpPr>
        <p:spPr>
          <a:xfrm>
            <a:off x="1499616" y="4815840"/>
            <a:ext cx="4267200" cy="1767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400" dirty="0">
                <a:solidFill>
                  <a:srgbClr val="CBD5E1"/>
                </a:solidFill>
                <a:latin typeface="Century Gothic" panose="020B0502020202020204" pitchFamily="34" charset="0"/>
              </a:rPr>
              <a:t>template</a:t>
            </a:r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1B3BD557-764A-57A5-B9E2-444FE35A14AF}"/>
              </a:ext>
            </a:extLst>
          </p:cNvPr>
          <p:cNvSpPr/>
          <p:nvPr/>
        </p:nvSpPr>
        <p:spPr>
          <a:xfrm>
            <a:off x="6266688" y="4045868"/>
            <a:ext cx="5462016" cy="2682240"/>
          </a:xfrm>
          <a:prstGeom prst="rect">
            <a:avLst/>
          </a:prstGeom>
          <a:solidFill>
            <a:srgbClr val="161B22"/>
          </a:solidFill>
          <a:ln w="15240">
            <a:solidFill>
              <a:srgbClr val="EF4444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E0DD17A0-C8BF-3AF2-1A9F-2382127AEA43}"/>
              </a:ext>
            </a:extLst>
          </p:cNvPr>
          <p:cNvSpPr/>
          <p:nvPr/>
        </p:nvSpPr>
        <p:spPr>
          <a:xfrm>
            <a:off x="7303008" y="4181856"/>
            <a:ext cx="4267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400" b="1" dirty="0">
                <a:solidFill>
                  <a:srgbClr val="EF4444"/>
                </a:solidFill>
                <a:latin typeface="Abadi" panose="020B0604020104020204" pitchFamily="34" charset="0"/>
              </a:rPr>
              <a:t>Quiz Mode / Flashcard Mode</a:t>
            </a:r>
            <a:endParaRPr lang="en-US" sz="2400" dirty="0">
              <a:solidFill>
                <a:srgbClr val="EF4444"/>
              </a:solidFill>
              <a:latin typeface="Abadi" panose="020B0604020104020204" pitchFamily="34" charset="0"/>
            </a:endParaRPr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E9838121-8947-E559-0140-1DC08A72D7C1}"/>
              </a:ext>
            </a:extLst>
          </p:cNvPr>
          <p:cNvSpPr/>
          <p:nvPr/>
        </p:nvSpPr>
        <p:spPr>
          <a:xfrm>
            <a:off x="7303008" y="4793806"/>
            <a:ext cx="4267200" cy="1767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200" dirty="0">
                <a:solidFill>
                  <a:srgbClr val="CBD5E1"/>
                </a:solidFill>
                <a:latin typeface="Century Gothic" panose="020B0502020202020204" pitchFamily="34" charset="0"/>
              </a:rPr>
              <a:t>template</a:t>
            </a:r>
          </a:p>
        </p:txBody>
      </p:sp>
      <p:pic>
        <p:nvPicPr>
          <p:cNvPr id="28" name="Graphic 27" descr="List RTL">
            <a:extLst>
              <a:ext uri="{FF2B5EF4-FFF2-40B4-BE49-F238E27FC236}">
                <a16:creationId xmlns:a16="http://schemas.microsoft.com/office/drawing/2014/main" id="{BBC13009-F7D5-C23D-1AFD-F18A61570F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70320" y="4815580"/>
            <a:ext cx="914400" cy="914400"/>
          </a:xfrm>
          <a:prstGeom prst="rect">
            <a:avLst/>
          </a:prstGeom>
        </p:spPr>
      </p:pic>
      <p:pic>
        <p:nvPicPr>
          <p:cNvPr id="9" name="Graphic 8" descr="Graduation cap">
            <a:extLst>
              <a:ext uri="{FF2B5EF4-FFF2-40B4-BE49-F238E27FC236}">
                <a16:creationId xmlns:a16="http://schemas.microsoft.com/office/drawing/2014/main" id="{CBB82981-ECED-053A-B6D6-C4D3DFF525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5608" y="4767072"/>
            <a:ext cx="1001593" cy="1001593"/>
          </a:xfrm>
          <a:prstGeom prst="rect">
            <a:avLst/>
          </a:prstGeom>
        </p:spPr>
      </p:pic>
      <p:pic>
        <p:nvPicPr>
          <p:cNvPr id="17" name="Graphic 16" descr="Lightbulb and gear">
            <a:extLst>
              <a:ext uri="{FF2B5EF4-FFF2-40B4-BE49-F238E27FC236}">
                <a16:creationId xmlns:a16="http://schemas.microsoft.com/office/drawing/2014/main" id="{31BC65F4-C983-1364-2DCF-E4F57A36A1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5216" y="1840992"/>
            <a:ext cx="914400" cy="914400"/>
          </a:xfrm>
          <a:prstGeom prst="rect">
            <a:avLst/>
          </a:prstGeom>
        </p:spPr>
      </p:pic>
      <p:pic>
        <p:nvPicPr>
          <p:cNvPr id="22" name="Graphic 21" descr="Palette">
            <a:extLst>
              <a:ext uri="{FF2B5EF4-FFF2-40B4-BE49-F238E27FC236}">
                <a16:creationId xmlns:a16="http://schemas.microsoft.com/office/drawing/2014/main" id="{11FE0F9A-5BFB-95F0-8C89-9493DF0558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70320" y="196550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192437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30D0DC-8186-C338-4E07-947EBAB62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EF038D16-49B5-E389-5C09-FDC4AA679794}"/>
              </a:ext>
            </a:extLst>
          </p:cNvPr>
          <p:cNvSpPr/>
          <p:nvPr/>
        </p:nvSpPr>
        <p:spPr>
          <a:xfrm>
            <a:off x="12226285" y="1667358"/>
            <a:ext cx="12192000" cy="35232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21000" b="1" dirty="0">
                <a:solidFill>
                  <a:srgbClr val="F8FAFC"/>
                </a:solidFill>
                <a:latin typeface="Bebas Neue" panose="020B0606020202050201" pitchFamily="34" charset="0"/>
              </a:rPr>
              <a:t>LIVE DEMO</a:t>
            </a:r>
            <a:endParaRPr lang="en-US" sz="21000" dirty="0">
              <a:solidFill>
                <a:prstClr val="black"/>
              </a:solidFill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53000"/>
      </p:ext>
    </p:extLst>
  </p:cSld>
  <p:clrMapOvr>
    <a:masterClrMapping/>
  </p:clrMapOvr>
  <p:transition spd="slow" advTm="500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E5BB2A-B054-5DA9-46A0-36E2379E1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C133A7D6-3C78-8010-769B-A6566775EBDC}"/>
              </a:ext>
            </a:extLst>
          </p:cNvPr>
          <p:cNvSpPr/>
          <p:nvPr/>
        </p:nvSpPr>
        <p:spPr>
          <a:xfrm>
            <a:off x="0" y="1667358"/>
            <a:ext cx="12192000" cy="35232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21000" b="1" dirty="0">
                <a:solidFill>
                  <a:srgbClr val="F8FAFC"/>
                </a:solidFill>
                <a:latin typeface="Bebas Neue" panose="020B0606020202050201" pitchFamily="34" charset="0"/>
              </a:rPr>
              <a:t>LIVE DEMO</a:t>
            </a:r>
            <a:endParaRPr lang="en-US" sz="21000" dirty="0">
              <a:solidFill>
                <a:prstClr val="black"/>
              </a:solidFill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055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A5C011-6B26-A907-8BED-635D131C9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C08B1F6-505B-8CEF-7D01-B2878825056B}"/>
              </a:ext>
            </a:extLst>
          </p:cNvPr>
          <p:cNvSpPr/>
          <p:nvPr/>
        </p:nvSpPr>
        <p:spPr>
          <a:xfrm>
            <a:off x="12242074" y="1667358"/>
            <a:ext cx="12192000" cy="35232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21000" b="1" dirty="0">
                <a:solidFill>
                  <a:srgbClr val="F8FAFC"/>
                </a:solidFill>
                <a:latin typeface="Bebas Neue" panose="020B0606020202050201" pitchFamily="34" charset="0"/>
              </a:rPr>
              <a:t>CONCLUSION</a:t>
            </a:r>
            <a:endParaRPr lang="en-US" sz="21000" dirty="0">
              <a:solidFill>
                <a:prstClr val="black"/>
              </a:solidFill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8955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">
        <p:fade/>
      </p:transition>
    </mc:Choice>
    <mc:Fallback xmlns="">
      <p:transition spd="med" advClick="0" advTm="50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B39B06-C31F-2728-28B7-640EDCBCB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ACDA5EFA-CE32-649C-BC07-D911631E5711}"/>
              </a:ext>
            </a:extLst>
          </p:cNvPr>
          <p:cNvSpPr/>
          <p:nvPr/>
        </p:nvSpPr>
        <p:spPr>
          <a:xfrm>
            <a:off x="0" y="1667358"/>
            <a:ext cx="12192000" cy="35232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21000" b="1" dirty="0">
                <a:solidFill>
                  <a:srgbClr val="F8FAFC"/>
                </a:solidFill>
                <a:latin typeface="Bebas Neue" panose="020B0606020202050201" pitchFamily="34" charset="0"/>
              </a:rPr>
              <a:t>CONCLUSION</a:t>
            </a:r>
            <a:endParaRPr lang="en-US" sz="21000" dirty="0">
              <a:solidFill>
                <a:prstClr val="black"/>
              </a:solidFill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9309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BC60B4-A9C8-A478-6242-262DDD598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DE2766F3-42AB-9D11-9DCA-ED1328B2380F}"/>
              </a:ext>
            </a:extLst>
          </p:cNvPr>
          <p:cNvSpPr/>
          <p:nvPr/>
        </p:nvSpPr>
        <p:spPr>
          <a:xfrm>
            <a:off x="0" y="1667358"/>
            <a:ext cx="12192000" cy="35232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21000" b="1" dirty="0">
                <a:solidFill>
                  <a:srgbClr val="F8FAFC"/>
                </a:solidFill>
                <a:latin typeface="Bebas Neue" panose="020B0606020202050201" pitchFamily="34" charset="0"/>
              </a:rPr>
              <a:t>TEMPLATES:-</a:t>
            </a:r>
            <a:endParaRPr lang="en-US" sz="21000" dirty="0">
              <a:solidFill>
                <a:prstClr val="black"/>
              </a:solidFill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10958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9019EA-4F07-E64F-C5A2-8FC9CB085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E8E9AEF-F738-B1AF-447D-408A61F78C81}"/>
              </a:ext>
            </a:extLst>
          </p:cNvPr>
          <p:cNvSpPr/>
          <p:nvPr/>
        </p:nvSpPr>
        <p:spPr>
          <a:xfrm>
            <a:off x="609600" y="243840"/>
            <a:ext cx="109728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4533" b="1" dirty="0">
                <a:solidFill>
                  <a:srgbClr val="F8FAFC"/>
                </a:solidFill>
                <a:latin typeface="Aptos Black" panose="020B0004020202020204" pitchFamily="34" charset="0"/>
              </a:rPr>
              <a:t>NLP Thinking Modes</a:t>
            </a:r>
            <a:endParaRPr lang="en-US" sz="4533" dirty="0">
              <a:solidFill>
                <a:prstClr val="black"/>
              </a:solidFill>
              <a:latin typeface="Aptos Black" panose="020B0004020202020204" pitchFamily="34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26FC5BA-7368-5243-CD1E-5FAA517C418C}"/>
              </a:ext>
            </a:extLst>
          </p:cNvPr>
          <p:cNvSpPr/>
          <p:nvPr/>
        </p:nvSpPr>
        <p:spPr>
          <a:xfrm>
            <a:off x="609600" y="975360"/>
            <a:ext cx="10972800" cy="487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pPr defTabSz="1219170"/>
            <a:endParaRPr lang="en-US" sz="2400" dirty="0">
              <a:solidFill>
                <a:srgbClr val="06B6D4"/>
              </a:solidFill>
              <a:latin typeface="Calibri" panose="020F0502020204030204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834139F-F2E5-ABFE-15FB-147D54D97EA8}"/>
              </a:ext>
            </a:extLst>
          </p:cNvPr>
          <p:cNvSpPr/>
          <p:nvPr/>
        </p:nvSpPr>
        <p:spPr>
          <a:xfrm>
            <a:off x="463296" y="1158240"/>
            <a:ext cx="5462016" cy="2682240"/>
          </a:xfrm>
          <a:prstGeom prst="rect">
            <a:avLst/>
          </a:prstGeom>
          <a:solidFill>
            <a:srgbClr val="161B22"/>
          </a:solidFill>
          <a:ln w="15240">
            <a:solidFill>
              <a:srgbClr val="06B6D4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1F48DCE-1ADA-A838-29FC-E8C29F334F46}"/>
              </a:ext>
            </a:extLst>
          </p:cNvPr>
          <p:cNvSpPr/>
          <p:nvPr/>
        </p:nvSpPr>
        <p:spPr>
          <a:xfrm>
            <a:off x="1499616" y="1280160"/>
            <a:ext cx="4267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dirty="0">
                <a:solidFill>
                  <a:srgbClr val="06B6D4"/>
                </a:solidFill>
                <a:latin typeface="Abadi" panose="020B0604020104020204" pitchFamily="34" charset="0"/>
              </a:rPr>
              <a:t>Buffer Cache Issues</a:t>
            </a:r>
            <a:endParaRPr lang="en-US" sz="2933" dirty="0">
              <a:solidFill>
                <a:srgbClr val="06B6D4"/>
              </a:solidFill>
              <a:latin typeface="Abadi" panose="020B0604020104020204" pitchFamily="34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5F49B0D-6296-76D1-A8DD-101546EB5344}"/>
              </a:ext>
            </a:extLst>
          </p:cNvPr>
          <p:cNvSpPr/>
          <p:nvPr/>
        </p:nvSpPr>
        <p:spPr>
          <a:xfrm>
            <a:off x="1499616" y="1914144"/>
            <a:ext cx="4267200" cy="1767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533" dirty="0">
                <a:solidFill>
                  <a:srgbClr val="CBD5E1"/>
                </a:solidFill>
                <a:latin typeface="Century Gothic" panose="020B0502020202020204" pitchFamily="34" charset="0"/>
              </a:rPr>
              <a:t>Parameters such as Buffer, Max Buffer needed to be tuned for finding the ideal transfer speed. </a:t>
            </a:r>
            <a:endParaRPr lang="en-US" sz="2533" dirty="0">
              <a:solidFill>
                <a:prstClr val="black"/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079239E1-7704-F06A-1FCA-C0E710FCA76F}"/>
              </a:ext>
            </a:extLst>
          </p:cNvPr>
          <p:cNvSpPr/>
          <p:nvPr/>
        </p:nvSpPr>
        <p:spPr>
          <a:xfrm>
            <a:off x="6266688" y="1158240"/>
            <a:ext cx="5462016" cy="2682240"/>
          </a:xfrm>
          <a:prstGeom prst="rect">
            <a:avLst/>
          </a:prstGeom>
          <a:solidFill>
            <a:srgbClr val="161B22"/>
          </a:solidFill>
          <a:ln w="15240">
            <a:solidFill>
              <a:srgbClr val="06B6D4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843C58D-1844-6010-EBBB-D1523CBAF65A}"/>
              </a:ext>
            </a:extLst>
          </p:cNvPr>
          <p:cNvSpPr/>
          <p:nvPr/>
        </p:nvSpPr>
        <p:spPr>
          <a:xfrm>
            <a:off x="7303008" y="1280160"/>
            <a:ext cx="4267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dirty="0">
                <a:solidFill>
                  <a:srgbClr val="06B6D4"/>
                </a:solidFill>
                <a:latin typeface="Abadi" panose="020B0604020104020204" pitchFamily="34" charset="0"/>
              </a:rPr>
              <a:t>Packet Distribution</a:t>
            </a:r>
            <a:endParaRPr lang="en-US" sz="2933" dirty="0">
              <a:solidFill>
                <a:srgbClr val="06B6D4"/>
              </a:solidFill>
              <a:latin typeface="Abadi" panose="020B0604020104020204" pitchFamily="34" charset="0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0922554A-0199-9B01-511F-C69A12470CF5}"/>
              </a:ext>
            </a:extLst>
          </p:cNvPr>
          <p:cNvSpPr/>
          <p:nvPr/>
        </p:nvSpPr>
        <p:spPr>
          <a:xfrm>
            <a:off x="7303008" y="1914144"/>
            <a:ext cx="4267200" cy="1767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533" dirty="0">
                <a:solidFill>
                  <a:srgbClr val="CBD5E1"/>
                </a:solidFill>
                <a:latin typeface="Century Gothic" panose="020B0502020202020204" pitchFamily="34" charset="0"/>
              </a:rPr>
              <a:t>Increasing the packet size over ideal spot caused the file transfer speed to spike abnormally over ideal limit</a:t>
            </a:r>
            <a:endParaRPr lang="en-US" sz="2533" dirty="0">
              <a:solidFill>
                <a:prstClr val="black"/>
              </a:solidFill>
              <a:latin typeface="Century Gothic" panose="020B0502020202020204" pitchFamily="34" charset="0"/>
            </a:endParaRPr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F2B8E817-E56D-A2BE-41BD-EF12A145188A}"/>
              </a:ext>
            </a:extLst>
          </p:cNvPr>
          <p:cNvSpPr/>
          <p:nvPr/>
        </p:nvSpPr>
        <p:spPr>
          <a:xfrm>
            <a:off x="3364992" y="3988240"/>
            <a:ext cx="5462016" cy="2682240"/>
          </a:xfrm>
          <a:prstGeom prst="rect">
            <a:avLst/>
          </a:prstGeom>
          <a:solidFill>
            <a:srgbClr val="161B22"/>
          </a:solidFill>
          <a:ln w="15240">
            <a:solidFill>
              <a:srgbClr val="06B6D4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3D708650-A9DA-1B75-2914-5F5AEEC71483}"/>
              </a:ext>
            </a:extLst>
          </p:cNvPr>
          <p:cNvSpPr/>
          <p:nvPr/>
        </p:nvSpPr>
        <p:spPr>
          <a:xfrm>
            <a:off x="4383024" y="4158928"/>
            <a:ext cx="4267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dirty="0">
                <a:solidFill>
                  <a:srgbClr val="06B6D4"/>
                </a:solidFill>
                <a:latin typeface="Abadi" panose="020B0604020104020204" pitchFamily="34" charset="0"/>
              </a:rPr>
              <a:t>Security Protocols</a:t>
            </a:r>
            <a:endParaRPr lang="en-US" sz="2933" dirty="0">
              <a:solidFill>
                <a:srgbClr val="06B6D4"/>
              </a:solidFill>
              <a:latin typeface="Abadi" panose="020B0604020104020204" pitchFamily="34" charset="0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6032EA1F-AFBD-2DE3-87C0-3EC75EAD5AC3}"/>
              </a:ext>
            </a:extLst>
          </p:cNvPr>
          <p:cNvSpPr/>
          <p:nvPr/>
        </p:nvSpPr>
        <p:spPr>
          <a:xfrm>
            <a:off x="4401312" y="4744144"/>
            <a:ext cx="4267200" cy="1767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533" dirty="0">
                <a:solidFill>
                  <a:srgbClr val="CBD5E1"/>
                </a:solidFill>
                <a:latin typeface="Century Gothic" panose="020B0502020202020204" pitchFamily="34" charset="0"/>
              </a:rPr>
              <a:t>As local systems don’t allow HTTPS protocol, browsers tended to disable file transfer through HTTP websites.</a:t>
            </a:r>
            <a:endParaRPr lang="en-US" sz="2533" dirty="0">
              <a:solidFill>
                <a:prstClr val="black"/>
              </a:solidFill>
              <a:latin typeface="Century Gothic" panose="020B0502020202020204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D48FC55-2CBD-C16C-CEC1-7776334294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155" y="1938971"/>
            <a:ext cx="920173" cy="826884"/>
          </a:xfrm>
          <a:prstGeom prst="rect">
            <a:avLst/>
          </a:prstGeom>
          <a:ln>
            <a:noFill/>
          </a:ln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CD1DA39-C54E-EC8E-2C34-F53AA28992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8644" y="1914144"/>
            <a:ext cx="877752" cy="80986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D7D5CC6-2929-B02F-8FDD-C9F2163200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0665" y="4694532"/>
            <a:ext cx="912270" cy="977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944418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D300EC-A527-41C1-E72F-92FE5D8E8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8BFE78C-7F63-FE31-33E1-13F372BE8EF3}"/>
              </a:ext>
            </a:extLst>
          </p:cNvPr>
          <p:cNvSpPr/>
          <p:nvPr/>
        </p:nvSpPr>
        <p:spPr>
          <a:xfrm>
            <a:off x="609600" y="243840"/>
            <a:ext cx="109728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4533" b="1" dirty="0">
                <a:solidFill>
                  <a:srgbClr val="F8FAFC"/>
                </a:solidFill>
                <a:latin typeface="Aptos Black" panose="020B0004020202020204" pitchFamily="34" charset="0"/>
              </a:rPr>
              <a:t>Solutions Implemented</a:t>
            </a:r>
            <a:endParaRPr lang="en-US" sz="4533" dirty="0">
              <a:solidFill>
                <a:prstClr val="black"/>
              </a:solidFill>
              <a:latin typeface="Aptos Black" panose="020B0004020202020204" pitchFamily="34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D628168-31AE-8480-4443-84BE143012F8}"/>
              </a:ext>
            </a:extLst>
          </p:cNvPr>
          <p:cNvSpPr/>
          <p:nvPr/>
        </p:nvSpPr>
        <p:spPr>
          <a:xfrm>
            <a:off x="609600" y="975360"/>
            <a:ext cx="10972800" cy="487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pPr defTabSz="1219170"/>
            <a:endParaRPr lang="en-US" sz="2400" dirty="0">
              <a:solidFill>
                <a:srgbClr val="06B6D4"/>
              </a:solidFill>
              <a:latin typeface="Calibri" panose="020F0502020204030204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53085F8-E2E1-954D-3D14-84D794B06CBE}"/>
              </a:ext>
            </a:extLst>
          </p:cNvPr>
          <p:cNvSpPr/>
          <p:nvPr/>
        </p:nvSpPr>
        <p:spPr>
          <a:xfrm>
            <a:off x="463296" y="1158240"/>
            <a:ext cx="5462016" cy="2682240"/>
          </a:xfrm>
          <a:prstGeom prst="rect">
            <a:avLst/>
          </a:prstGeom>
          <a:solidFill>
            <a:srgbClr val="161B22"/>
          </a:solidFill>
          <a:ln w="1524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595A29B-C6AE-B5C6-9425-19AE5767A009}"/>
              </a:ext>
            </a:extLst>
          </p:cNvPr>
          <p:cNvSpPr/>
          <p:nvPr/>
        </p:nvSpPr>
        <p:spPr>
          <a:xfrm>
            <a:off x="1499616" y="1280160"/>
            <a:ext cx="4267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dirty="0">
                <a:solidFill>
                  <a:srgbClr val="10B981"/>
                </a:solidFill>
                <a:latin typeface="Abadi" panose="020B0604020104020204" pitchFamily="34" charset="0"/>
              </a:rPr>
              <a:t>Trial &amp; Error for Chunk</a:t>
            </a:r>
            <a:endParaRPr lang="en-US" sz="2933" dirty="0">
              <a:solidFill>
                <a:srgbClr val="10B981"/>
              </a:solidFill>
              <a:latin typeface="Abadi" panose="020B0604020104020204" pitchFamily="34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8A1AF0E-7D81-0E00-ECF5-5931495EC58B}"/>
              </a:ext>
            </a:extLst>
          </p:cNvPr>
          <p:cNvSpPr/>
          <p:nvPr/>
        </p:nvSpPr>
        <p:spPr>
          <a:xfrm>
            <a:off x="1499616" y="1914144"/>
            <a:ext cx="4267200" cy="1514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533" dirty="0">
                <a:solidFill>
                  <a:srgbClr val="CBD5E1"/>
                </a:solidFill>
                <a:latin typeface="Century Gothic" panose="020B0502020202020204" pitchFamily="34" charset="0"/>
              </a:rPr>
              <a:t>Ideal spot for Chunk size was found through many trial and error sessions.</a:t>
            </a:r>
            <a:endParaRPr lang="en-US" sz="2533" dirty="0">
              <a:solidFill>
                <a:prstClr val="black"/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E8D2A367-7250-4EB0-1C8E-F014839B4059}"/>
              </a:ext>
            </a:extLst>
          </p:cNvPr>
          <p:cNvSpPr/>
          <p:nvPr/>
        </p:nvSpPr>
        <p:spPr>
          <a:xfrm>
            <a:off x="6266688" y="1158240"/>
            <a:ext cx="5462016" cy="2682240"/>
          </a:xfrm>
          <a:prstGeom prst="rect">
            <a:avLst/>
          </a:prstGeom>
          <a:solidFill>
            <a:srgbClr val="161B22"/>
          </a:solidFill>
          <a:ln w="1524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CE5688E2-2A47-E592-1A6A-F5F12CA22506}"/>
              </a:ext>
            </a:extLst>
          </p:cNvPr>
          <p:cNvSpPr/>
          <p:nvPr/>
        </p:nvSpPr>
        <p:spPr>
          <a:xfrm>
            <a:off x="7303008" y="1280160"/>
            <a:ext cx="4267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dirty="0">
                <a:solidFill>
                  <a:srgbClr val="10B981"/>
                </a:solidFill>
                <a:latin typeface="Abadi" panose="020B0604020104020204" pitchFamily="34" charset="0"/>
              </a:rPr>
              <a:t>Browser Settings</a:t>
            </a:r>
            <a:endParaRPr lang="en-US" sz="2933" dirty="0">
              <a:solidFill>
                <a:srgbClr val="10B981"/>
              </a:solidFill>
              <a:latin typeface="Abadi" panose="020B0604020104020204" pitchFamily="34" charset="0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C609A4C8-019D-71E1-84BB-DE3616DE7605}"/>
              </a:ext>
            </a:extLst>
          </p:cNvPr>
          <p:cNvSpPr/>
          <p:nvPr/>
        </p:nvSpPr>
        <p:spPr>
          <a:xfrm>
            <a:off x="7303008" y="1914144"/>
            <a:ext cx="4267200" cy="1767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533" dirty="0">
                <a:solidFill>
                  <a:srgbClr val="CBD5E1"/>
                </a:solidFill>
                <a:latin typeface="Century Gothic" panose="020B0502020202020204" pitchFamily="34" charset="0"/>
              </a:rPr>
              <a:t>Browser settings were explored thoroughly to find the setting to allow our local systems to transfer files ideally</a:t>
            </a:r>
            <a:endParaRPr lang="en-US" sz="2533" dirty="0">
              <a:solidFill>
                <a:prstClr val="black"/>
              </a:solidFill>
              <a:latin typeface="Century Gothic" panose="020B0502020202020204" pitchFamily="34" charset="0"/>
            </a:endParaRPr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BA21570E-014E-5B57-C92B-E9EA52FD0C1C}"/>
              </a:ext>
            </a:extLst>
          </p:cNvPr>
          <p:cNvSpPr/>
          <p:nvPr/>
        </p:nvSpPr>
        <p:spPr>
          <a:xfrm>
            <a:off x="3364992" y="3988240"/>
            <a:ext cx="5462016" cy="2682240"/>
          </a:xfrm>
          <a:prstGeom prst="rect">
            <a:avLst/>
          </a:prstGeom>
          <a:solidFill>
            <a:srgbClr val="161B22"/>
          </a:solidFill>
          <a:ln w="1524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pPr defTabSz="121917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0CD75706-44F3-6A68-9B77-EC1C2E5095F1}"/>
              </a:ext>
            </a:extLst>
          </p:cNvPr>
          <p:cNvSpPr/>
          <p:nvPr/>
        </p:nvSpPr>
        <p:spPr>
          <a:xfrm>
            <a:off x="4383024" y="4158928"/>
            <a:ext cx="4267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dirty="0">
                <a:solidFill>
                  <a:srgbClr val="10B981"/>
                </a:solidFill>
                <a:latin typeface="Abadi" panose="020B0604020104020204" pitchFamily="34" charset="0"/>
              </a:rPr>
              <a:t>Four Parallel Streams</a:t>
            </a:r>
            <a:endParaRPr lang="en-US" sz="2933" dirty="0">
              <a:solidFill>
                <a:srgbClr val="10B981"/>
              </a:solidFill>
              <a:latin typeface="Abadi" panose="020B0604020104020204" pitchFamily="34" charset="0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40E97493-D800-E90B-04AD-B870625B157B}"/>
              </a:ext>
            </a:extLst>
          </p:cNvPr>
          <p:cNvSpPr/>
          <p:nvPr/>
        </p:nvSpPr>
        <p:spPr>
          <a:xfrm>
            <a:off x="4401312" y="4744144"/>
            <a:ext cx="4267200" cy="1767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533" dirty="0">
                <a:solidFill>
                  <a:srgbClr val="CBD5E1"/>
                </a:solidFill>
                <a:latin typeface="Century Gothic" panose="020B0502020202020204" pitchFamily="34" charset="0"/>
              </a:rPr>
              <a:t>Centralized servers can read your history. Even 'encrypted' services often hold the keys.</a:t>
            </a:r>
            <a:endParaRPr lang="en-US" sz="2533" dirty="0">
              <a:solidFill>
                <a:prstClr val="black"/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3DA250-47A3-6CA2-C994-70CAAC991F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792" y="1987296"/>
            <a:ext cx="1094843" cy="100975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8772379-E528-F4BA-F395-76C39DFE2D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6688" y="1946352"/>
            <a:ext cx="1203761" cy="112968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7B7EBCE-886D-CE53-DABF-2DAC19544E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8640" y="4744144"/>
            <a:ext cx="1167930" cy="1038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393418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588</TotalTime>
  <Words>421</Words>
  <Application>Microsoft Office PowerPoint</Application>
  <PresentationFormat>Widescreen</PresentationFormat>
  <Paragraphs>92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Century Gothic</vt:lpstr>
      <vt:lpstr>Calibri</vt:lpstr>
      <vt:lpstr>Abadi</vt:lpstr>
      <vt:lpstr>Arial Nova</vt:lpstr>
      <vt:lpstr>Arial</vt:lpstr>
      <vt:lpstr>Aptos</vt:lpstr>
      <vt:lpstr>Bebas Neue</vt:lpstr>
      <vt:lpstr>Aptos Black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yusra jabbar</dc:creator>
  <cp:lastModifiedBy>Zaid Ahmed Sheikh</cp:lastModifiedBy>
  <cp:revision>17</cp:revision>
  <dcterms:created xsi:type="dcterms:W3CDTF">2026-04-19T08:47:45Z</dcterms:created>
  <dcterms:modified xsi:type="dcterms:W3CDTF">2026-05-03T14:33:51Z</dcterms:modified>
</cp:coreProperties>
</file>