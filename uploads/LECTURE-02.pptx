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88" r:id="rId5"/>
    <p:sldId id="259" r:id="rId6"/>
    <p:sldId id="260" r:id="rId7"/>
    <p:sldId id="261" r:id="rId8"/>
    <p:sldId id="262" r:id="rId9"/>
    <p:sldId id="263" r:id="rId10"/>
    <p:sldId id="265" r:id="rId11"/>
    <p:sldId id="266" r:id="rId12"/>
    <p:sldId id="267" r:id="rId13"/>
    <p:sldId id="270" r:id="rId14"/>
    <p:sldId id="271" r:id="rId15"/>
    <p:sldId id="272" r:id="rId16"/>
    <p:sldId id="273" r:id="rId17"/>
    <p:sldId id="274" r:id="rId18"/>
    <p:sldId id="280" r:id="rId19"/>
    <p:sldId id="281" r:id="rId20"/>
    <p:sldId id="282" r:id="rId21"/>
    <p:sldId id="283" r:id="rId22"/>
    <p:sldId id="284" r:id="rId23"/>
    <p:sldId id="285" r:id="rId24"/>
    <p:sldId id="275" r:id="rId25"/>
    <p:sldId id="276" r:id="rId26"/>
    <p:sldId id="278" r:id="rId27"/>
    <p:sldId id="286" r:id="rId28"/>
    <p:sldId id="287" r:id="rId29"/>
    <p:sldId id="279" r:id="rId30"/>
    <p:sldId id="289"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1476"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4F0036D6-B437-4FD7-B9B0-4E5E0A92A479}" type="datetimeFigureOut">
              <a:rPr lang="en-US" smtClean="0"/>
              <a:pPr/>
              <a:t>2/21/2025</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3443410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0036D6-B437-4FD7-B9B0-4E5E0A92A47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70859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0036D6-B437-4FD7-B9B0-4E5E0A92A47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3566163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0036D6-B437-4FD7-B9B0-4E5E0A92A479}"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851649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0036D6-B437-4FD7-B9B0-4E5E0A92A479}" type="datetimeFigureOut">
              <a:rPr lang="en-US" smtClean="0"/>
              <a:pPr/>
              <a:t>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299975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0036D6-B437-4FD7-B9B0-4E5E0A92A479}" type="datetimeFigureOut">
              <a:rPr lang="en-US" smtClean="0"/>
              <a:pPr/>
              <a:t>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322704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4F0036D6-B437-4FD7-B9B0-4E5E0A92A479}" type="datetimeFigureOut">
              <a:rPr lang="en-US" smtClean="0"/>
              <a:pPr/>
              <a:t>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916429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0036D6-B437-4FD7-B9B0-4E5E0A92A479}"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106408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0036D6-B437-4FD7-B9B0-4E5E0A92A479}"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532582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0036D6-B437-4FD7-B9B0-4E5E0A92A479}"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2700904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F0036D6-B437-4FD7-B9B0-4E5E0A92A47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4020275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F0036D6-B437-4FD7-B9B0-4E5E0A92A47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705393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0036D6-B437-4FD7-B9B0-4E5E0A92A47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3212823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F0036D6-B437-4FD7-B9B0-4E5E0A92A479}" type="datetimeFigureOut">
              <a:rPr lang="en-US" smtClean="0"/>
              <a:pPr/>
              <a:t>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951612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F0036D6-B437-4FD7-B9B0-4E5E0A92A479}" type="datetimeFigureOut">
              <a:rPr lang="en-US" smtClean="0"/>
              <a:pPr/>
              <a:t>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11985063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4F0036D6-B437-4FD7-B9B0-4E5E0A92A479}" type="datetimeFigureOut">
              <a:rPr lang="en-US" smtClean="0"/>
              <a:pPr/>
              <a:t>2/21/2025</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1067699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0036D6-B437-4FD7-B9B0-4E5E0A92A479}" type="datetimeFigureOut">
              <a:rPr lang="en-US" smtClean="0"/>
              <a:pPr/>
              <a:t>2/21/2025</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313002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4F0036D6-B437-4FD7-B9B0-4E5E0A92A479}" type="datetimeFigureOut">
              <a:rPr lang="en-US" smtClean="0"/>
              <a:pPr/>
              <a:t>2/21/2025</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9C342EBD-7454-4125-BD5F-2E294D257842}" type="slidenum">
              <a:rPr lang="en-US" smtClean="0"/>
              <a:pPr/>
              <a:t>‹#›</a:t>
            </a:fld>
            <a:endParaRPr lang="en-US"/>
          </a:p>
        </p:txBody>
      </p:sp>
    </p:spTree>
    <p:extLst>
      <p:ext uri="{BB962C8B-B14F-4D97-AF65-F5344CB8AC3E}">
        <p14:creationId xmlns:p14="http://schemas.microsoft.com/office/powerpoint/2010/main" val="418087596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295400"/>
            <a:ext cx="7639665" cy="2133600"/>
          </a:xfrm>
        </p:spPr>
        <p:txBody>
          <a:bodyPr/>
          <a:lstStyle/>
          <a:p>
            <a:pPr algn="ctr"/>
            <a:br>
              <a:rPr sz="3800" b="1" dirty="0">
                <a:latin typeface="Cambria" panose="02040503050406030204" pitchFamily="18" charset="0"/>
                <a:ea typeface="Cambria" panose="02040503050406030204" pitchFamily="18" charset="0"/>
              </a:rPr>
            </a:br>
            <a:r>
              <a:rPr sz="3800" b="1" dirty="0">
                <a:latin typeface="Cambria" panose="02040503050406030204" pitchFamily="18" charset="0"/>
                <a:ea typeface="Cambria" panose="02040503050406030204" pitchFamily="18" charset="0"/>
              </a:rPr>
              <a:t>Introduction To Database/ </a:t>
            </a:r>
            <a:br>
              <a:rPr sz="3800" b="1" dirty="0">
                <a:latin typeface="Cambria" panose="02040503050406030204" pitchFamily="18" charset="0"/>
                <a:ea typeface="Cambria" panose="02040503050406030204" pitchFamily="18" charset="0"/>
              </a:rPr>
            </a:br>
            <a:r>
              <a:rPr sz="3800" b="1" dirty="0">
                <a:latin typeface="Cambria" panose="02040503050406030204" pitchFamily="18" charset="0"/>
                <a:ea typeface="Cambria" panose="02040503050406030204" pitchFamily="18" charset="0"/>
              </a:rPr>
              <a:t> Database Manag</a:t>
            </a:r>
            <a:r>
              <a:rPr lang="en-US" sz="3800" b="1" dirty="0">
                <a:latin typeface="Cambria" panose="02040503050406030204" pitchFamily="18" charset="0"/>
                <a:ea typeface="Cambria" panose="02040503050406030204" pitchFamily="18" charset="0"/>
              </a:rPr>
              <a:t>e</a:t>
            </a:r>
            <a:r>
              <a:rPr sz="3800" b="1" dirty="0">
                <a:latin typeface="Cambria" panose="02040503050406030204" pitchFamily="18" charset="0"/>
                <a:ea typeface="Cambria" panose="02040503050406030204" pitchFamily="18" charset="0"/>
              </a:rPr>
              <a:t>ment System</a:t>
            </a:r>
            <a:br>
              <a:rPr sz="3800" b="1" dirty="0">
                <a:latin typeface="Cambria" panose="02040503050406030204" pitchFamily="18" charset="0"/>
                <a:ea typeface="Cambria" panose="02040503050406030204" pitchFamily="18" charset="0"/>
              </a:rPr>
            </a:br>
            <a:endParaRPr lang="en-US" sz="38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7C582B5C-36E8-2D76-2B60-C9CC699BE535}"/>
              </a:ext>
            </a:extLst>
          </p:cNvPr>
          <p:cNvSpPr txBox="1"/>
          <p:nvPr/>
        </p:nvSpPr>
        <p:spPr>
          <a:xfrm>
            <a:off x="2831690" y="4337325"/>
            <a:ext cx="4572000" cy="646331"/>
          </a:xfrm>
          <a:prstGeom prst="rect">
            <a:avLst/>
          </a:prstGeom>
          <a:noFill/>
        </p:spPr>
        <p:txBody>
          <a:bodyPr wrap="square">
            <a:spAutoFit/>
          </a:bodyPr>
          <a:lstStyle/>
          <a:p>
            <a:pPr algn="ctr"/>
            <a:r>
              <a:rPr lang="en-US" sz="1800" b="1" dirty="0">
                <a:solidFill>
                  <a:schemeClr val="accent4">
                    <a:lumMod val="60000"/>
                    <a:lumOff val="40000"/>
                  </a:schemeClr>
                </a:solidFill>
                <a:latin typeface="Comic Sans MS" panose="030F0702030302020204" pitchFamily="66" charset="0"/>
              </a:rPr>
              <a:t>Instructor </a:t>
            </a:r>
          </a:p>
          <a:p>
            <a:pPr algn="ctr"/>
            <a:r>
              <a:rPr lang="en-US" sz="1800" b="1" dirty="0">
                <a:solidFill>
                  <a:schemeClr val="accent4">
                    <a:lumMod val="60000"/>
                    <a:lumOff val="40000"/>
                  </a:schemeClr>
                </a:solidFill>
                <a:latin typeface="Comic Sans MS" panose="030F0702030302020204" pitchFamily="66" charset="0"/>
              </a:rPr>
              <a:t>			          Engr. Poonam K.K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533400"/>
            <a:ext cx="8229600" cy="1828800"/>
          </a:xfrm>
        </p:spPr>
        <p:txBody>
          <a:bodyPr>
            <a:normAutofit/>
          </a:bodyPr>
          <a:lstStyle/>
          <a:p>
            <a:r>
              <a:rPr b="1"/>
              <a:t>What is the Difference Between Data and Information?</a:t>
            </a:r>
            <a:br>
              <a:rPr b="1"/>
            </a:br>
            <a:endParaRPr lang="en-US" dirty="0"/>
          </a:p>
        </p:txBody>
      </p:sp>
      <p:sp>
        <p:nvSpPr>
          <p:cNvPr id="2" name="Content Placeholder 1"/>
          <p:cNvSpPr>
            <a:spLocks noGrp="1"/>
          </p:cNvSpPr>
          <p:nvPr>
            <p:ph idx="1"/>
          </p:nvPr>
        </p:nvSpPr>
        <p:spPr>
          <a:xfrm>
            <a:off x="457200" y="1981200"/>
            <a:ext cx="8229600" cy="4114800"/>
          </a:xfrm>
        </p:spPr>
        <p:txBody>
          <a:bodyPr>
            <a:normAutofit/>
          </a:bodyPr>
          <a:lstStyle/>
          <a:p>
            <a:pPr algn="just"/>
            <a:endParaRPr lang="en-US" b="1" dirty="0"/>
          </a:p>
          <a:p>
            <a:pPr algn="just"/>
            <a:r>
              <a:rPr lang="en-US" b="1" dirty="0"/>
              <a:t>Data and information are interrelated. </a:t>
            </a:r>
          </a:p>
          <a:p>
            <a:pPr algn="just"/>
            <a:r>
              <a:rPr lang="en-US" b="1" dirty="0"/>
              <a:t>Data usually refers to raw data or unprocessed data. It is the basic form of data, data that hasn’t been analyzed or processed in any manner. Once the data is analyzed, it is considered </a:t>
            </a:r>
            <a:r>
              <a:rPr lang="en-US" b="1" u="sng" dirty="0"/>
              <a:t>information.</a:t>
            </a:r>
          </a:p>
          <a:p>
            <a:pPr algn="just"/>
            <a:r>
              <a:rPr lang="en-US" dirty="0"/>
              <a:t>Once the data is analyzed, it is considered information.</a:t>
            </a:r>
          </a:p>
          <a:p>
            <a:pPr algn="just"/>
            <a:r>
              <a:rPr lang="en-US" dirty="0"/>
              <a:t>Basically, information is the message that is being conveyed, whereas data are plain facts.</a:t>
            </a:r>
          </a:p>
          <a:p>
            <a:pPr algn="just"/>
            <a:r>
              <a:rPr lang="en-US" dirty="0"/>
              <a:t>Once the data is processed, organized, structured, or presented in each context, it can become useful. Then data will become information,</a:t>
            </a:r>
            <a:endParaRPr lang="en-US" b="1" dirty="0"/>
          </a:p>
          <a:p>
            <a:pPr algn="just"/>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t>Database</a:t>
            </a:r>
            <a:endParaRPr lang="en-US" dirty="0"/>
          </a:p>
        </p:txBody>
      </p:sp>
      <p:sp>
        <p:nvSpPr>
          <p:cNvPr id="2" name="Content Placeholder 1"/>
          <p:cNvSpPr>
            <a:spLocks noGrp="1"/>
          </p:cNvSpPr>
          <p:nvPr>
            <p:ph idx="1"/>
          </p:nvPr>
        </p:nvSpPr>
        <p:spPr/>
        <p:txBody>
          <a:bodyPr/>
          <a:lstStyle/>
          <a:p>
            <a:pPr algn="just"/>
            <a:r>
              <a:rPr lang="en-US" dirty="0"/>
              <a:t>A </a:t>
            </a:r>
            <a:r>
              <a:rPr lang="en-US" b="1" dirty="0"/>
              <a:t>Database</a:t>
            </a:r>
            <a:r>
              <a:rPr lang="en-US" dirty="0"/>
              <a:t> is a collection of related data organized in a way that data can be easily accessed, managed, and updated. </a:t>
            </a:r>
          </a:p>
          <a:p>
            <a:pPr algn="just"/>
            <a:r>
              <a:rPr lang="en-US" dirty="0"/>
              <a:t>Any piece of information can be data, for example, the name of your school.</a:t>
            </a:r>
          </a:p>
          <a:p>
            <a:pPr algn="just"/>
            <a:r>
              <a:rPr lang="en-US" dirty="0"/>
              <a:t> Database is a place where a related piece of information is stored, and various operations can be performed.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89EFC7-E2E0-4CA3-A762-04A287A91A1A}"/>
              </a:ext>
            </a:extLst>
          </p:cNvPr>
          <p:cNvSpPr>
            <a:spLocks noGrp="1"/>
          </p:cNvSpPr>
          <p:nvPr>
            <p:ph type="title"/>
          </p:nvPr>
        </p:nvSpPr>
        <p:spPr/>
        <p:txBody>
          <a:bodyPr/>
          <a:lstStyle/>
          <a:p>
            <a:r>
              <a:rPr lang="en-US" b="1" dirty="0"/>
              <a:t>File system v/s DBMS</a:t>
            </a:r>
            <a:endParaRPr lang="en-US" dirty="0"/>
          </a:p>
        </p:txBody>
      </p:sp>
      <p:sp>
        <p:nvSpPr>
          <p:cNvPr id="2" name="Content Placeholder 1">
            <a:extLst>
              <a:ext uri="{FF2B5EF4-FFF2-40B4-BE49-F238E27FC236}">
                <a16:creationId xmlns:a16="http://schemas.microsoft.com/office/drawing/2014/main" id="{F76E8306-F163-4304-AEC2-090092F2616A}"/>
              </a:ext>
            </a:extLst>
          </p:cNvPr>
          <p:cNvSpPr>
            <a:spLocks noGrp="1"/>
          </p:cNvSpPr>
          <p:nvPr>
            <p:ph idx="1"/>
          </p:nvPr>
        </p:nvSpPr>
        <p:spPr/>
        <p:txBody>
          <a:bodyPr>
            <a:normAutofit/>
          </a:bodyPr>
          <a:lstStyle/>
          <a:p>
            <a:pPr marL="0" indent="0" algn="just">
              <a:buNone/>
            </a:pPr>
            <a:r>
              <a:rPr lang="en-US" dirty="0"/>
              <a:t>In the early days, database applications were built on top of file systems. </a:t>
            </a:r>
          </a:p>
          <a:p>
            <a:pPr marL="0" indent="0" algn="just">
              <a:buNone/>
            </a:pPr>
            <a:r>
              <a:rPr lang="en-US" dirty="0"/>
              <a:t>Used before the DBMS.</a:t>
            </a:r>
          </a:p>
          <a:p>
            <a:pPr marL="0" indent="0" algn="just">
              <a:buNone/>
            </a:pPr>
            <a:r>
              <a:rPr lang="en-US" dirty="0"/>
              <a:t>Manage its data in the file form.</a:t>
            </a:r>
          </a:p>
          <a:p>
            <a:pPr marL="0" indent="0" algn="just">
              <a:buNone/>
            </a:pPr>
            <a:r>
              <a:rPr lang="en-US" dirty="0"/>
              <a:t>OS has a built-in file system.</a:t>
            </a:r>
          </a:p>
          <a:p>
            <a:pPr marL="0" indent="0" algn="just">
              <a:buNone/>
            </a:pPr>
            <a:r>
              <a:rPr lang="en-US" dirty="0"/>
              <a:t>E.g., NFS, CIFS.</a:t>
            </a:r>
          </a:p>
          <a:p>
            <a:pPr marL="0" indent="0" algn="just">
              <a:buNone/>
            </a:pPr>
            <a:r>
              <a:rPr lang="en-US" dirty="0"/>
              <a:t>DBMS- Client-server architecture. </a:t>
            </a:r>
          </a:p>
          <a:p>
            <a:pPr marL="0" indent="0" algn="just">
              <a:buNone/>
            </a:pPr>
            <a:r>
              <a:rPr lang="en-US" dirty="0"/>
              <a:t>Centralized location and can access data all over the world.</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algn="just"/>
            <a:endParaRPr lang="en-US" dirty="0"/>
          </a:p>
        </p:txBody>
      </p:sp>
    </p:spTree>
    <p:extLst>
      <p:ext uri="{BB962C8B-B14F-4D97-AF65-F5344CB8AC3E}">
        <p14:creationId xmlns:p14="http://schemas.microsoft.com/office/powerpoint/2010/main" val="232604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dirty="0"/>
              <a:t>Purpose of Database System</a:t>
            </a:r>
            <a:endParaRPr lang="en-US" dirty="0"/>
          </a:p>
        </p:txBody>
      </p:sp>
      <p:sp>
        <p:nvSpPr>
          <p:cNvPr id="2" name="Content Placeholder 1"/>
          <p:cNvSpPr>
            <a:spLocks noGrp="1"/>
          </p:cNvSpPr>
          <p:nvPr>
            <p:ph idx="1"/>
          </p:nvPr>
        </p:nvSpPr>
        <p:spPr/>
        <p:txBody>
          <a:bodyPr>
            <a:normAutofit lnSpcReduction="10000"/>
          </a:bodyPr>
          <a:lstStyle/>
          <a:p>
            <a:pPr marL="0" indent="0">
              <a:buNone/>
            </a:pPr>
            <a:r>
              <a:rPr lang="en-US" dirty="0">
                <a:solidFill>
                  <a:srgbClr val="C00000"/>
                </a:solidFill>
              </a:rPr>
              <a:t>Drawbacks of using file systems to store data:</a:t>
            </a:r>
          </a:p>
          <a:p>
            <a:pPr marL="346075" indent="0">
              <a:buNone/>
            </a:pPr>
            <a:r>
              <a:rPr lang="en-US" dirty="0"/>
              <a:t> </a:t>
            </a:r>
            <a:r>
              <a:rPr lang="en-US" dirty="0">
                <a:solidFill>
                  <a:schemeClr val="bg2"/>
                </a:solidFill>
              </a:rPr>
              <a:t>Data redundancy and inconsistency</a:t>
            </a:r>
          </a:p>
          <a:p>
            <a:pPr marL="346075" indent="0">
              <a:buNone/>
            </a:pPr>
            <a:r>
              <a:rPr lang="en-US" dirty="0"/>
              <a:t>✔ Multiple file formats, duplication of information in different files</a:t>
            </a:r>
          </a:p>
          <a:p>
            <a:pPr marL="346075" indent="0">
              <a:buNone/>
            </a:pPr>
            <a:r>
              <a:rPr lang="en-US" dirty="0"/>
              <a:t> </a:t>
            </a:r>
            <a:r>
              <a:rPr lang="en-US" dirty="0">
                <a:solidFill>
                  <a:schemeClr val="bg2"/>
                </a:solidFill>
              </a:rPr>
              <a:t>Difficulty in accessing data</a:t>
            </a:r>
          </a:p>
          <a:p>
            <a:pPr marL="346075" indent="0">
              <a:buNone/>
            </a:pPr>
            <a:r>
              <a:rPr lang="en-US" dirty="0"/>
              <a:t>✔ Need to write a new program to carry out each new task</a:t>
            </a:r>
          </a:p>
          <a:p>
            <a:pPr marL="346075" indent="0">
              <a:buNone/>
            </a:pPr>
            <a:r>
              <a:rPr lang="en-US" dirty="0">
                <a:solidFill>
                  <a:schemeClr val="bg2"/>
                </a:solidFill>
              </a:rPr>
              <a:t>Integrity problems</a:t>
            </a:r>
            <a:endParaRPr lang="en-US" dirty="0"/>
          </a:p>
          <a:p>
            <a:pPr marL="346075" indent="0">
              <a:buNone/>
            </a:pPr>
            <a:r>
              <a:rPr lang="en-US" dirty="0"/>
              <a:t>✔ Hard to add new constraints or change existing ones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b="1"/>
              <a:t>Purpose of Database Systems (Cont.)</a:t>
            </a:r>
            <a:endParaRPr lang="en-US" dirty="0"/>
          </a:p>
        </p:txBody>
      </p:sp>
      <p:sp>
        <p:nvSpPr>
          <p:cNvPr id="2" name="Content Placeholder 1"/>
          <p:cNvSpPr>
            <a:spLocks noGrp="1"/>
          </p:cNvSpPr>
          <p:nvPr>
            <p:ph idx="1"/>
          </p:nvPr>
        </p:nvSpPr>
        <p:spPr/>
        <p:txBody>
          <a:bodyPr>
            <a:normAutofit/>
          </a:bodyPr>
          <a:lstStyle/>
          <a:p>
            <a:r>
              <a:rPr lang="en-US" dirty="0">
                <a:solidFill>
                  <a:srgbClr val="C00000"/>
                </a:solidFill>
              </a:rPr>
              <a:t>Drawbacks of using file systems (cont.)</a:t>
            </a:r>
          </a:p>
          <a:p>
            <a:pPr marL="0" indent="0">
              <a:buNone/>
            </a:pPr>
            <a:r>
              <a:rPr lang="en-US" dirty="0">
                <a:solidFill>
                  <a:schemeClr val="bg2"/>
                </a:solidFill>
              </a:rPr>
              <a:t>Concurrent access by multiple users</a:t>
            </a:r>
          </a:p>
          <a:p>
            <a:pPr marL="0" indent="0">
              <a:buNone/>
            </a:pPr>
            <a:r>
              <a:rPr lang="en-US" dirty="0"/>
              <a:t>✔ Uncontrolled concurrent accesses can lead to inconsistencies</a:t>
            </a:r>
          </a:p>
          <a:p>
            <a:pPr marL="0" indent="0">
              <a:buNone/>
            </a:pPr>
            <a:r>
              <a:rPr lang="en-US" dirty="0"/>
              <a:t>– E.g. two people reading a balance and updating it at the same time</a:t>
            </a:r>
          </a:p>
          <a:p>
            <a:pPr marL="0" indent="0">
              <a:buNone/>
            </a:pPr>
            <a:r>
              <a:rPr lang="en-US" dirty="0">
                <a:solidFill>
                  <a:schemeClr val="bg2"/>
                </a:solidFill>
              </a:rPr>
              <a:t> Security problems</a:t>
            </a:r>
          </a:p>
          <a:p>
            <a:pPr marL="0" indent="0">
              <a:buNone/>
            </a:pPr>
            <a:r>
              <a:rPr lang="en-US" dirty="0"/>
              <a:t> Database systems offer solutions to all the above problems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8600"/>
            <a:ext cx="8229600" cy="1143000"/>
          </a:xfrm>
        </p:spPr>
        <p:txBody>
          <a:bodyPr>
            <a:normAutofit/>
          </a:bodyPr>
          <a:lstStyle/>
          <a:p>
            <a:pPr algn="ctr"/>
            <a:br>
              <a:rPr b="1" dirty="0"/>
            </a:br>
            <a:r>
              <a:rPr b="1" dirty="0"/>
              <a:t>Data Base Manag</a:t>
            </a:r>
            <a:r>
              <a:rPr lang="en-US" b="1" dirty="0"/>
              <a:t>e</a:t>
            </a:r>
            <a:r>
              <a:rPr b="1" dirty="0"/>
              <a:t>ment System DBMS</a:t>
            </a:r>
            <a:endParaRPr lang="en-US" b="1" dirty="0"/>
          </a:p>
        </p:txBody>
      </p:sp>
      <p:sp>
        <p:nvSpPr>
          <p:cNvPr id="2" name="Content Placeholder 1"/>
          <p:cNvSpPr>
            <a:spLocks noGrp="1"/>
          </p:cNvSpPr>
          <p:nvPr>
            <p:ph idx="1"/>
          </p:nvPr>
        </p:nvSpPr>
        <p:spPr/>
        <p:txBody>
          <a:bodyPr/>
          <a:lstStyle/>
          <a:p>
            <a:pPr algn="just"/>
            <a:r>
              <a:rPr lang="en-US" b="1" dirty="0"/>
              <a:t>DBMS</a:t>
            </a:r>
            <a:r>
              <a:rPr lang="en-US" dirty="0"/>
              <a:t> is software that allows the creation, definition, and manipulation of databases. </a:t>
            </a:r>
          </a:p>
          <a:p>
            <a:pPr algn="just"/>
            <a:r>
              <a:rPr lang="en-US" dirty="0"/>
              <a:t>Dbms is actually a tool used to perform any kind of operation on data in the database. </a:t>
            </a:r>
          </a:p>
          <a:p>
            <a:pPr algn="just"/>
            <a:r>
              <a:rPr lang="en-US" dirty="0"/>
              <a:t>Dbms also provides protection and security to the database. It maintains data consistency in the case of multiple users. </a:t>
            </a:r>
          </a:p>
          <a:p>
            <a:pPr algn="just"/>
            <a:r>
              <a:rPr lang="en-US" dirty="0"/>
              <a:t>Here are some examples of popular DBMS, </a:t>
            </a:r>
            <a:r>
              <a:rPr lang="en-US" dirty="0" err="1"/>
              <a:t>MySql</a:t>
            </a:r>
            <a:r>
              <a:rPr lang="en-US" dirty="0"/>
              <a:t>, Oracle, Sybase, Microsoft Access and IBM DB2,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Database Applications:</a:t>
            </a:r>
          </a:p>
        </p:txBody>
      </p:sp>
      <p:sp>
        <p:nvSpPr>
          <p:cNvPr id="2" name="Content Placeholder 1"/>
          <p:cNvSpPr>
            <a:spLocks noGrp="1"/>
          </p:cNvSpPr>
          <p:nvPr>
            <p:ph idx="1"/>
          </p:nvPr>
        </p:nvSpPr>
        <p:spPr/>
        <p:txBody>
          <a:bodyPr/>
          <a:lstStyle/>
          <a:p>
            <a:pPr lvl="1"/>
            <a:r>
              <a:rPr lang="en-US" dirty="0">
                <a:solidFill>
                  <a:schemeClr val="tx1"/>
                </a:solidFill>
              </a:rPr>
              <a:t>Banking: transactions</a:t>
            </a:r>
          </a:p>
          <a:p>
            <a:pPr lvl="1"/>
            <a:r>
              <a:rPr lang="en-US" dirty="0">
                <a:solidFill>
                  <a:schemeClr val="tx1"/>
                </a:solidFill>
              </a:rPr>
              <a:t>Airlines: reservations, schedules</a:t>
            </a:r>
          </a:p>
          <a:p>
            <a:pPr lvl="1"/>
            <a:r>
              <a:rPr lang="en-US" dirty="0">
                <a:solidFill>
                  <a:schemeClr val="tx1"/>
                </a:solidFill>
              </a:rPr>
              <a:t>Universities:  registration, grades</a:t>
            </a:r>
          </a:p>
          <a:p>
            <a:pPr lvl="1"/>
            <a:r>
              <a:rPr lang="en-US" dirty="0">
                <a:solidFill>
                  <a:schemeClr val="tx1"/>
                </a:solidFill>
              </a:rPr>
              <a:t>Sales: customers, products, purchases</a:t>
            </a:r>
          </a:p>
          <a:p>
            <a:pPr lvl="1"/>
            <a:r>
              <a:rPr lang="en-US" dirty="0">
                <a:solidFill>
                  <a:schemeClr val="tx1"/>
                </a:solidFill>
              </a:rPr>
              <a:t>Online retailers: order tracking, customized recommendations</a:t>
            </a:r>
          </a:p>
          <a:p>
            <a:pPr lvl="1"/>
            <a:r>
              <a:rPr lang="en-US" dirty="0">
                <a:solidFill>
                  <a:schemeClr val="tx1"/>
                </a:solidFill>
              </a:rPr>
              <a:t>Manufacturing: production, inventory, orders, supply chain</a:t>
            </a:r>
          </a:p>
          <a:p>
            <a:pPr lvl="1"/>
            <a:r>
              <a:rPr lang="en-US" dirty="0">
                <a:solidFill>
                  <a:schemeClr val="tx1"/>
                </a:solidFill>
              </a:rPr>
              <a:t>Human resources:  employee records, salaries, tax deductions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sz="3800">
                <a:effectLst/>
              </a:rPr>
              <a:t>University Database Example</a:t>
            </a:r>
            <a:endParaRPr lang="en-US" sz="3800" dirty="0"/>
          </a:p>
        </p:txBody>
      </p:sp>
      <p:sp>
        <p:nvSpPr>
          <p:cNvPr id="2" name="Content Placeholder 1"/>
          <p:cNvSpPr>
            <a:spLocks noGrp="1"/>
          </p:cNvSpPr>
          <p:nvPr>
            <p:ph idx="1"/>
          </p:nvPr>
        </p:nvSpPr>
        <p:spPr/>
        <p:txBody>
          <a:bodyPr/>
          <a:lstStyle/>
          <a:p>
            <a:r>
              <a:rPr lang="en-US" dirty="0"/>
              <a:t>Application program examples</a:t>
            </a:r>
          </a:p>
          <a:p>
            <a:pPr lvl="1"/>
            <a:r>
              <a:rPr lang="en-US" dirty="0"/>
              <a:t>Add new students, instructors, and courses</a:t>
            </a:r>
          </a:p>
          <a:p>
            <a:pPr lvl="1"/>
            <a:r>
              <a:rPr lang="en-US" dirty="0"/>
              <a:t>Register students for courses, and generate class rosters</a:t>
            </a:r>
          </a:p>
          <a:p>
            <a:pPr lvl="1"/>
            <a:r>
              <a:rPr lang="en-US" dirty="0"/>
              <a:t>Assign grades to students, compute grade point averages (GPA) and generate transcripts</a:t>
            </a:r>
          </a:p>
          <a:p>
            <a:r>
              <a:rPr lang="en-US" dirty="0"/>
              <a:t>In the early days, database applications were built directly on top of file systems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sz="3800" b="1"/>
              <a:t>Components of Database System</a:t>
            </a:r>
            <a:endParaRPr lang="en-US" sz="3800" b="1" dirty="0"/>
          </a:p>
        </p:txBody>
      </p:sp>
      <p:sp>
        <p:nvSpPr>
          <p:cNvPr id="2" name="Content Placeholder 1"/>
          <p:cNvSpPr>
            <a:spLocks noGrp="1"/>
          </p:cNvSpPr>
          <p:nvPr>
            <p:ph idx="1"/>
          </p:nvPr>
        </p:nvSpPr>
        <p:spPr>
          <a:xfrm>
            <a:off x="457200" y="1524000"/>
            <a:ext cx="8229600" cy="990600"/>
          </a:xfrm>
        </p:spPr>
        <p:txBody>
          <a:bodyPr/>
          <a:lstStyle/>
          <a:p>
            <a:r>
              <a:rPr lang="en-US" dirty="0"/>
              <a:t>The database system can be divided into four components.</a:t>
            </a:r>
          </a:p>
          <a:p>
            <a:endParaRPr lang="en-US" dirty="0"/>
          </a:p>
        </p:txBody>
      </p:sp>
      <p:pic>
        <p:nvPicPr>
          <p:cNvPr id="1027" name="Picture 3"/>
          <p:cNvPicPr>
            <a:picLocks noChangeAspect="1" noChangeArrowheads="1"/>
          </p:cNvPicPr>
          <p:nvPr/>
        </p:nvPicPr>
        <p:blipFill>
          <a:blip r:embed="rId2"/>
          <a:srcRect/>
          <a:stretch>
            <a:fillRect/>
          </a:stretch>
        </p:blipFill>
        <p:spPr bwMode="auto">
          <a:xfrm>
            <a:off x="2133601" y="2417380"/>
            <a:ext cx="4952999" cy="337382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sz="4400" b="1"/>
              <a:t>Components of Database System</a:t>
            </a:r>
            <a:endParaRPr lang="en-US" dirty="0"/>
          </a:p>
        </p:txBody>
      </p:sp>
      <p:sp>
        <p:nvSpPr>
          <p:cNvPr id="2" name="Content Placeholder 1"/>
          <p:cNvSpPr>
            <a:spLocks noGrp="1"/>
          </p:cNvSpPr>
          <p:nvPr>
            <p:ph idx="1"/>
          </p:nvPr>
        </p:nvSpPr>
        <p:spPr/>
        <p:txBody>
          <a:bodyPr/>
          <a:lstStyle/>
          <a:p>
            <a:r>
              <a:rPr lang="en-US" b="1" dirty="0"/>
              <a:t>Users :</a:t>
            </a:r>
            <a:r>
              <a:rPr lang="en-US" dirty="0"/>
              <a:t> Users may be of various type such as DB administrator, System developer and End users.</a:t>
            </a:r>
          </a:p>
          <a:p>
            <a:r>
              <a:rPr lang="en-US" b="1" dirty="0"/>
              <a:t>Database application :</a:t>
            </a:r>
            <a:r>
              <a:rPr lang="en-US" dirty="0"/>
              <a:t> Database application may be Personal, Departmental, Enterprise and Internal</a:t>
            </a:r>
          </a:p>
          <a:p>
            <a:r>
              <a:rPr lang="en-US" b="1" dirty="0"/>
              <a:t>DBMS :</a:t>
            </a:r>
            <a:r>
              <a:rPr lang="en-US" dirty="0"/>
              <a:t> Software that allow users to define, create and manages database access, Ex: MySQL, Oracle etc.</a:t>
            </a:r>
          </a:p>
          <a:p>
            <a:r>
              <a:rPr lang="en-US" b="1" dirty="0"/>
              <a:t>Database :</a:t>
            </a:r>
            <a:r>
              <a:rPr lang="en-US" dirty="0"/>
              <a:t> Collection of related data.</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dirty="0"/>
              <a:t>Disadvantages of DBMS</a:t>
            </a:r>
            <a:endParaRPr lang="en-US" dirty="0"/>
          </a:p>
        </p:txBody>
      </p:sp>
      <p:sp>
        <p:nvSpPr>
          <p:cNvPr id="2" name="Content Placeholder 1"/>
          <p:cNvSpPr>
            <a:spLocks noGrp="1"/>
          </p:cNvSpPr>
          <p:nvPr>
            <p:ph idx="1"/>
          </p:nvPr>
        </p:nvSpPr>
        <p:spPr/>
        <p:txBody>
          <a:bodyPr/>
          <a:lstStyle/>
          <a:p>
            <a:r>
              <a:rPr lang="en-US" dirty="0"/>
              <a:t>Complexity</a:t>
            </a:r>
          </a:p>
          <a:p>
            <a:r>
              <a:rPr lang="en-US" dirty="0"/>
              <a:t>Costly</a:t>
            </a:r>
          </a:p>
          <a:p>
            <a:r>
              <a:rPr lang="en-US" dirty="0"/>
              <a:t>Large in size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Database Models</a:t>
            </a:r>
            <a:endParaRPr lang="en-US" dirty="0"/>
          </a:p>
        </p:txBody>
      </p:sp>
      <p:sp>
        <p:nvSpPr>
          <p:cNvPr id="2" name="Content Placeholder 1"/>
          <p:cNvSpPr>
            <a:spLocks noGrp="1"/>
          </p:cNvSpPr>
          <p:nvPr>
            <p:ph idx="1"/>
          </p:nvPr>
        </p:nvSpPr>
        <p:spPr/>
        <p:txBody>
          <a:bodyPr/>
          <a:lstStyle/>
          <a:p>
            <a:r>
              <a:rPr lang="en-US" dirty="0"/>
              <a:t>A Database model defines the logical design of data.</a:t>
            </a:r>
          </a:p>
          <a:p>
            <a:r>
              <a:rPr lang="en-US" dirty="0"/>
              <a:t>The model describes the relationships between different parts of the data. </a:t>
            </a:r>
          </a:p>
          <a:p>
            <a:r>
              <a:rPr lang="en-US" dirty="0"/>
              <a:t>In history of database design, three models have been in use.</a:t>
            </a:r>
          </a:p>
          <a:p>
            <a:r>
              <a:rPr lang="en-US" dirty="0"/>
              <a:t>Hierarchical Model</a:t>
            </a:r>
          </a:p>
          <a:p>
            <a:r>
              <a:rPr lang="en-US" dirty="0"/>
              <a:t>Network Model</a:t>
            </a:r>
          </a:p>
          <a:p>
            <a:r>
              <a:rPr lang="en-US" dirty="0"/>
              <a:t>Relational Model</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dirty="0"/>
              <a:t>Hierarchical Model</a:t>
            </a:r>
            <a:endParaRPr lang="en-US" b="1" dirty="0"/>
          </a:p>
        </p:txBody>
      </p:sp>
      <p:sp>
        <p:nvSpPr>
          <p:cNvPr id="2" name="Content Placeholder 1"/>
          <p:cNvSpPr>
            <a:spLocks noGrp="1"/>
          </p:cNvSpPr>
          <p:nvPr>
            <p:ph idx="1"/>
          </p:nvPr>
        </p:nvSpPr>
        <p:spPr>
          <a:xfrm>
            <a:off x="722671" y="2247900"/>
            <a:ext cx="8229600" cy="1447800"/>
          </a:xfrm>
        </p:spPr>
        <p:txBody>
          <a:bodyPr/>
          <a:lstStyle/>
          <a:p>
            <a:r>
              <a:rPr lang="en-US" dirty="0"/>
              <a:t>In this model each entity has only one parent but can have several children . At the top of hierarchy there is only one entity which is called </a:t>
            </a:r>
            <a:r>
              <a:rPr lang="en-US" b="1" dirty="0"/>
              <a:t>Root</a:t>
            </a:r>
            <a:r>
              <a:rPr lang="en-US" dirty="0"/>
              <a:t>. </a:t>
            </a:r>
          </a:p>
        </p:txBody>
      </p:sp>
      <p:pic>
        <p:nvPicPr>
          <p:cNvPr id="3074" name="Picture 2"/>
          <p:cNvPicPr>
            <a:picLocks noChangeAspect="1" noChangeArrowheads="1"/>
          </p:cNvPicPr>
          <p:nvPr/>
        </p:nvPicPr>
        <p:blipFill>
          <a:blip r:embed="rId2"/>
          <a:srcRect/>
          <a:stretch>
            <a:fillRect/>
          </a:stretch>
        </p:blipFill>
        <p:spPr bwMode="auto">
          <a:xfrm>
            <a:off x="2113321" y="3429000"/>
            <a:ext cx="5448300" cy="288607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Network Model</a:t>
            </a:r>
            <a:endParaRPr lang="en-US" b="1" dirty="0"/>
          </a:p>
        </p:txBody>
      </p:sp>
      <p:sp>
        <p:nvSpPr>
          <p:cNvPr id="2" name="Content Placeholder 1"/>
          <p:cNvSpPr>
            <a:spLocks noGrp="1"/>
          </p:cNvSpPr>
          <p:nvPr>
            <p:ph idx="1"/>
          </p:nvPr>
        </p:nvSpPr>
        <p:spPr>
          <a:xfrm>
            <a:off x="560439" y="2217174"/>
            <a:ext cx="8229600" cy="1371600"/>
          </a:xfrm>
        </p:spPr>
        <p:txBody>
          <a:bodyPr/>
          <a:lstStyle/>
          <a:p>
            <a:r>
              <a:rPr lang="en-US" dirty="0"/>
              <a:t>In the network model, entities are organized in a graph, in which some entities can be accessed through several path </a:t>
            </a:r>
          </a:p>
        </p:txBody>
      </p:sp>
      <p:pic>
        <p:nvPicPr>
          <p:cNvPr id="5" name="Picture 2"/>
          <p:cNvPicPr>
            <a:picLocks noChangeAspect="1" noChangeArrowheads="1"/>
          </p:cNvPicPr>
          <p:nvPr/>
        </p:nvPicPr>
        <p:blipFill>
          <a:blip r:embed="rId2"/>
          <a:srcRect/>
          <a:stretch>
            <a:fillRect/>
          </a:stretch>
        </p:blipFill>
        <p:spPr bwMode="auto">
          <a:xfrm>
            <a:off x="1828800" y="3200400"/>
            <a:ext cx="5457825" cy="268605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Relational Model</a:t>
            </a:r>
            <a:endParaRPr lang="en-US" b="1" dirty="0"/>
          </a:p>
        </p:txBody>
      </p:sp>
      <p:sp>
        <p:nvSpPr>
          <p:cNvPr id="2" name="Content Placeholder 1"/>
          <p:cNvSpPr>
            <a:spLocks noGrp="1"/>
          </p:cNvSpPr>
          <p:nvPr>
            <p:ph idx="1"/>
          </p:nvPr>
        </p:nvSpPr>
        <p:spPr/>
        <p:txBody>
          <a:bodyPr/>
          <a:lstStyle/>
          <a:p>
            <a:r>
              <a:rPr lang="en-US" dirty="0"/>
              <a:t>In this model, data is organized in two-dimensional tables called </a:t>
            </a:r>
            <a:r>
              <a:rPr lang="en-US" b="1" dirty="0"/>
              <a:t>relations</a:t>
            </a:r>
            <a:r>
              <a:rPr lang="en-US" dirty="0"/>
              <a:t>. The tables or relation are related to each other. </a:t>
            </a:r>
          </a:p>
        </p:txBody>
      </p:sp>
      <p:pic>
        <p:nvPicPr>
          <p:cNvPr id="5122" name="Picture 2"/>
          <p:cNvPicPr>
            <a:picLocks noChangeAspect="1" noChangeArrowheads="1"/>
          </p:cNvPicPr>
          <p:nvPr/>
        </p:nvPicPr>
        <p:blipFill>
          <a:blip r:embed="rId2"/>
          <a:srcRect/>
          <a:stretch>
            <a:fillRect/>
          </a:stretch>
        </p:blipFill>
        <p:spPr bwMode="auto">
          <a:xfrm>
            <a:off x="1905000" y="2819400"/>
            <a:ext cx="4991100" cy="318135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dirty="0"/>
              <a:t>RDBMS Concepts</a:t>
            </a:r>
            <a:endParaRPr lang="en-US" b="1" dirty="0"/>
          </a:p>
        </p:txBody>
      </p:sp>
      <p:sp>
        <p:nvSpPr>
          <p:cNvPr id="2" name="Content Placeholder 1"/>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Relational Database management System</a:t>
            </a:r>
            <a:r>
              <a:rPr lang="en-US" dirty="0">
                <a:latin typeface="Times New Roman" panose="02020603050405020304" pitchFamily="18" charset="0"/>
                <a:cs typeface="Times New Roman" panose="02020603050405020304" pitchFamily="18" charset="0"/>
              </a:rPr>
              <a:t>(RDBMS) is a database management system based on the relational model </a:t>
            </a:r>
          </a:p>
          <a:p>
            <a:pPr algn="just"/>
            <a:r>
              <a:rPr lang="en-US" b="1" dirty="0">
                <a:latin typeface="Times New Roman" panose="02020603050405020304" pitchFamily="18" charset="0"/>
                <a:cs typeface="Times New Roman" panose="02020603050405020304" pitchFamily="18" charset="0"/>
              </a:rPr>
              <a:t>Rdbms</a:t>
            </a:r>
            <a:r>
              <a:rPr lang="en-US" dirty="0">
                <a:latin typeface="Times New Roman" panose="02020603050405020304" pitchFamily="18" charset="0"/>
                <a:cs typeface="Times New Roman" panose="02020603050405020304" pitchFamily="18" charset="0"/>
              </a:rPr>
              <a:t> was developed by a Scientist E.F Codd (Edgar F. “Ted” Codd) in 1970 this model was created based on a mathematical concept called relational algebra.</a:t>
            </a:r>
          </a:p>
          <a:p>
            <a:pPr algn="just"/>
            <a:r>
              <a:rPr lang="en-US" dirty="0">
                <a:latin typeface="Times New Roman" panose="02020603050405020304" pitchFamily="18" charset="0"/>
                <a:cs typeface="Times New Roman" panose="02020603050405020304" pitchFamily="18" charset="0"/>
              </a:rPr>
              <a:t>In a relational model, data is represented in tuples(rows).</a:t>
            </a:r>
          </a:p>
          <a:p>
            <a:pPr algn="just"/>
            <a:r>
              <a:rPr lang="en-US" dirty="0">
                <a:latin typeface="Times New Roman" panose="02020603050405020304" pitchFamily="18" charset="0"/>
                <a:cs typeface="Times New Roman" panose="02020603050405020304" pitchFamily="18" charset="0"/>
              </a:rPr>
              <a:t>All modern database management systems like SQL, MS SQL Server, IBM DB2, Oracle, My-SQL, and Microsoft Access are based on Rdbms.</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t>RDBMS</a:t>
            </a:r>
            <a:r>
              <a:rPr lang="en-US" dirty="0"/>
              <a:t> is used to manage Relational databases.</a:t>
            </a:r>
          </a:p>
          <a:p>
            <a:pPr algn="just"/>
            <a:r>
              <a:rPr lang="en-US" b="1" dirty="0"/>
              <a:t>Relational database</a:t>
            </a:r>
            <a:r>
              <a:rPr lang="en-US" dirty="0"/>
              <a:t> is a collection of an organized set of tables from which data can be accessed easily. Relational Database is the most used database.</a:t>
            </a:r>
          </a:p>
          <a:p>
            <a:pPr algn="just"/>
            <a:r>
              <a:rPr lang="en-US" dirty="0"/>
              <a:t>It consists of several tables and each table has its own primary key.</a:t>
            </a:r>
          </a:p>
          <a:p>
            <a:pPr algn="just"/>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Relations</a:t>
            </a:r>
            <a:endParaRPr lang="en-US" dirty="0"/>
          </a:p>
        </p:txBody>
      </p:sp>
      <p:sp>
        <p:nvSpPr>
          <p:cNvPr id="2" name="Content Placeholder 1"/>
          <p:cNvSpPr>
            <a:spLocks noGrp="1"/>
          </p:cNvSpPr>
          <p:nvPr>
            <p:ph idx="1"/>
          </p:nvPr>
        </p:nvSpPr>
        <p:spPr/>
        <p:txBody>
          <a:bodyPr/>
          <a:lstStyle/>
          <a:p>
            <a:r>
              <a:rPr lang="en-US" dirty="0"/>
              <a:t>Relations are classified into three types, they are;</a:t>
            </a:r>
          </a:p>
          <a:p>
            <a:r>
              <a:rPr lang="en-US" dirty="0"/>
              <a:t>1:1</a:t>
            </a:r>
          </a:p>
          <a:p>
            <a:r>
              <a:rPr lang="en-US" dirty="0"/>
              <a:t>1:M or M:1</a:t>
            </a:r>
          </a:p>
          <a:p>
            <a:r>
              <a:rPr lang="en-US" dirty="0"/>
              <a:t>M:M (many to many)</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one-one Relationship</a:t>
            </a:r>
            <a:endParaRPr lang="en-US" b="1" dirty="0"/>
          </a:p>
        </p:txBody>
      </p:sp>
      <p:sp>
        <p:nvSpPr>
          <p:cNvPr id="2" name="Content Placeholder 1"/>
          <p:cNvSpPr>
            <a:spLocks noGrp="1"/>
          </p:cNvSpPr>
          <p:nvPr>
            <p:ph idx="1"/>
          </p:nvPr>
        </p:nvSpPr>
        <p:spPr>
          <a:xfrm>
            <a:off x="457200" y="1524000"/>
            <a:ext cx="8229600" cy="1066800"/>
          </a:xfrm>
        </p:spPr>
        <p:txBody>
          <a:bodyPr/>
          <a:lstStyle/>
          <a:p>
            <a:r>
              <a:rPr lang="en-US" dirty="0"/>
              <a:t>In this relationship one object have only one relation with another object.</a:t>
            </a:r>
          </a:p>
          <a:p>
            <a:endParaRPr lang="en-US" dirty="0"/>
          </a:p>
          <a:p>
            <a:endParaRPr lang="en-US" dirty="0"/>
          </a:p>
          <a:p>
            <a:endParaRPr lang="en-US" dirty="0"/>
          </a:p>
        </p:txBody>
      </p:sp>
      <p:pic>
        <p:nvPicPr>
          <p:cNvPr id="1028" name="Picture 4"/>
          <p:cNvPicPr>
            <a:picLocks noChangeAspect="1" noChangeArrowheads="1"/>
          </p:cNvPicPr>
          <p:nvPr/>
        </p:nvPicPr>
        <p:blipFill>
          <a:blip r:embed="rId2"/>
          <a:srcRect/>
          <a:stretch>
            <a:fillRect/>
          </a:stretch>
        </p:blipFill>
        <p:spPr bwMode="auto">
          <a:xfrm>
            <a:off x="2286000" y="2590799"/>
            <a:ext cx="4114800" cy="1335819"/>
          </a:xfrm>
          <a:prstGeom prst="rect">
            <a:avLst/>
          </a:prstGeom>
          <a:noFill/>
          <a:ln w="9525">
            <a:noFill/>
            <a:miter lim="800000"/>
            <a:headEnd/>
            <a:tailEnd/>
          </a:ln>
          <a:effectLst/>
        </p:spPr>
      </p:pic>
      <p:sp>
        <p:nvSpPr>
          <p:cNvPr id="8" name="TextBox 7"/>
          <p:cNvSpPr txBox="1"/>
          <p:nvPr/>
        </p:nvSpPr>
        <p:spPr>
          <a:xfrm>
            <a:off x="685800" y="4495800"/>
            <a:ext cx="7391400" cy="646331"/>
          </a:xfrm>
          <a:prstGeom prst="rect">
            <a:avLst/>
          </a:prstGeom>
          <a:noFill/>
        </p:spPr>
        <p:txBody>
          <a:bodyPr wrap="square" rtlCol="0">
            <a:spAutoFit/>
          </a:bodyPr>
          <a:lstStyle/>
          <a:p>
            <a:r>
              <a:rPr lang="en-US" dirty="0"/>
              <a:t>In above image one employee have only one </a:t>
            </a:r>
            <a:r>
              <a:rPr lang="en-US" dirty="0" err="1"/>
              <a:t>emp_id</a:t>
            </a:r>
            <a:r>
              <a:rPr lang="en-US" dirty="0"/>
              <a:t>. this is the example of 1:1 relationship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b="1"/>
              <a:t>one-many or many-one Relationship</a:t>
            </a:r>
            <a:endParaRPr lang="en-US" b="1" dirty="0"/>
          </a:p>
        </p:txBody>
      </p:sp>
      <p:sp>
        <p:nvSpPr>
          <p:cNvPr id="2" name="Content Placeholder 1"/>
          <p:cNvSpPr>
            <a:spLocks noGrp="1"/>
          </p:cNvSpPr>
          <p:nvPr>
            <p:ph idx="1"/>
          </p:nvPr>
        </p:nvSpPr>
        <p:spPr>
          <a:xfrm>
            <a:off x="457200" y="1524000"/>
            <a:ext cx="8229600" cy="1066800"/>
          </a:xfrm>
        </p:spPr>
        <p:txBody>
          <a:bodyPr/>
          <a:lstStyle/>
          <a:p>
            <a:r>
              <a:rPr lang="en-US" dirty="0"/>
              <a:t>In this relationship one object have relation with many other object.</a:t>
            </a:r>
          </a:p>
        </p:txBody>
      </p:sp>
      <p:pic>
        <p:nvPicPr>
          <p:cNvPr id="2050" name="Picture 2"/>
          <p:cNvPicPr>
            <a:picLocks noChangeAspect="1" noChangeArrowheads="1"/>
          </p:cNvPicPr>
          <p:nvPr/>
        </p:nvPicPr>
        <p:blipFill>
          <a:blip r:embed="rId2"/>
          <a:srcRect/>
          <a:stretch>
            <a:fillRect/>
          </a:stretch>
        </p:blipFill>
        <p:spPr bwMode="auto">
          <a:xfrm>
            <a:off x="2362200" y="2667000"/>
            <a:ext cx="4010025" cy="2105025"/>
          </a:xfrm>
          <a:prstGeom prst="rect">
            <a:avLst/>
          </a:prstGeom>
          <a:noFill/>
          <a:ln w="9525">
            <a:noFill/>
            <a:miter lim="800000"/>
            <a:headEnd/>
            <a:tailEnd/>
          </a:ln>
          <a:effectLst/>
        </p:spPr>
      </p:pic>
      <p:sp>
        <p:nvSpPr>
          <p:cNvPr id="5" name="Rectangle 4"/>
          <p:cNvSpPr/>
          <p:nvPr/>
        </p:nvSpPr>
        <p:spPr>
          <a:xfrm>
            <a:off x="990600" y="5105400"/>
            <a:ext cx="7391400" cy="646331"/>
          </a:xfrm>
          <a:prstGeom prst="rect">
            <a:avLst/>
          </a:prstGeom>
        </p:spPr>
        <p:txBody>
          <a:bodyPr wrap="square">
            <a:spAutoFit/>
          </a:bodyPr>
          <a:lstStyle/>
          <a:p>
            <a:r>
              <a:rPr lang="en-US" dirty="0"/>
              <a:t>In above image one faculty can teach many subjects. This is the example of 1:m relationship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many-many Relationship</a:t>
            </a:r>
            <a:endParaRPr lang="en-US" b="1" dirty="0"/>
          </a:p>
        </p:txBody>
      </p:sp>
      <p:sp>
        <p:nvSpPr>
          <p:cNvPr id="2" name="Content Placeholder 1"/>
          <p:cNvSpPr>
            <a:spLocks noGrp="1"/>
          </p:cNvSpPr>
          <p:nvPr>
            <p:ph idx="1"/>
          </p:nvPr>
        </p:nvSpPr>
        <p:spPr>
          <a:xfrm>
            <a:off x="457200" y="1524000"/>
            <a:ext cx="8229600" cy="914400"/>
          </a:xfrm>
        </p:spPr>
        <p:txBody>
          <a:bodyPr/>
          <a:lstStyle/>
          <a:p>
            <a:r>
              <a:rPr lang="en-US" dirty="0"/>
              <a:t>In this relationship many object has the relationship with many other object.</a:t>
            </a:r>
          </a:p>
        </p:txBody>
      </p:sp>
      <p:pic>
        <p:nvPicPr>
          <p:cNvPr id="3074" name="Picture 2"/>
          <p:cNvPicPr>
            <a:picLocks noChangeAspect="1" noChangeArrowheads="1"/>
          </p:cNvPicPr>
          <p:nvPr/>
        </p:nvPicPr>
        <p:blipFill>
          <a:blip r:embed="rId2"/>
          <a:srcRect/>
          <a:stretch>
            <a:fillRect/>
          </a:stretch>
        </p:blipFill>
        <p:spPr bwMode="auto">
          <a:xfrm>
            <a:off x="2305050" y="2447925"/>
            <a:ext cx="4533900" cy="1962150"/>
          </a:xfrm>
          <a:prstGeom prst="rect">
            <a:avLst/>
          </a:prstGeom>
          <a:noFill/>
          <a:ln w="9525">
            <a:noFill/>
            <a:miter lim="800000"/>
            <a:headEnd/>
            <a:tailEnd/>
          </a:ln>
          <a:effectLst/>
        </p:spPr>
      </p:pic>
      <p:sp>
        <p:nvSpPr>
          <p:cNvPr id="5" name="Rectangle 4"/>
          <p:cNvSpPr/>
          <p:nvPr/>
        </p:nvSpPr>
        <p:spPr>
          <a:xfrm>
            <a:off x="914400" y="4724400"/>
            <a:ext cx="7620000" cy="646331"/>
          </a:xfrm>
          <a:prstGeom prst="rect">
            <a:avLst/>
          </a:prstGeom>
        </p:spPr>
        <p:txBody>
          <a:bodyPr wrap="square">
            <a:spAutoFit/>
          </a:bodyPr>
          <a:lstStyle/>
          <a:p>
            <a:r>
              <a:rPr lang="en-US" dirty="0"/>
              <a:t>In above image one customer can purchase many items and one item can purchase by many customers, this is the example of m:m relationship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dirty="0"/>
              <a:t>Properties of Rdbms</a:t>
            </a:r>
            <a:endParaRPr lang="en-US" b="1" dirty="0"/>
          </a:p>
        </p:txBody>
      </p:sp>
      <p:sp>
        <p:nvSpPr>
          <p:cNvPr id="2" name="Content Placeholder 1"/>
          <p:cNvSpPr>
            <a:spLocks noGrp="1"/>
          </p:cNvSpPr>
          <p:nvPr>
            <p:ph idx="1"/>
          </p:nvPr>
        </p:nvSpPr>
        <p:spPr/>
        <p:txBody>
          <a:bodyPr>
            <a:normAutofit fontScale="92500"/>
          </a:bodyPr>
          <a:lstStyle/>
          <a:p>
            <a:pPr algn="just"/>
            <a:r>
              <a:rPr lang="en-US" dirty="0"/>
              <a:t>Data should be stored in the form of a table.</a:t>
            </a:r>
          </a:p>
          <a:p>
            <a:pPr algn="just"/>
            <a:r>
              <a:rPr lang="en-US" dirty="0"/>
              <a:t>A table can be defined as a collection of rows and columns</a:t>
            </a:r>
          </a:p>
          <a:p>
            <a:pPr algn="just"/>
            <a:r>
              <a:rPr lang="en-US" dirty="0"/>
              <a:t>The horizontal lines are known as row tuples or records.</a:t>
            </a:r>
          </a:p>
          <a:p>
            <a:pPr algn="just"/>
            <a:r>
              <a:rPr lang="en-US" dirty="0"/>
              <a:t>The vertical lines are known as columns or fields or attributes.</a:t>
            </a:r>
          </a:p>
          <a:p>
            <a:pPr algn="just"/>
            <a:r>
              <a:rPr lang="en-US" dirty="0"/>
              <a:t>The intersection of row and column is known as cell.</a:t>
            </a:r>
          </a:p>
          <a:p>
            <a:pPr algn="just"/>
            <a:r>
              <a:rPr lang="en-US" dirty="0"/>
              <a:t>A cell is a place where you can store your data.</a:t>
            </a:r>
          </a:p>
          <a:p>
            <a:pPr algn="just"/>
            <a:r>
              <a:rPr lang="en-US" dirty="0"/>
              <a:t>The other name of the table is called an entry class or object.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Table </a:t>
            </a:r>
            <a:endParaRPr lang="en-US" b="1" dirty="0"/>
          </a:p>
        </p:txBody>
      </p:sp>
      <p:sp>
        <p:nvSpPr>
          <p:cNvPr id="2" name="Content Placeholder 1"/>
          <p:cNvSpPr>
            <a:spLocks noGrp="1"/>
          </p:cNvSpPr>
          <p:nvPr>
            <p:ph idx="1"/>
          </p:nvPr>
        </p:nvSpPr>
        <p:spPr>
          <a:xfrm>
            <a:off x="457200" y="1524000"/>
            <a:ext cx="8229600" cy="2895600"/>
          </a:xfrm>
        </p:spPr>
        <p:txBody>
          <a:bodyPr/>
          <a:lstStyle/>
          <a:p>
            <a:r>
              <a:rPr lang="en-US" dirty="0"/>
              <a:t>In a Relational database, a </a:t>
            </a:r>
            <a:r>
              <a:rPr lang="en-US" b="1" dirty="0"/>
              <a:t>table</a:t>
            </a:r>
            <a:r>
              <a:rPr lang="en-US" dirty="0"/>
              <a:t> is a collection of data elements organized in terms of rows and columns. A table is also considered a convenient representation of </a:t>
            </a:r>
            <a:r>
              <a:rPr lang="en-US" b="1" dirty="0"/>
              <a:t>relations</a:t>
            </a:r>
          </a:p>
          <a:p>
            <a:r>
              <a:rPr lang="en-US" dirty="0"/>
              <a:t>Table is the simplest form of data storage. Below is an example of an Employee table.</a:t>
            </a:r>
          </a:p>
        </p:txBody>
      </p:sp>
      <p:pic>
        <p:nvPicPr>
          <p:cNvPr id="1026" name="Picture 2"/>
          <p:cNvPicPr>
            <a:picLocks noChangeAspect="1" noChangeArrowheads="1"/>
          </p:cNvPicPr>
          <p:nvPr/>
        </p:nvPicPr>
        <p:blipFill>
          <a:blip r:embed="rId2"/>
          <a:srcRect/>
          <a:stretch>
            <a:fillRect/>
          </a:stretch>
        </p:blipFill>
        <p:spPr bwMode="auto">
          <a:xfrm>
            <a:off x="457200" y="4183380"/>
            <a:ext cx="3048000" cy="2007870"/>
          </a:xfrm>
          <a:prstGeom prst="rect">
            <a:avLst/>
          </a:prstGeom>
          <a:noFill/>
          <a:ln w="9525">
            <a:noFill/>
            <a:miter lim="800000"/>
            <a:headEnd/>
            <a:tailEnd/>
          </a:ln>
          <a:effectLst/>
        </p:spPr>
      </p:pic>
      <p:pic>
        <p:nvPicPr>
          <p:cNvPr id="6" name="Picture 3"/>
          <p:cNvPicPr>
            <a:picLocks noChangeAspect="1" noChangeArrowheads="1"/>
          </p:cNvPicPr>
          <p:nvPr/>
        </p:nvPicPr>
        <p:blipFill>
          <a:blip r:embed="rId3"/>
          <a:srcRect/>
          <a:stretch>
            <a:fillRect/>
          </a:stretch>
        </p:blipFill>
        <p:spPr bwMode="auto">
          <a:xfrm>
            <a:off x="3733801" y="4114800"/>
            <a:ext cx="4654437" cy="21336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Record</a:t>
            </a:r>
            <a:endParaRPr lang="en-US" b="1" dirty="0"/>
          </a:p>
        </p:txBody>
      </p:sp>
      <p:sp>
        <p:nvSpPr>
          <p:cNvPr id="2" name="Content Placeholder 1"/>
          <p:cNvSpPr>
            <a:spLocks noGrp="1"/>
          </p:cNvSpPr>
          <p:nvPr>
            <p:ph idx="1"/>
          </p:nvPr>
        </p:nvSpPr>
        <p:spPr>
          <a:xfrm>
            <a:off x="457200" y="1524000"/>
            <a:ext cx="8229600" cy="1828800"/>
          </a:xfrm>
        </p:spPr>
        <p:txBody>
          <a:bodyPr/>
          <a:lstStyle/>
          <a:p>
            <a:r>
              <a:rPr lang="en-US" dirty="0"/>
              <a:t>A single entry in a table is called a </a:t>
            </a:r>
            <a:r>
              <a:rPr lang="en-US" b="1" dirty="0"/>
              <a:t>Record</a:t>
            </a:r>
            <a:r>
              <a:rPr lang="en-US" dirty="0"/>
              <a:t> or </a:t>
            </a:r>
            <a:r>
              <a:rPr lang="en-US" b="1" dirty="0"/>
              <a:t>Row</a:t>
            </a:r>
            <a:r>
              <a:rPr lang="en-US" dirty="0"/>
              <a:t>.</a:t>
            </a:r>
          </a:p>
          <a:p>
            <a:r>
              <a:rPr lang="en-US" dirty="0"/>
              <a:t> A </a:t>
            </a:r>
            <a:r>
              <a:rPr lang="en-US" b="1" dirty="0"/>
              <a:t>Record</a:t>
            </a:r>
            <a:r>
              <a:rPr lang="en-US" dirty="0"/>
              <a:t> in a table represents set of related data. For example, the above </a:t>
            </a:r>
            <a:r>
              <a:rPr lang="en-US" b="1" dirty="0"/>
              <a:t>Employee</a:t>
            </a:r>
            <a:r>
              <a:rPr lang="en-US" dirty="0"/>
              <a:t> table has 4 records. Following is an example of single record.</a:t>
            </a:r>
          </a:p>
        </p:txBody>
      </p:sp>
      <p:pic>
        <p:nvPicPr>
          <p:cNvPr id="5" name="Picture 2"/>
          <p:cNvPicPr>
            <a:picLocks noChangeAspect="1" noChangeArrowheads="1"/>
          </p:cNvPicPr>
          <p:nvPr/>
        </p:nvPicPr>
        <p:blipFill>
          <a:blip r:embed="rId2"/>
          <a:srcRect/>
          <a:stretch>
            <a:fillRect/>
          </a:stretch>
        </p:blipFill>
        <p:spPr bwMode="auto">
          <a:xfrm>
            <a:off x="990600" y="3505200"/>
            <a:ext cx="6686550" cy="3810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Column</a:t>
            </a:r>
            <a:endParaRPr lang="en-US" b="1" dirty="0"/>
          </a:p>
        </p:txBody>
      </p:sp>
      <p:sp>
        <p:nvSpPr>
          <p:cNvPr id="2" name="Content Placeholder 1"/>
          <p:cNvSpPr>
            <a:spLocks noGrp="1"/>
          </p:cNvSpPr>
          <p:nvPr>
            <p:ph idx="1"/>
          </p:nvPr>
        </p:nvSpPr>
        <p:spPr>
          <a:xfrm>
            <a:off x="457200" y="1524000"/>
            <a:ext cx="8229600" cy="2819400"/>
          </a:xfrm>
        </p:spPr>
        <p:txBody>
          <a:bodyPr/>
          <a:lstStyle/>
          <a:p>
            <a:r>
              <a:rPr lang="en-US" dirty="0"/>
              <a:t>In </a:t>
            </a:r>
            <a:r>
              <a:rPr lang="en-US" b="1" dirty="0"/>
              <a:t>Relational</a:t>
            </a:r>
            <a:r>
              <a:rPr lang="en-US" dirty="0"/>
              <a:t> table, a column is a set of value of a particular type.</a:t>
            </a:r>
          </a:p>
          <a:p>
            <a:r>
              <a:rPr lang="en-US" dirty="0"/>
              <a:t> The term </a:t>
            </a:r>
            <a:r>
              <a:rPr lang="en-US" b="1" dirty="0"/>
              <a:t>Attribute</a:t>
            </a:r>
            <a:r>
              <a:rPr lang="en-US" dirty="0"/>
              <a:t> is also used to represent a column.</a:t>
            </a:r>
          </a:p>
          <a:p>
            <a:r>
              <a:rPr lang="en-US" dirty="0"/>
              <a:t> For example, in Employee table, Name is a column that represent names of employee. </a:t>
            </a:r>
          </a:p>
        </p:txBody>
      </p:sp>
      <p:pic>
        <p:nvPicPr>
          <p:cNvPr id="5" name="Picture 2"/>
          <p:cNvPicPr>
            <a:picLocks noChangeAspect="1" noChangeArrowheads="1"/>
          </p:cNvPicPr>
          <p:nvPr/>
        </p:nvPicPr>
        <p:blipFill>
          <a:blip r:embed="rId2"/>
          <a:srcRect/>
          <a:stretch>
            <a:fillRect/>
          </a:stretch>
        </p:blipFill>
        <p:spPr bwMode="auto">
          <a:xfrm>
            <a:off x="4114800" y="4191000"/>
            <a:ext cx="495300" cy="1800225"/>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What is cell</a:t>
            </a:r>
            <a:endParaRPr lang="en-US" b="1" dirty="0"/>
          </a:p>
        </p:txBody>
      </p:sp>
      <p:sp>
        <p:nvSpPr>
          <p:cNvPr id="2" name="Content Placeholder 1"/>
          <p:cNvSpPr>
            <a:spLocks noGrp="1"/>
          </p:cNvSpPr>
          <p:nvPr>
            <p:ph idx="1"/>
          </p:nvPr>
        </p:nvSpPr>
        <p:spPr>
          <a:xfrm>
            <a:off x="457200" y="1524000"/>
            <a:ext cx="8229600" cy="914400"/>
          </a:xfrm>
        </p:spPr>
        <p:txBody>
          <a:bodyPr/>
          <a:lstStyle/>
          <a:p>
            <a:r>
              <a:rPr lang="en-US" dirty="0"/>
              <a:t>A cell is a place where you can store your data.</a:t>
            </a:r>
          </a:p>
        </p:txBody>
      </p:sp>
      <p:pic>
        <p:nvPicPr>
          <p:cNvPr id="5" name="Picture 3"/>
          <p:cNvPicPr>
            <a:picLocks noChangeAspect="1" noChangeArrowheads="1"/>
          </p:cNvPicPr>
          <p:nvPr/>
        </p:nvPicPr>
        <p:blipFill>
          <a:blip r:embed="rId2"/>
          <a:srcRect/>
          <a:stretch>
            <a:fillRect/>
          </a:stretch>
        </p:blipFill>
        <p:spPr bwMode="auto">
          <a:xfrm>
            <a:off x="3352800" y="2743200"/>
            <a:ext cx="1295400" cy="32385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dirty="0"/>
              <a:t>Dbms and Rdbms</a:t>
            </a:r>
            <a:endParaRPr lang="en-US" b="1" dirty="0"/>
          </a:p>
        </p:txBody>
      </p:sp>
      <p:sp>
        <p:nvSpPr>
          <p:cNvPr id="2" name="Content Placeholder 1"/>
          <p:cNvSpPr>
            <a:spLocks noGrp="1"/>
          </p:cNvSpPr>
          <p:nvPr>
            <p:ph idx="1"/>
          </p:nvPr>
        </p:nvSpPr>
        <p:spPr>
          <a:xfrm>
            <a:off x="457200" y="1524000"/>
            <a:ext cx="8229600" cy="1295400"/>
          </a:xfrm>
        </p:spPr>
        <p:txBody>
          <a:bodyPr/>
          <a:lstStyle/>
          <a:p>
            <a:r>
              <a:rPr lang="en-US" dirty="0"/>
              <a:t>Dbms and Rdbms both are used to store information in physical database, but they have some differences, which is given below;</a:t>
            </a:r>
          </a:p>
        </p:txBody>
      </p:sp>
      <p:pic>
        <p:nvPicPr>
          <p:cNvPr id="6146" name="Picture 2"/>
          <p:cNvPicPr>
            <a:picLocks noChangeAspect="1" noChangeArrowheads="1"/>
          </p:cNvPicPr>
          <p:nvPr/>
        </p:nvPicPr>
        <p:blipFill>
          <a:blip r:embed="rId2"/>
          <a:srcRect/>
          <a:stretch>
            <a:fillRect/>
          </a:stretch>
        </p:blipFill>
        <p:spPr bwMode="auto">
          <a:xfrm>
            <a:off x="1371600" y="2712174"/>
            <a:ext cx="6324600" cy="3764826"/>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a:t>Database Keys</a:t>
            </a:r>
            <a:endParaRPr lang="en-US" b="1" dirty="0"/>
          </a:p>
        </p:txBody>
      </p:sp>
      <p:sp>
        <p:nvSpPr>
          <p:cNvPr id="2" name="Content Placeholder 1"/>
          <p:cNvSpPr>
            <a:spLocks noGrp="1"/>
          </p:cNvSpPr>
          <p:nvPr>
            <p:ph idx="1"/>
          </p:nvPr>
        </p:nvSpPr>
        <p:spPr/>
        <p:txBody>
          <a:bodyPr/>
          <a:lstStyle/>
          <a:p>
            <a:r>
              <a:rPr lang="en-US" dirty="0"/>
              <a:t>Keys are very important part of Relational database. They are used to establish and identify relation between tables.</a:t>
            </a:r>
          </a:p>
          <a:p>
            <a:r>
              <a:rPr lang="en-US" dirty="0"/>
              <a:t> They also ensure that each record within a table can be uniquely identified by combination of one or more fields within a table.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94338" y="4299398"/>
            <a:ext cx="8229600" cy="1219200"/>
          </a:xfrm>
        </p:spPr>
        <p:txBody>
          <a:bodyPr/>
          <a:lstStyle/>
          <a:p>
            <a:r>
              <a:rPr lang="en-US" b="1" dirty="0">
                <a:latin typeface="Cambria" panose="02040503050406030204" pitchFamily="18" charset="0"/>
                <a:ea typeface="Cambria" panose="02040503050406030204" pitchFamily="18" charset="0"/>
              </a:rPr>
              <a:t>THANK YOU…!</a:t>
            </a:r>
          </a:p>
        </p:txBody>
      </p:sp>
    </p:spTree>
    <p:extLst>
      <p:ext uri="{BB962C8B-B14F-4D97-AF65-F5344CB8AC3E}">
        <p14:creationId xmlns:p14="http://schemas.microsoft.com/office/powerpoint/2010/main" val="2443205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76</TotalTime>
  <Words>1380</Words>
  <Application>Microsoft Office PowerPoint</Application>
  <PresentationFormat>On-screen Show (4:3)</PresentationFormat>
  <Paragraphs>135</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Cambria</vt:lpstr>
      <vt:lpstr>Century Gothic</vt:lpstr>
      <vt:lpstr>Comic Sans MS</vt:lpstr>
      <vt:lpstr>Times New Roman</vt:lpstr>
      <vt:lpstr>Wingdings 3</vt:lpstr>
      <vt:lpstr>Ion Boardroom</vt:lpstr>
      <vt:lpstr> Introduction To Database/   Database Management System </vt:lpstr>
      <vt:lpstr>What is the Difference Between Data and Information? </vt:lpstr>
      <vt:lpstr>Database</vt:lpstr>
      <vt:lpstr>File system v/s DBMS</vt:lpstr>
      <vt:lpstr>Purpose of Database System</vt:lpstr>
      <vt:lpstr>Purpose of Database Systems (Cont.)</vt:lpstr>
      <vt:lpstr> Data Base Management System DBMS</vt:lpstr>
      <vt:lpstr>Database Applications:</vt:lpstr>
      <vt:lpstr>University Database Example</vt:lpstr>
      <vt:lpstr>Components of Database System</vt:lpstr>
      <vt:lpstr>Components of Database System</vt:lpstr>
      <vt:lpstr>Disadvantages of DBMS</vt:lpstr>
      <vt:lpstr>Database Models</vt:lpstr>
      <vt:lpstr>Hierarchical Model</vt:lpstr>
      <vt:lpstr>Network Model</vt:lpstr>
      <vt:lpstr>Relational Model</vt:lpstr>
      <vt:lpstr>RDBMS Concepts</vt:lpstr>
      <vt:lpstr>PowerPoint Presentation</vt:lpstr>
      <vt:lpstr>Relations</vt:lpstr>
      <vt:lpstr>one-one Relationship</vt:lpstr>
      <vt:lpstr>one-many or many-one Relationship</vt:lpstr>
      <vt:lpstr>many-many Relationship</vt:lpstr>
      <vt:lpstr>Properties of Rdbms</vt:lpstr>
      <vt:lpstr>Table </vt:lpstr>
      <vt:lpstr>Record</vt:lpstr>
      <vt:lpstr>Column</vt:lpstr>
      <vt:lpstr>What is cell</vt:lpstr>
      <vt:lpstr>Dbms and Rdbms</vt:lpstr>
      <vt:lpstr>Database Keys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Introduction To Database/   Database Management System </dc:title>
  <dc:creator>Engr.POONAM K.K</dc:creator>
  <cp:lastModifiedBy>POONAM K.K</cp:lastModifiedBy>
  <cp:revision>25</cp:revision>
  <dcterms:modified xsi:type="dcterms:W3CDTF">2025-02-21T05:00:16Z</dcterms:modified>
</cp:coreProperties>
</file>